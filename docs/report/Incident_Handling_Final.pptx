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4A41B0A-B73E-0514-9660-09E94811523B}" v="2" dt="2026-04-20T10:15:33.404"/>
    <p1510:client id="{8F234BE5-23B2-E032-BF91-02900426E17F}" v="191" dt="2026-04-21T20:43:59.111"/>
    <p1510:client id="{DC051D40-E235-3D2F-D5DB-2C7EF855C615}" v="3" dt="2026-04-20T15:52:39.07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51473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“Good  Afternoon everyone, </a:t>
            </a:r>
            <a:r>
              <a:rPr lang="en-US" b="1"/>
              <a:t>My Name is Sujan Thapa</a:t>
            </a:r>
            <a:r>
              <a:rPr lang="en-US"/>
              <a:t>.</a:t>
            </a:r>
            <a:br>
              <a:rPr lang="en-US">
                <a:cs typeface="+mn-lt"/>
              </a:rPr>
            </a:br>
            <a:r>
              <a:rPr lang="en-US"/>
              <a:t> Before we begin the presentation, I’d like to start with a quick idea.</a:t>
            </a:r>
            <a:br>
              <a:rPr lang="en-US">
                <a:cs typeface="+mn-lt"/>
              </a:rPr>
            </a:br>
            <a:r>
              <a:rPr lang="en-US"/>
              <a:t> In today’s world, cyberattacks are not rare events -they are constant.</a:t>
            </a:r>
            <a:br>
              <a:rPr lang="en-US">
                <a:cs typeface="+mn-lt"/>
              </a:rPr>
            </a:br>
            <a:r>
              <a:rPr lang="en-US"/>
              <a:t> Every year, organizations face millions of brute force attacks.</a:t>
            </a:r>
            <a:br>
              <a:rPr lang="en-US">
                <a:cs typeface="+mn-lt"/>
              </a:rPr>
            </a:br>
            <a:r>
              <a:rPr lang="en-US"/>
              <a:t> That breaks down to thousands every month… hundreds every day… and in many cases, attacks happening every minute.</a:t>
            </a:r>
            <a:br>
              <a:rPr lang="en-US">
                <a:cs typeface="+mn-lt"/>
              </a:rPr>
            </a:br>
            <a:r>
              <a:rPr lang="en-US"/>
              <a:t> Now here’s the important part — every single one of those attempts leaves a trace.</a:t>
            </a:r>
            <a:br>
              <a:rPr lang="en-US">
                <a:cs typeface="+mn-lt"/>
              </a:rPr>
            </a:br>
            <a:r>
              <a:rPr lang="en-US"/>
              <a:t> And that trace is stored in logs.</a:t>
            </a:r>
            <a:br>
              <a:rPr lang="en-US">
                <a:cs typeface="+mn-lt"/>
              </a:rPr>
            </a:br>
            <a:r>
              <a:rPr lang="en-US"/>
              <a:t> There’s a well-known idea in incident response:</a:t>
            </a:r>
            <a:br>
              <a:rPr lang="en-US">
                <a:cs typeface="+mn-lt"/>
              </a:rPr>
            </a:br>
            <a:r>
              <a:rPr lang="en-US"/>
              <a:t> </a:t>
            </a:r>
            <a:r>
              <a:rPr lang="en-US" b="1"/>
              <a:t>‘No logs, no evidence. No evidence, no investigation.’</a:t>
            </a:r>
            <a:br>
              <a:rPr lang="en-US" b="1">
                <a:cs typeface="+mn-lt"/>
              </a:rPr>
            </a:br>
            <a:r>
              <a:rPr lang="en-US"/>
              <a:t> The challenge is not whether data exists - the challenge is how we collect it, analyze it, and respond to it in time.</a:t>
            </a:r>
            <a:br>
              <a:rPr lang="en-US">
                <a:cs typeface="+mn-lt"/>
              </a:rPr>
            </a:br>
            <a:r>
              <a:rPr lang="en-US"/>
              <a:t> In real-world environments, organizations often rely on SIEM platforms to do this.</a:t>
            </a:r>
            <a:br>
              <a:rPr lang="en-US">
                <a:cs typeface="+mn-lt"/>
              </a:rPr>
            </a:br>
            <a:r>
              <a:rPr lang="en-US"/>
              <a:t> But many of those solutions are expensive and not always accessible to everyone.</a:t>
            </a:r>
            <a:br>
              <a:rPr lang="en-US">
                <a:cs typeface="+mn-lt"/>
              </a:rPr>
            </a:br>
            <a:r>
              <a:rPr lang="en-US"/>
              <a:t> So today, together with my teammates Aashish and Antonio, we are presenting a complete, working SIEM solution built using open-source tools.</a:t>
            </a:r>
            <a:br>
              <a:rPr lang="en-US">
                <a:cs typeface="+mn-lt"/>
              </a:rPr>
            </a:br>
            <a:r>
              <a:rPr lang="en-US"/>
              <a:t> </a:t>
            </a:r>
            <a:r>
              <a:rPr lang="en-US" b="1"/>
              <a:t>Before we continue, I’d also like to thank our professor for his guidance and for creating such an engaging learning environment, and for giving us the opportunity to work on and present this project.</a:t>
            </a:r>
            <a:br>
              <a:rPr lang="en-US" b="1">
                <a:cs typeface="+mn-lt"/>
              </a:rPr>
            </a:br>
            <a:r>
              <a:rPr lang="en-US" b="1"/>
              <a:t> Our goal is simple: to show you what a SIEM </a:t>
            </a:r>
            <a:r>
              <a:rPr lang="en-US"/>
              <a:t>actually is, how it works, and how it helps detect real attacks in real time.</a:t>
            </a:r>
            <a:br>
              <a:rPr lang="en-US">
                <a:cs typeface="+mn-lt"/>
              </a:rPr>
            </a:br>
            <a:r>
              <a:rPr lang="en-US"/>
              <a:t> Now, let’s get started.”</a:t>
            </a:r>
          </a:p>
          <a:p>
            <a:r>
              <a:rPr lang="en-US"/>
              <a:t>What we built is a complete, working security monitoring environment from scratch, and then we used it to detect three different real attacks that we launched ourselves against our own machines.</a:t>
            </a:r>
          </a:p>
          <a:p>
            <a:r>
              <a:rPr lang="en-US"/>
              <a:t>The whole project runs on the Elastic Stack, which is one of the most widely used platforms in real Security Operations </a:t>
            </a:r>
            <a:r>
              <a:rPr lang="en-US" err="1"/>
              <a:t>Centres</a:t>
            </a:r>
            <a:r>
              <a:rPr lang="en-US"/>
              <a:t> around the world. Over the next 27 slides I am going to walk you through what we built, how we built it, what attacks we ran, and how we detected them end to end.</a:t>
            </a:r>
          </a:p>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presentation has eight parts. We will begin with a quick overview of what the project is and why it matters. Then we will move into the methodology, which covers the architecture, the data pipeline, and the build phases. After that we get to the core of the presentation, which is the three attack tasks. Task 1 is an SSH brute force attack. Task 2 is an RDP brute force attack. And Task 3 is file integrity monitoring using </a:t>
            </a:r>
            <a:r>
              <a:rPr lang="en-US" err="1"/>
              <a:t>Auditd</a:t>
            </a:r>
            <a:r>
              <a:rPr lang="en-US"/>
              <a:t>.</a:t>
            </a:r>
          </a:p>
          <a:p>
            <a:r>
              <a:rPr lang="en-US"/>
              <a:t>Once we have covered all three attacks, We will show you the custom detection rule we built in Kibana and how it delivers alerts to Microsoft Teams in real time. Finally we will close with the key findings, the lessons we learned along the way, and some ideas for how this lab could be extended further.</a:t>
            </a:r>
          </a:p>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project is a full end to end build of a Security Operations Centre environment using open source tools. Everything you see on this slide was built from nothing. We started with empty virtual machines and ended up with a fully monitored network that could detect real attacks in real time.</a:t>
            </a:r>
          </a:p>
          <a:p>
            <a:r>
              <a:rPr lang="en-US" b="1"/>
              <a:t>The four numbers on screen</a:t>
            </a:r>
            <a:endParaRPr lang="en-US"/>
          </a:p>
          <a:p>
            <a:r>
              <a:rPr lang="en-US"/>
              <a:t>On the right side we have four key numbers that summarize the whole lab.</a:t>
            </a:r>
          </a:p>
          <a:p>
            <a:r>
              <a:rPr lang="en-US"/>
              <a:t>The number four is our virtual machines. We have an Ubuntu machine running the full Elastic Stack. A second Ubuntu machine running the Fleet Server. A Windows Server acting as an enterprise endpoint. And a Kali Linux machine that plays the role of the attacker.</a:t>
            </a:r>
          </a:p>
          <a:p>
            <a:r>
              <a:rPr lang="en-US"/>
              <a:t>The number three is our attack scenarios. SSH brute force, RDP brute force, and file integrity monitoring for when an attacker tries to change files on the system.</a:t>
            </a:r>
          </a:p>
          <a:p>
            <a:r>
              <a:rPr lang="en-US"/>
              <a:t>The number five is the components of the Elastic Stack that we deployed. Elasticsearch is the search engine and database. Kibana is the web interface. Logstash is the data processing pipeline. Fleet is the central agent manager. And Elastic Agent is the software that runs on each monitored machine to collect and ship logs.</a:t>
            </a:r>
          </a:p>
          <a:p>
            <a:r>
              <a:rPr lang="en-US"/>
              <a:t>The number one is the Microsoft Teams webhook. This is the final piece that turns a technical detection into a real world alert that a SOC analyst actually sees on their screen.</a:t>
            </a:r>
          </a:p>
          <a:p>
            <a:r>
              <a:rPr lang="en-US"/>
              <a:t>Before I get into the technical details let me explain why SIEM matters so much in incident response.</a:t>
            </a:r>
          </a:p>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quote at the top is the core argument for why SIEM platforms exist. Without log data, an investigation has no evidence. With log data, an analyst can reconstruct exactly what an attacker did, when they did it, and how they did it.</a:t>
            </a:r>
          </a:p>
          <a:p>
            <a:r>
              <a:rPr lang="en-US"/>
              <a:t>Every security incident investigation starts with log data. The logs are the written record of everything that happened on every machine. If we do not have them, we cannot investigate. If we have them but cannot search them efficiently, we still cannot investigate fast enough to matter.</a:t>
            </a:r>
          </a:p>
          <a:p>
            <a:r>
              <a:rPr lang="en-US"/>
              <a:t>As we have limited time for our presentation, I wont like to pause here before going deeper and move on into next slide.</a:t>
            </a:r>
          </a:p>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framework comes from the NIST Special Publication 800-61 Revision 2, which is the Computer Security Incident Handling Guide. It is the industry standard for how incident response teams organize their work. It breaks the process into six phases, and our SIEM platform plays a meaningful role in every single one of them.</a:t>
            </a:r>
          </a:p>
          <a:p>
            <a:r>
              <a:rPr lang="en-US" b="1"/>
              <a:t>Walk through each phase</a:t>
            </a:r>
            <a:endParaRPr lang="en-US"/>
          </a:p>
          <a:p>
            <a:r>
              <a:rPr lang="en-US"/>
              <a:t>Phase one is preparation. This happens before any incident occurs. Agents are deployed on every endpoint, detection rules are written and tuned to the environment, and dashboards are built so the team can see what normal activity looks like.</a:t>
            </a:r>
          </a:p>
          <a:p>
            <a:r>
              <a:rPr lang="en-US"/>
              <a:t>Phase two is detection and analysis. This is where the rules fire automatically when something suspicious happens. Analysts then use the Kibana Discover tab to pivot through the data and build a timeline of what occurred.</a:t>
            </a:r>
          </a:p>
          <a:p>
            <a:r>
              <a:rPr lang="en-US"/>
              <a:t>Phase three is containment. Once a threat is found, analysts query Elasticsearch for every event associated with that suspicious IP or user account. This tells them exactly which machines were affected so they can decide what to isolate.</a:t>
            </a:r>
          </a:p>
          <a:p>
            <a:r>
              <a:rPr lang="en-US"/>
              <a:t>Phase four is eradication. This is where file integrity monitoring really proves its value. The logs show exactly which files were modified, when, and by whom. That is critical for finding the persistence mechanisms an attacker may have installed.</a:t>
            </a:r>
          </a:p>
          <a:p>
            <a:r>
              <a:rPr lang="en-US"/>
              <a:t>Phase five is recovery. The baseline log patterns from before the incident can be compared against the current activity to confirm that a restored machine is actually behaving normally before it goes back into production.</a:t>
            </a:r>
          </a:p>
          <a:p>
            <a:r>
              <a:rPr lang="en-US"/>
              <a:t>Phase six is post incident activity. All the log data stays in Elasticsearch for forensic review. This is used to build the final incident report, identify any detection gaps, and provide legal evidence if needed.</a:t>
            </a:r>
          </a:p>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a:solidFill>
                <a:srgbClr val="222222"/>
              </a:solidFill>
              <a:highlight>
                <a:srgbClr val="FFFFFF"/>
              </a:highlight>
            </a:endParaRPr>
          </a:p>
          <a:p>
            <a:pPr marL="228600" indent="-228600">
              <a:buAutoNum type="arabicPeriod"/>
            </a:pPr>
            <a:r>
              <a:rPr lang="en-US">
                <a:solidFill>
                  <a:srgbClr val="222222"/>
                </a:solidFill>
                <a:highlight>
                  <a:srgbClr val="FFFFFF"/>
                </a:highlight>
              </a:rPr>
              <a:t>This is the analytical core of the SIEM. All log data from every agent in the environment is ultimately stored in Elasticsearch on this machine. Kibana provides the web interface for all analysis and management. It Also runs an Elastic Agent to monitor its own OS activity. </a:t>
            </a:r>
          </a:p>
          <a:p>
            <a:pPr marL="228600" indent="-228600">
              <a:buAutoNum type="arabicPeriod"/>
            </a:pPr>
            <a:r>
              <a:rPr lang="en-US">
                <a:solidFill>
                  <a:srgbClr val="222222"/>
                </a:solidFill>
                <a:highlight>
                  <a:srgbClr val="FFFFFF"/>
                </a:highlight>
              </a:rPr>
              <a:t>This machine acts as the centralized hub through which all Elastic Agents in the environment are managed. Every agent connects to this machine to receive its configuration policy and to ship its log data. It also runs its own Elastic Agent and has </a:t>
            </a:r>
            <a:r>
              <a:rPr lang="en-US" err="1">
                <a:solidFill>
                  <a:srgbClr val="222222"/>
                </a:solidFill>
                <a:highlight>
                  <a:srgbClr val="FFFFFF"/>
                </a:highlight>
              </a:rPr>
              <a:t>Auditd</a:t>
            </a:r>
            <a:r>
              <a:rPr lang="en-US">
                <a:solidFill>
                  <a:srgbClr val="222222"/>
                </a:solidFill>
                <a:highlight>
                  <a:srgbClr val="FFFFFF"/>
                </a:highlight>
              </a:rPr>
              <a:t> installed for file integrity monitoring. </a:t>
            </a:r>
          </a:p>
          <a:p>
            <a:pPr marL="228600" indent="-228600">
              <a:buAutoNum type="arabicPeriod"/>
            </a:pPr>
            <a:r>
              <a:rPr lang="en-US">
                <a:solidFill>
                  <a:srgbClr val="000000"/>
                </a:solidFill>
                <a:highlight>
                  <a:srgbClr val="FFFFFF"/>
                </a:highlight>
              </a:rPr>
              <a:t> Windows server has the Elastic Agent for Windows and Sysmon running. Sysmon gives us very rich telemetry about what is happening on the Windows side.</a:t>
            </a:r>
            <a:endParaRPr lang="en-US">
              <a:solidFill>
                <a:srgbClr val="222222"/>
              </a:solidFill>
              <a:highlight>
                <a:srgbClr val="FFFFFF"/>
              </a:highlight>
            </a:endParaRP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highlight>
                  <a:srgbClr val="FFFFFF"/>
                </a:highlight>
              </a:rPr>
              <a:t>Elastic Agent: The Elastic Agent running on that machine watches the log files continuously. When a new entry appears, it reads it, formats it according to the Elastic Common Schema (which is a standardized field naming system), and then ships it over encrypted HTTPS to the Fleet Server.</a:t>
            </a:r>
          </a:p>
          <a:p>
            <a:r>
              <a:rPr lang="en-US">
                <a:highlight>
                  <a:srgbClr val="FFFFFF"/>
                </a:highlight>
              </a:rPr>
              <a:t>Fleet server: The Fleet Server receives events from every enrolled agent across the environment and forwards everything on to Elasticsearch. It also handles agent policies and health reporting.</a:t>
            </a:r>
          </a:p>
          <a:p>
            <a:r>
              <a:rPr lang="en-US">
                <a:highlight>
                  <a:srgbClr val="FFFFFF"/>
                </a:highlight>
              </a:rPr>
              <a:t>Elastic search: Elasticsearch parses each event, creates an inverted index entry for every field, and stores the event in its database. From this moment, the event is instantly searchable.</a:t>
            </a:r>
            <a:endParaRPr lang="en-US"/>
          </a:p>
          <a:p>
            <a:endParaRPr lang="en-US">
              <a:highlight>
                <a:srgbClr val="FFFFFF"/>
              </a:highlight>
            </a:endParaRP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 this slide gives an overview of the four virtual machines we set up for this lab. All of them are running on a private host-only network using the subnet 192.168.56.0/24, so they can communicate with each other but are isolated from the outside.</a:t>
            </a:r>
          </a:p>
          <a:p>
            <a:r>
              <a:rPr lang="en-US"/>
              <a:t>The first machine is the </a:t>
            </a:r>
            <a:r>
              <a:rPr lang="en-US" b="1"/>
              <a:t>Ubuntu ELK Server</a:t>
            </a:r>
            <a:r>
              <a:rPr lang="en-US"/>
              <a:t> at 192.168.56.101 — this is the core of our SIEM. It runs Elasticsearch, Kibana, and Logstash. It's also the target of Task 1, which is the SSH brute force attack.</a:t>
            </a:r>
          </a:p>
          <a:p>
            <a:r>
              <a:rPr lang="en-US"/>
              <a:t>The second one is the </a:t>
            </a:r>
            <a:r>
              <a:rPr lang="en-US" b="1"/>
              <a:t>Ubuntu Fleet Server</a:t>
            </a:r>
            <a:r>
              <a:rPr lang="en-US"/>
              <a:t> at 192.168.56.102. This machine manages all the Elastic Agents across the network through Fleet on port 8220. It's also the host where we ran the File Integrity Monitoring in Task 3.</a:t>
            </a:r>
          </a:p>
          <a:p>
            <a:r>
              <a:rPr lang="en-US"/>
              <a:t>The third machine is the </a:t>
            </a:r>
            <a:r>
              <a:rPr lang="en-US" b="1"/>
              <a:t>Windows Server 2022</a:t>
            </a:r>
            <a:r>
              <a:rPr lang="en-US"/>
              <a:t> at 192.168.56.103. This is a typical enterprise Windows endpoint. We installed Elastic Agent and Sysmon on it, and it was the target of the RDP brute force in Task 2.</a:t>
            </a:r>
          </a:p>
          <a:p>
            <a:r>
              <a:rPr lang="en-US"/>
              <a:t>And finally, we have </a:t>
            </a:r>
            <a:r>
              <a:rPr lang="en-US" b="1"/>
              <a:t>Kali Linux</a:t>
            </a:r>
            <a:r>
              <a:rPr lang="en-US"/>
              <a:t> at 192.168.56.105 — this is our attacker machine. We used it to run Hydra for both the SSH and RDP brute force attacks."</a:t>
            </a:r>
          </a:p>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slide walks through how we actually built the lab, step by step.</a:t>
            </a:r>
          </a:p>
          <a:p>
            <a:r>
              <a:rPr lang="en-US" b="1"/>
              <a:t>Phase 1</a:t>
            </a:r>
            <a:r>
              <a:rPr lang="en-US"/>
              <a:t> was installing the ELK Stack on the Ubuntu server — so Elasticsearch on port 9200, Kibana on port 5601, and Logstash as the processing layer. We pulled everything from the official Elastic APT repository.</a:t>
            </a:r>
          </a:p>
          <a:p>
            <a:r>
              <a:rPr lang="en-US" b="1"/>
              <a:t>Phase 2</a:t>
            </a:r>
            <a:r>
              <a:rPr lang="en-US"/>
              <a:t> was setting up the Fleet Server on a separate Ubuntu VM. Fleet runs on port 8220 and is responsible for generating enrollment commands and authenticating every agent that connects.</a:t>
            </a:r>
          </a:p>
          <a:p>
            <a:r>
              <a:rPr lang="en-US" b="1"/>
              <a:t>Phase 3</a:t>
            </a:r>
            <a:r>
              <a:rPr lang="en-US"/>
              <a:t> was deploying the Elastic Agents — one on the Windows Server using PowerShell, one on the ELK server itself, and one on the Fleet host. Each agent gets a unique enrollment token from Kibana.</a:t>
            </a:r>
          </a:p>
          <a:p>
            <a:r>
              <a:rPr lang="en-US" b="1"/>
              <a:t>Phase 4</a:t>
            </a:r>
            <a:r>
              <a:rPr lang="en-US"/>
              <a:t> was adding the Windows Integration from Kibana, which enables Security events, Sysmon telemetry, and PowerShell logs. This configuration gets pushed automatically to all enrolled agents.</a:t>
            </a:r>
          </a:p>
          <a:p>
            <a:r>
              <a:rPr lang="en-US"/>
              <a:t>The end result was all three agents showing as </a:t>
            </a:r>
            <a:r>
              <a:rPr lang="en-US" b="1"/>
              <a:t>Healthy</a:t>
            </a:r>
            <a:r>
              <a:rPr lang="en-US"/>
              <a:t> in the Kibana Fleet dashboard — ready for the attack simulations.</a:t>
            </a:r>
          </a:p>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Now we move into the core of the project — the actual attack simulations. We ran three distinct scenarios, all from the Kali machine.</a:t>
            </a:r>
          </a:p>
          <a:p>
            <a:r>
              <a:rPr lang="en-US" b="1"/>
              <a:t>Task 1</a:t>
            </a:r>
            <a:r>
              <a:rPr lang="en-US"/>
              <a:t> is an SSH Brute Force — Hydra targeting port 22 on the Ubuntu ELK Server.</a:t>
            </a:r>
          </a:p>
          <a:p>
            <a:r>
              <a:rPr lang="en-US" b="1"/>
              <a:t>Task 2</a:t>
            </a:r>
            <a:r>
              <a:rPr lang="en-US"/>
              <a:t> is an RDP Brute Force — Hydra targeting port 3389 on the Windows Server.</a:t>
            </a:r>
          </a:p>
          <a:p>
            <a:r>
              <a:rPr lang="en-US" b="1"/>
              <a:t>Task 3</a:t>
            </a:r>
            <a:r>
              <a:rPr lang="en-US"/>
              <a:t> is File Integrity Monitoring — using </a:t>
            </a:r>
            <a:r>
              <a:rPr lang="en-US" err="1"/>
              <a:t>Auditd</a:t>
            </a:r>
            <a:r>
              <a:rPr lang="en-US"/>
              <a:t> on the Ubuntu Fleet Server to detect file changes.</a:t>
            </a:r>
          </a:p>
          <a:p>
            <a:r>
              <a:rPr lang="en-US"/>
              <a:t>All three were designed to generate real telemetry that we could then detect and alert on using the SIEM we built.</a:t>
            </a:r>
          </a:p>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US"/>
              <a:t>SSH stands for Secure Shell. It is the standard protocol for remotely accessing Linux servers over the command line on port 22. Almost every Linux server in the world exposes SSH, which is why it is one of the most frequently targeted services on the internet.</a:t>
            </a:r>
          </a:p>
          <a:p>
            <a:pPr algn="just"/>
            <a:r>
              <a:rPr lang="en-US"/>
              <a:t>A brute force attack is simple in concept. The attacker uses an automated tool to try thousands of username and password combinations per minute, usually pulled from lists of common passwords. The goal is to find just one combination that works before the defender notices and blocks the attempt. Hydra is the tool we used, and it is highly optimized for exactly this kind of attack. It can try hundreds of combinations per minute and can run multiple threads in parallel.</a:t>
            </a:r>
          </a:p>
          <a:p>
            <a:pPr algn="just"/>
            <a:endParaRPr lang="en-US"/>
          </a:p>
          <a:p>
            <a:pPr algn="just"/>
            <a:r>
              <a:rPr lang="en-US"/>
              <a:t>an SSH brute force attack is actually one of the easiest attacks to detect. The reason is in the green box on the slide. The attack produces dozens of failure events from a single source IP in just a few seconds, and that pattern is extremely distinctive. No legitimate user fails to log in thirty times in thirty seconds. So once the logs are being collected, brute force stands out immediately</a:t>
            </a:r>
          </a:p>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“What you’re seeing here is the actual SSH brute force attack launched from our Kali Linux machine.</a:t>
            </a:r>
          </a:p>
          <a:p>
            <a:r>
              <a:rPr lang="en-US"/>
              <a:t>At the top, we used the Hydra tool to target the Ubuntu server on port 22, which is the default port for SSH.</a:t>
            </a:r>
          </a:p>
          <a:p>
            <a:r>
              <a:rPr lang="en-US"/>
              <a:t>We specified a single username using the dash L flag — in this case, </a:t>
            </a:r>
            <a:r>
              <a:rPr lang="en-US" i="1" err="1"/>
              <a:t>aashish</a:t>
            </a:r>
            <a:r>
              <a:rPr lang="en-US"/>
              <a:t> — and we piped a list of common weak passwords into Hydra using standard input.</a:t>
            </a:r>
            <a:br>
              <a:rPr lang="en-US">
                <a:cs typeface="+mn-lt"/>
              </a:rPr>
            </a:br>
            <a:r>
              <a:rPr lang="en-US"/>
              <a:t> These include passwords like Password123, Welcome123, and Secure456 -which are commonly used in real-world attacks.</a:t>
            </a:r>
          </a:p>
          <a:p>
            <a:r>
              <a:rPr lang="en-US"/>
              <a:t>Hydra then automatically tries each password against the target system at high speed.</a:t>
            </a:r>
          </a:p>
          <a:p>
            <a:r>
              <a:rPr lang="en-US"/>
              <a:t>On the right side, you can see the key flags:</a:t>
            </a:r>
          </a:p>
          <a:p>
            <a:pPr marL="171450" indent="-171450">
              <a:buFont typeface="Arial"/>
              <a:buChar char="•"/>
            </a:pPr>
            <a:r>
              <a:rPr lang="en-US"/>
              <a:t>dash L specifies the username </a:t>
            </a:r>
          </a:p>
          <a:p>
            <a:pPr marL="171450" indent="-171450">
              <a:buFont typeface="Arial"/>
              <a:buChar char="•"/>
            </a:pPr>
            <a:r>
              <a:rPr lang="en-US"/>
              <a:t>dash P slash dev slash stdin allows us to pass the password list </a:t>
            </a:r>
          </a:p>
          <a:p>
            <a:pPr marL="171450" indent="-171450">
              <a:buFont typeface="Arial"/>
              <a:buChar char="•"/>
            </a:pPr>
            <a:r>
              <a:rPr lang="en-US"/>
              <a:t>and ssh with the IP defines the target protocol and machine </a:t>
            </a:r>
          </a:p>
          <a:p>
            <a:r>
              <a:rPr lang="en-US"/>
              <a:t>At the bottom, we see the result:</a:t>
            </a:r>
            <a:br>
              <a:rPr lang="en-US">
                <a:cs typeface="+mn-lt"/>
              </a:rPr>
            </a:br>
            <a:r>
              <a:rPr lang="en-US"/>
              <a:t> </a:t>
            </a:r>
            <a:r>
              <a:rPr lang="en-US" b="1"/>
              <a:t>1 target completed, 0 valid passwords found.</a:t>
            </a:r>
            <a:endParaRPr lang="en-US"/>
          </a:p>
          <a:p>
            <a:r>
              <a:rPr lang="en-US"/>
              <a:t>So the attack failed — which is expected for a secure system.</a:t>
            </a:r>
          </a:p>
          <a:p>
            <a:r>
              <a:rPr lang="en-US"/>
              <a:t>But the important point is not whether the attack succeeded —</a:t>
            </a:r>
            <a:br>
              <a:rPr lang="en-US">
                <a:cs typeface="+mn-lt"/>
              </a:rPr>
            </a:br>
            <a:r>
              <a:rPr lang="en-US"/>
              <a:t> it’s that </a:t>
            </a:r>
            <a:r>
              <a:rPr lang="en-US" b="1"/>
              <a:t>every single attempt was logged and captured</a:t>
            </a:r>
            <a:r>
              <a:rPr lang="en-US"/>
              <a:t>, which allows us to detect and investigate the attack in the next steps.”</a:t>
            </a:r>
          </a:p>
          <a:p>
            <a:r>
              <a:rPr lang="en-US"/>
              <a:t>In a real SOC, even a failed attack like this is valuable -because it tells us someone is actively trying to break in.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US"/>
              <a:t>This is the raw content of slash var slash log slash auth.log on the target Ubuntu machine, taken while the Hydra attack was running. Every one of those repeated lines is a failed SSH authentication attempt. You can see the pattern immediately: many attempts within the same second, all from the same source IP, all with the same username that does not exist on the server.</a:t>
            </a:r>
          </a:p>
          <a:p>
            <a:r>
              <a:rPr lang="en-US"/>
              <a:t>On the right, the key fields are highlighted:</a:t>
            </a:r>
          </a:p>
          <a:p>
            <a:pPr marL="171450" indent="-171450">
              <a:buFont typeface="Arial"/>
              <a:buChar char="•"/>
            </a:pPr>
            <a:r>
              <a:rPr lang="en-US" b="1"/>
              <a:t>Timestamp</a:t>
            </a:r>
            <a:r>
              <a:rPr lang="en-US"/>
              <a:t> shows all attempts happening almost instantly, which is not human behavior. </a:t>
            </a:r>
          </a:p>
          <a:p>
            <a:pPr marL="171450" indent="-171450">
              <a:buFont typeface="Arial"/>
              <a:buChar char="•"/>
            </a:pPr>
            <a:r>
              <a:rPr lang="en-US" b="1"/>
              <a:t>Invalid user</a:t>
            </a:r>
            <a:r>
              <a:rPr lang="en-US"/>
              <a:t> tells us the username does not exist. </a:t>
            </a:r>
          </a:p>
          <a:p>
            <a:pPr marL="171450" indent="-171450">
              <a:buFont typeface="Arial"/>
              <a:buChar char="•"/>
            </a:pPr>
            <a:r>
              <a:rPr lang="en-US" b="1"/>
              <a:t>Source IP</a:t>
            </a:r>
            <a:r>
              <a:rPr lang="en-US"/>
              <a:t> identifies the attacker machine. </a:t>
            </a:r>
          </a:p>
          <a:p>
            <a:pPr marL="171450" indent="-171450">
              <a:buFont typeface="Arial"/>
              <a:buChar char="•"/>
            </a:pPr>
            <a:r>
              <a:rPr lang="en-US"/>
              <a:t>And </a:t>
            </a:r>
            <a:r>
              <a:rPr lang="en-US" b="1"/>
              <a:t>process</a:t>
            </a:r>
            <a:r>
              <a:rPr lang="en-US"/>
              <a:t> confirms the activity is coming from the SSH service. </a:t>
            </a:r>
          </a:p>
          <a:p>
            <a:r>
              <a:rPr lang="en-US"/>
              <a:t>So even at the operating system level, we can clearly detect suspicious activity before it even reaches the SIEM.</a:t>
            </a:r>
          </a:p>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“At the top, you can see the KQL query we used to find the attack in Kibana.</a:t>
            </a:r>
          </a:p>
          <a:p>
            <a:r>
              <a:rPr lang="en-US"/>
              <a:t>In simple terms, this query is saying:</a:t>
            </a:r>
            <a:br>
              <a:rPr lang="en-US"/>
            </a:br>
            <a:r>
              <a:rPr lang="en-US"/>
              <a:t> show me all events where the login failed and the process is SSH.</a:t>
            </a:r>
          </a:p>
          <a:p>
            <a:r>
              <a:rPr lang="en-US"/>
              <a:t>Below that, on the left, is the Discover view.</a:t>
            </a:r>
            <a:br>
              <a:rPr lang="en-US"/>
            </a:br>
            <a:r>
              <a:rPr lang="en-US"/>
              <a:t> We can see 13 matching events, all happening within a very short time.</a:t>
            </a:r>
            <a:br>
              <a:rPr lang="en-US"/>
            </a:br>
            <a:r>
              <a:rPr lang="en-US"/>
              <a:t> This tight grouping is a clear sign of an automated brute force attack, because a normal user would not fail login attempts this quickly.</a:t>
            </a:r>
          </a:p>
          <a:p>
            <a:r>
              <a:rPr lang="en-US"/>
              <a:t>On the right side, when we expand an event, we get full details like the timestamp, source IP, username, and process.</a:t>
            </a:r>
            <a:br>
              <a:rPr lang="en-US"/>
            </a:br>
            <a:r>
              <a:rPr lang="en-US"/>
              <a:t> This gives us complete visibility into what happened.</a:t>
            </a:r>
          </a:p>
          <a:p>
            <a:r>
              <a:rPr lang="en-US"/>
              <a:t>At the bottom, the key points are summarized:</a:t>
            </a:r>
            <a:br>
              <a:rPr lang="en-US"/>
            </a:br>
            <a:r>
              <a:rPr lang="en-US"/>
              <a:t> 13 events, all from the SSH process, all failed logins, and all related to SSH login attempts.</a:t>
            </a:r>
          </a:p>
          <a:p>
            <a:r>
              <a:rPr lang="en-US"/>
              <a:t>So from this, we can clearly confirm that a brute force attack occurred, even though it was unsuccessful.</a:t>
            </a:r>
          </a:p>
          <a:p>
            <a:r>
              <a:rPr lang="en-US"/>
              <a:t>In a real SOC, this type of activity would trigger an alert automatically within seconds.</a:t>
            </a:r>
          </a:p>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slide introduces the RDP brute force attack. RDP stands for Remote Desktop Protocol — it's the service that gives you full graphical desktop access to a Windows machine, running on TCP port 3389. It's enabled by default on Windows Server, which makes it a very common attack target.</a:t>
            </a:r>
          </a:p>
          <a:p>
            <a:r>
              <a:rPr lang="en-US"/>
              <a:t>What makes RDP interesting from a defender's perspective is that a successful brute force here gives the attacker </a:t>
            </a:r>
            <a:r>
              <a:rPr lang="en-US" b="1"/>
              <a:t>complete control</a:t>
            </a:r>
            <a:r>
              <a:rPr lang="en-US"/>
              <a:t> of the machine — same level of access as a legitimate administrator.</a:t>
            </a:r>
          </a:p>
          <a:p>
            <a:r>
              <a:rPr lang="en-US"/>
              <a:t>For this task we have two layers of evidence. First, </a:t>
            </a:r>
            <a:r>
              <a:rPr lang="en-US" b="1"/>
              <a:t>Windows Security Event ID 4625</a:t>
            </a:r>
            <a:r>
              <a:rPr lang="en-US"/>
              <a:t>, which is the native failed-logon event recorded by Windows itself. Second, </a:t>
            </a:r>
            <a:r>
              <a:rPr lang="en-US" b="1"/>
              <a:t>Sysmon Event Code 3</a:t>
            </a:r>
            <a:r>
              <a:rPr lang="en-US"/>
              <a:t>, which logs every network connection, detected by the </a:t>
            </a:r>
            <a:r>
              <a:rPr lang="en-US" err="1"/>
              <a:t>Sysinternals</a:t>
            </a:r>
            <a:r>
              <a:rPr lang="en-US"/>
              <a:t> Sysmon tool we installed.</a:t>
            </a:r>
          </a:p>
          <a:p>
            <a:r>
              <a:rPr lang="en-US"/>
              <a:t>Having overlapping evidence from two independent sources makes it much harder for an attacker to cover their tracks.</a:t>
            </a:r>
          </a:p>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Here we can see the actual Hydra command we ran from Kali Linux. The target was 192.168.56.103 on port 3389, the account we were attacking was Administrator, and we used the experimental RDP module in Hydra version 9.5.</a:t>
            </a:r>
          </a:p>
          <a:p>
            <a:r>
              <a:rPr lang="en-US"/>
              <a:t>One thing to note — Hydra limits RDP to 4 concurrent tasks because the protocol doesn't handle parallelism well.</a:t>
            </a:r>
          </a:p>
          <a:p>
            <a:r>
              <a:rPr lang="en-US"/>
              <a:t>The result was 0 valid passwords found, which was expected. The point of the exercise wasn't to actually break in — it was to generate the telemetry. And every single attempt produced a Security Event 4625 on the Windows machine AND a Sysmon Event 3 for the network connection. That's exactly the kind of overlapping evidence an analyst would look for in a real investigation.</a:t>
            </a:r>
          </a:p>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slide shows the evidence captured in Windows Event Viewer, specifically from the Sysmon Operational channel.</a:t>
            </a:r>
          </a:p>
          <a:p>
            <a:r>
              <a:rPr lang="en-US"/>
              <a:t>We can see Event ID 3, which is the network connection detection event. The key fields here are: the source is Sysmon configured with the </a:t>
            </a:r>
            <a:r>
              <a:rPr lang="en-US" err="1"/>
              <a:t>SwiftOnSecurity</a:t>
            </a:r>
            <a:r>
              <a:rPr lang="en-US"/>
              <a:t> ruleset; the Image is svchost.exe, which is the RDP listener process on Windows; the Source IP is 192.168.56.105, confirming it came from our Kali machine; and the Rule name matched 'RDP' from the Sysmon config.</a:t>
            </a:r>
          </a:p>
          <a:p>
            <a:r>
              <a:rPr lang="en-US"/>
              <a:t>This is real forensic evidence — it tells you exactly who connected, from where, and what process handled the connection.</a:t>
            </a:r>
          </a:p>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And here's what it looks like when we search for this in Kibana. The KQL query we used was: </a:t>
            </a:r>
            <a:r>
              <a:rPr lang="en-US" err="1"/>
              <a:t>event.code</a:t>
            </a:r>
            <a:r>
              <a:rPr lang="en-US"/>
              <a:t> : 3 and </a:t>
            </a:r>
            <a:r>
              <a:rPr lang="en-US" err="1"/>
              <a:t>source.ip</a:t>
            </a:r>
            <a:r>
              <a:rPr lang="en-US"/>
              <a:t> : 192.168.56.105 — filtering for Sysmon network connection events from our Kali attacker.</a:t>
            </a:r>
          </a:p>
          <a:p>
            <a:r>
              <a:rPr lang="en-US"/>
              <a:t>When we expand one of the events, we can see all the key fields: the rule name is RDP, the process executable is svchost.exe in System32, the user is NETWORK SERVICE, and the </a:t>
            </a:r>
            <a:r>
              <a:rPr lang="en-US" err="1"/>
              <a:t>Winlog</a:t>
            </a:r>
            <a:r>
              <a:rPr lang="en-US"/>
              <a:t> channel confirms it came from the Sysmon Operational log.</a:t>
            </a:r>
          </a:p>
          <a:p>
            <a:r>
              <a:rPr lang="en-US"/>
              <a:t>This is the power of having Sysmon integrated with the SIEM — raw Windows events become fully searchable, pivotable records in seconds.</a:t>
            </a:r>
          </a:p>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US">
                <a:solidFill>
                  <a:srgbClr val="0F172A"/>
                </a:solidFill>
                <a:highlight>
                  <a:srgbClr val="FFFFFF"/>
                </a:highlight>
              </a:rPr>
              <a:t>It is important because It helps to detect what an attackers do after breaking into a system. One of the first things attackers usually do is set up persistence so they can keep access even if the original entry point is blocked.</a:t>
            </a:r>
            <a:endParaRPr lang="en-US"/>
          </a:p>
          <a:p>
            <a:pPr algn="just"/>
            <a:endParaRPr lang="en-US">
              <a:solidFill>
                <a:srgbClr val="0F172A"/>
              </a:solidFill>
              <a:highlight>
                <a:srgbClr val="FFFFFF"/>
              </a:highlight>
            </a:endParaRP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a:buChar char="•"/>
            </a:pPr>
            <a:endParaRPr lang="en-US"/>
          </a:p>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highlight>
                  <a:srgbClr val="FFFFFF"/>
                </a:highlight>
              </a:rPr>
              <a:t>Everything demonstrated so far has relied on an analyst actively opening Kibana and running a search query to find attack evidence. In a real SOC environment that approach is not sufficient. An analyst cannot be manually running searches all day long looking for attacks. The system needs to do that work automatically and alert the analyst only when something worth their attention is found. This is the role of detection rules.</a:t>
            </a:r>
            <a:endParaRPr lang="en-US">
              <a:highlight>
                <a:srgbClr val="C6C6C6"/>
              </a:highlight>
            </a:endParaRP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Log * means Search all Elasticsearch indexes whose names start with log-</a:t>
            </a:r>
          </a:p>
          <a:p>
            <a:pPr marL="171450" indent="-171450">
              <a:buFont typeface="Arial"/>
              <a:buChar char="•"/>
            </a:pPr>
            <a:r>
              <a:rPr lang="en-US" err="1"/>
              <a:t>Auditbeat</a:t>
            </a:r>
            <a:r>
              <a:rPr lang="en-US"/>
              <a:t> means Search all indexes whose names start with </a:t>
            </a:r>
            <a:r>
              <a:rPr lang="en-US" err="1"/>
              <a:t>auditbeat</a:t>
            </a:r>
            <a:r>
              <a:rPr lang="en-US"/>
              <a:t>- </a:t>
            </a:r>
          </a:p>
          <a:p>
            <a:pPr marL="171450" indent="-171450">
              <a:buFont typeface="Arial"/>
              <a:buChar char="•"/>
            </a:pPr>
            <a:endParaRPr lang="en-US">
              <a:highlight>
                <a:srgbClr val="FFFFFF"/>
              </a:highlight>
            </a:endParaRPr>
          </a:p>
          <a:p>
            <a:endParaRPr lang="en-US"/>
          </a:p>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slide summarizes the main takeaways from the whole project.</a:t>
            </a:r>
          </a:p>
          <a:p>
            <a:r>
              <a:rPr lang="en-US"/>
              <a:t>The first thing we learned is that </a:t>
            </a:r>
            <a:r>
              <a:rPr lang="en-US" b="1"/>
              <a:t>centralized log collection is transformative</a:t>
            </a:r>
            <a:r>
              <a:rPr lang="en-US"/>
              <a:t>. Before the SIEM, investigating a failed login meant manually </a:t>
            </a:r>
            <a:r>
              <a:rPr lang="en-US" err="1"/>
              <a:t>SSHing</a:t>
            </a:r>
            <a:r>
              <a:rPr lang="en-US"/>
              <a:t> into each machine. After, one KQL query covers every monitored host in seconds.</a:t>
            </a:r>
          </a:p>
          <a:p>
            <a:r>
              <a:rPr lang="en-US"/>
              <a:t>Second — </a:t>
            </a:r>
            <a:r>
              <a:rPr lang="en-US" b="1"/>
              <a:t>brute force attacks have a very loud, consistent signature</a:t>
            </a:r>
            <a:r>
              <a:rPr lang="en-US"/>
              <a:t>. Many failures from one IP in a short window is easy to spot, yet it's still one of the top breach vectors out there.</a:t>
            </a:r>
          </a:p>
          <a:p>
            <a:r>
              <a:rPr lang="en-US"/>
              <a:t>Third — </a:t>
            </a:r>
            <a:r>
              <a:rPr lang="en-US" b="1"/>
              <a:t>the failure/success distinction is critical</a:t>
            </a:r>
            <a:r>
              <a:rPr lang="en-US"/>
              <a:t>. Finding that one successful login hidden among thousands of failures is the most important skill in this kind of analysis.</a:t>
            </a:r>
          </a:p>
          <a:p>
            <a:r>
              <a:rPr lang="en-US"/>
              <a:t>Fourth — </a:t>
            </a:r>
            <a:r>
              <a:rPr lang="en-US" b="1"/>
              <a:t>kernel-level FIM catches what nothing else can</a:t>
            </a:r>
            <a:r>
              <a:rPr lang="en-US"/>
              <a:t>. An attacker can clear syslog, hide processes, mask traffic — but they cannot change a file on a machine running </a:t>
            </a:r>
            <a:r>
              <a:rPr lang="en-US" err="1"/>
              <a:t>Auditd</a:t>
            </a:r>
            <a:r>
              <a:rPr lang="en-US"/>
              <a:t> without leaving a record.</a:t>
            </a:r>
          </a:p>
          <a:p>
            <a:r>
              <a:rPr lang="en-US"/>
              <a:t>And finally — </a:t>
            </a:r>
            <a:r>
              <a:rPr lang="en-US" b="1"/>
              <a:t>alerting pipelines turn forensic tools into operational ones</a:t>
            </a:r>
            <a:r>
              <a:rPr lang="en-US"/>
              <a:t>. A SIEM that only shows you what happened yesterday is useful. One that alerts in real time lets you respond before the attacker achieves their goal.</a:t>
            </a:r>
          </a:p>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slide covers the practical problems we actually ran into while building the lab — the things you only learn by doing it.</a:t>
            </a:r>
          </a:p>
          <a:p>
            <a:r>
              <a:rPr lang="en-US" b="1"/>
              <a:t>Number 1</a:t>
            </a:r>
            <a:r>
              <a:rPr lang="en-US"/>
              <a:t> — enrollment tokens expire quickly. If you wait too long after generating the first-login token in Kibana, you need to generate a new one.</a:t>
            </a:r>
          </a:p>
          <a:p>
            <a:r>
              <a:rPr lang="en-US" b="1"/>
              <a:t>Number 2</a:t>
            </a:r>
            <a:r>
              <a:rPr lang="en-US"/>
              <a:t> — Port 8220 must be open on the Fleet Server. If a firewall blocks it, agent enrollment fails silently — no error message, just nothing.</a:t>
            </a:r>
          </a:p>
          <a:p>
            <a:r>
              <a:rPr lang="en-US" b="1"/>
              <a:t>Number 3</a:t>
            </a:r>
            <a:r>
              <a:rPr lang="en-US"/>
              <a:t> — Windows Defender can flag the Elastic Agent binary. You need to pre-configure exclusions for the agent's installation paths.</a:t>
            </a:r>
          </a:p>
          <a:p>
            <a:r>
              <a:rPr lang="en-US" b="1"/>
              <a:t>Number 4</a:t>
            </a:r>
            <a:r>
              <a:rPr lang="en-US"/>
              <a:t> — </a:t>
            </a:r>
            <a:r>
              <a:rPr lang="en-US" err="1"/>
              <a:t>Auditd</a:t>
            </a:r>
            <a:r>
              <a:rPr lang="en-US"/>
              <a:t> rule specificity matters. Monitoring a broad directory generates too much noise. You need to target specific high-value files like we did.</a:t>
            </a:r>
          </a:p>
          <a:p>
            <a:r>
              <a:rPr lang="en-US" b="1"/>
              <a:t>Number 5</a:t>
            </a:r>
            <a:r>
              <a:rPr lang="en-US"/>
              <a:t> — If you install via DEB package, you can't upgrade agents remotely through Fleet. Use the TAR installer instead if you want that flexibility.</a:t>
            </a:r>
          </a:p>
          <a:p>
            <a:r>
              <a:rPr lang="en-US" b="1"/>
              <a:t>Number 6</a:t>
            </a:r>
            <a:r>
              <a:rPr lang="en-US"/>
              <a:t> — TLS fingerprints must match exactly. The certificate in the Elasticsearch certs folder can differ from what's actually being served — always verify the fingerprint manually.</a:t>
            </a:r>
          </a:p>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last slide looks at how we could push this lab toward something closer to a production-grade SOC.</a:t>
            </a:r>
          </a:p>
          <a:p>
            <a:r>
              <a:rPr lang="en-US" b="1"/>
              <a:t>A richer Sysmon config</a:t>
            </a:r>
            <a:r>
              <a:rPr lang="en-US"/>
              <a:t> would capture full process creation trees, parent-child relationships, registry changes, DNS queries, and named pipes.</a:t>
            </a:r>
          </a:p>
          <a:p>
            <a:r>
              <a:rPr lang="en-US" b="1"/>
              <a:t>MITRE ATT&amp;CK mapping</a:t>
            </a:r>
            <a:r>
              <a:rPr lang="en-US"/>
              <a:t> would let us align our detection rules to specific attack techniques and identify coverage gaps.</a:t>
            </a:r>
          </a:p>
          <a:p>
            <a:r>
              <a:rPr lang="en-US" b="1" err="1"/>
              <a:t>GeoIP</a:t>
            </a:r>
            <a:r>
              <a:rPr lang="en-US" b="1"/>
              <a:t> enrichment</a:t>
            </a:r>
            <a:r>
              <a:rPr lang="en-US"/>
              <a:t> in Logstash would translate source IPs to countries and cities, enabling a map view in Kibana.</a:t>
            </a:r>
          </a:p>
          <a:p>
            <a:r>
              <a:rPr lang="en-US" b="1"/>
              <a:t>Threat intel feeds</a:t>
            </a:r>
            <a:r>
              <a:rPr lang="en-US"/>
              <a:t> like MISP or Elastic Threat Intelligence would automatically flag known-bad IPs and file hashes.</a:t>
            </a:r>
          </a:p>
          <a:p>
            <a:r>
              <a:rPr lang="en-US" b="1"/>
              <a:t>Infrastructure-as-code</a:t>
            </a:r>
            <a:r>
              <a:rPr lang="en-US"/>
              <a:t> with Ansible would let us rebuild the entire lab with a single command — great for reproducibility.</a:t>
            </a:r>
          </a:p>
          <a:p>
            <a:r>
              <a:rPr lang="en-US"/>
              <a:t>And a </a:t>
            </a:r>
            <a:r>
              <a:rPr lang="en-US" b="1"/>
              <a:t>full attack chain</a:t>
            </a:r>
            <a:r>
              <a:rPr lang="en-US"/>
              <a:t> — initial access, privilege escalation, lateral movement, and data exfiltration — would make this a much more realistic adversary simulation.</a:t>
            </a:r>
          </a:p>
          <a:p>
            <a:r>
              <a:rPr lang="en-US"/>
              <a:t>As we said at the bottom of this slide — the stack scales. With more time, this lab could genuinely evolve into a production SOC reference implementation.</a:t>
            </a:r>
          </a:p>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pn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1.png"/><Relationship Id="rId9"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10.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14.png"/><Relationship Id="rId7"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16.png"/><Relationship Id="rId4" Type="http://schemas.openxmlformats.org/officeDocument/2006/relationships/image" Target="../media/image15.png"/></Relationships>
</file>

<file path=ppt/slides/_rels/slide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21.png"/><Relationship Id="rId4" Type="http://schemas.openxmlformats.org/officeDocument/2006/relationships/image" Target="../media/image20.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9.png"/><Relationship Id="rId4" Type="http://schemas.openxmlformats.org/officeDocument/2006/relationships/image" Target="../media/image20.png"/></Relationships>
</file>

<file path=ppt/slides/_rels/slide1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21.png"/></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25.png"/></Relationships>
</file>

<file path=ppt/slides/_rels/slide13.xml.rels><?xml version="1.0" encoding="UTF-8" standalone="yes"?>
<Relationships xmlns="http://schemas.openxmlformats.org/package/2006/relationships"><Relationship Id="rId3" Type="http://schemas.openxmlformats.org/officeDocument/2006/relationships/image" Target="../media/image26.png"/><Relationship Id="rId7" Type="http://schemas.openxmlformats.org/officeDocument/2006/relationships/image" Target="../media/image25.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28.png"/><Relationship Id="rId4" Type="http://schemas.openxmlformats.org/officeDocument/2006/relationships/image" Target="../media/image27.png"/></Relationships>
</file>

<file path=ppt/slides/_rels/slide1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30.png"/></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1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32.png"/></Relationships>
</file>

<file path=ppt/slides/_rels/slide17.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33.png"/><Relationship Id="rId7"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22.png"/></Relationships>
</file>

<file path=ppt/slides/_rels/slide1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38.png"/></Relationships>
</file>

<file path=ppt/slides/_rels/slide1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40.png"/><Relationship Id="rId4" Type="http://schemas.openxmlformats.org/officeDocument/2006/relationships/image" Target="../media/image27.png"/></Relationships>
</file>

<file path=ppt/slides/_rels/slide2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42.png"/></Relationships>
</file>

<file path=ppt/slides/_rels/slide2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22.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45.png"/></Relationships>
</file>

<file path=ppt/slides/_rels/slide23.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48.png"/></Relationships>
</file>

<file path=ppt/slides/_rels/slide25.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7.png"/><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6.png"/><Relationship Id="rId4" Type="http://schemas.openxmlformats.org/officeDocument/2006/relationships/image" Target="../media/image49.png"/></Relationships>
</file>

<file path=ppt/slides/_rels/slide26.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40.png"/><Relationship Id="rId7" Type="http://schemas.openxmlformats.org/officeDocument/2006/relationships/image" Target="../media/image14.png"/><Relationship Id="rId2" Type="http://schemas.openxmlformats.org/officeDocument/2006/relationships/notesSlide" Target="../notesSlides/notesSlide26.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50.png"/><Relationship Id="rId4" Type="http://schemas.openxmlformats.org/officeDocument/2006/relationships/image" Target="../media/image20.png"/></Relationships>
</file>

<file path=ppt/slides/_rels/slide27.xml.rels><?xml version="1.0" encoding="UTF-8" standalone="yes"?>
<Relationships xmlns="http://schemas.openxmlformats.org/package/2006/relationships"><Relationship Id="rId8" Type="http://schemas.openxmlformats.org/officeDocument/2006/relationships/image" Target="../media/image53.png"/><Relationship Id="rId3" Type="http://schemas.openxmlformats.org/officeDocument/2006/relationships/image" Target="../media/image22.png"/><Relationship Id="rId7" Type="http://schemas.openxmlformats.org/officeDocument/2006/relationships/image" Target="../media/image52.png"/><Relationship Id="rId2" Type="http://schemas.openxmlformats.org/officeDocument/2006/relationships/notesSlide" Target="../notesSlides/notesSlide27.xml"/><Relationship Id="rId1" Type="http://schemas.openxmlformats.org/officeDocument/2006/relationships/slideLayout" Target="../slideLayouts/slideLayout1.xml"/><Relationship Id="rId6" Type="http://schemas.openxmlformats.org/officeDocument/2006/relationships/image" Target="../media/image51.png"/><Relationship Id="rId5" Type="http://schemas.openxmlformats.org/officeDocument/2006/relationships/image" Target="../media/image34.png"/><Relationship Id="rId4" Type="http://schemas.openxmlformats.org/officeDocument/2006/relationships/image" Target="../media/image11.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2743200" y="-2743200"/>
            <a:ext cx="7315200" cy="7315200"/>
          </a:xfrm>
          <a:prstGeom prst="ellipse">
            <a:avLst/>
          </a:prstGeom>
          <a:solidFill>
            <a:srgbClr val="00D9FF">
              <a:alpha val="8000"/>
            </a:srgbClr>
          </a:solidFill>
          <a:ln/>
        </p:spPr>
        <p:txBody>
          <a:bodyPr/>
          <a:lstStyle/>
          <a:p>
            <a:endParaRPr lang="en-US"/>
          </a:p>
        </p:txBody>
      </p:sp>
      <p:sp>
        <p:nvSpPr>
          <p:cNvPr id="3" name="Shape 1"/>
          <p:cNvSpPr/>
          <p:nvPr/>
        </p:nvSpPr>
        <p:spPr>
          <a:xfrm>
            <a:off x="9448495" y="4114800"/>
            <a:ext cx="6400800" cy="6400800"/>
          </a:xfrm>
          <a:prstGeom prst="ellipse">
            <a:avLst/>
          </a:prstGeom>
          <a:solidFill>
            <a:srgbClr val="A78BFA">
              <a:alpha val="6000"/>
            </a:srgbClr>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5547208" y="1097280"/>
            <a:ext cx="1097280" cy="1097280"/>
          </a:xfrm>
          <a:prstGeom prst="rect">
            <a:avLst/>
          </a:prstGeom>
        </p:spPr>
      </p:pic>
      <p:sp>
        <p:nvSpPr>
          <p:cNvPr id="5" name="Text 2"/>
          <p:cNvSpPr/>
          <p:nvPr/>
        </p:nvSpPr>
        <p:spPr>
          <a:xfrm>
            <a:off x="457200" y="2377440"/>
            <a:ext cx="11277295" cy="731520"/>
          </a:xfrm>
          <a:prstGeom prst="rect">
            <a:avLst/>
          </a:prstGeom>
          <a:noFill/>
          <a:ln/>
        </p:spPr>
        <p:txBody>
          <a:bodyPr wrap="square" rtlCol="0" anchor="ctr"/>
          <a:lstStyle/>
          <a:p>
            <a:pPr marL="0" indent="0" algn="ctr">
              <a:buNone/>
            </a:pPr>
            <a:r>
              <a:rPr lang="en-US" sz="4400" b="1" kern="0" spc="800">
                <a:solidFill>
                  <a:srgbClr val="FFFFFF"/>
                </a:solidFill>
                <a:latin typeface="Calibri" pitchFamily="34" charset="0"/>
                <a:ea typeface="Calibri" pitchFamily="34" charset="-122"/>
                <a:cs typeface="Calibri" pitchFamily="34" charset="-120"/>
              </a:rPr>
              <a:t>INCIDENT HANDLING LAB</a:t>
            </a:r>
            <a:endParaRPr lang="en-US" sz="4400"/>
          </a:p>
        </p:txBody>
      </p:sp>
      <p:sp>
        <p:nvSpPr>
          <p:cNvPr id="6" name="Text 3"/>
          <p:cNvSpPr/>
          <p:nvPr/>
        </p:nvSpPr>
        <p:spPr>
          <a:xfrm>
            <a:off x="457200" y="3246120"/>
            <a:ext cx="11277295" cy="457200"/>
          </a:xfrm>
          <a:prstGeom prst="rect">
            <a:avLst/>
          </a:prstGeom>
          <a:noFill/>
          <a:ln/>
        </p:spPr>
        <p:txBody>
          <a:bodyPr wrap="square" rtlCol="0" anchor="ctr"/>
          <a:lstStyle/>
          <a:p>
            <a:pPr marL="0" indent="0" algn="ctr">
              <a:buNone/>
            </a:pPr>
            <a:r>
              <a:rPr lang="en-US" sz="2000" i="1">
                <a:solidFill>
                  <a:srgbClr val="00D9FF"/>
                </a:solidFill>
                <a:latin typeface="Calibri" pitchFamily="34" charset="0"/>
                <a:ea typeface="Calibri" pitchFamily="34" charset="-122"/>
                <a:cs typeface="Calibri" pitchFamily="34" charset="-120"/>
              </a:rPr>
              <a:t>Security Monitoring, Attack Simulation and Incident Detection</a:t>
            </a:r>
            <a:endParaRPr lang="en-US" sz="2000"/>
          </a:p>
        </p:txBody>
      </p:sp>
      <p:sp>
        <p:nvSpPr>
          <p:cNvPr id="7" name="Text 4"/>
          <p:cNvSpPr/>
          <p:nvPr/>
        </p:nvSpPr>
        <p:spPr>
          <a:xfrm>
            <a:off x="457200" y="3749040"/>
            <a:ext cx="11277295" cy="365760"/>
          </a:xfrm>
          <a:prstGeom prst="rect">
            <a:avLst/>
          </a:prstGeom>
          <a:noFill/>
          <a:ln/>
        </p:spPr>
        <p:txBody>
          <a:bodyPr wrap="square" rtlCol="0" anchor="ctr"/>
          <a:lstStyle/>
          <a:p>
            <a:pPr marL="0" indent="0" algn="ctr">
              <a:buNone/>
            </a:pPr>
            <a:r>
              <a:rPr lang="en-US" sz="1600">
                <a:solidFill>
                  <a:srgbClr val="E2E8F0"/>
                </a:solidFill>
                <a:latin typeface="Calibri" pitchFamily="34" charset="0"/>
                <a:ea typeface="Calibri" pitchFamily="34" charset="-122"/>
                <a:cs typeface="Calibri" pitchFamily="34" charset="-120"/>
              </a:rPr>
              <a:t>Built on the Elastic Stack and Fleet Architecture</a:t>
            </a:r>
            <a:endParaRPr lang="en-US" sz="1600"/>
          </a:p>
        </p:txBody>
      </p:sp>
      <p:sp>
        <p:nvSpPr>
          <p:cNvPr id="8" name="Shape 5"/>
          <p:cNvSpPr/>
          <p:nvPr/>
        </p:nvSpPr>
        <p:spPr>
          <a:xfrm>
            <a:off x="3352648" y="4754880"/>
            <a:ext cx="5486400" cy="1188720"/>
          </a:xfrm>
          <a:prstGeom prst="rect">
            <a:avLst/>
          </a:prstGeom>
          <a:solidFill>
            <a:srgbClr val="0F1E38"/>
          </a:solidFill>
          <a:ln w="12700">
            <a:solidFill>
              <a:srgbClr val="00D9FF"/>
            </a:solidFill>
            <a:prstDash val="solid"/>
          </a:ln>
        </p:spPr>
        <p:txBody>
          <a:bodyPr/>
          <a:lstStyle/>
          <a:p>
            <a:endParaRPr lang="en-US"/>
          </a:p>
        </p:txBody>
      </p:sp>
      <p:sp>
        <p:nvSpPr>
          <p:cNvPr id="9" name="Text 6"/>
          <p:cNvSpPr/>
          <p:nvPr/>
        </p:nvSpPr>
        <p:spPr>
          <a:xfrm>
            <a:off x="3352648" y="4892040"/>
            <a:ext cx="5486400" cy="274320"/>
          </a:xfrm>
          <a:prstGeom prst="rect">
            <a:avLst/>
          </a:prstGeom>
          <a:noFill/>
          <a:ln/>
        </p:spPr>
        <p:txBody>
          <a:bodyPr wrap="square" rtlCol="0" anchor="ctr"/>
          <a:lstStyle/>
          <a:p>
            <a:pPr marL="0" indent="0" algn="ctr">
              <a:buNone/>
            </a:pPr>
            <a:r>
              <a:rPr lang="en-US" sz="1100" b="1" kern="0" spc="400">
                <a:solidFill>
                  <a:srgbClr val="00D9FF"/>
                </a:solidFill>
                <a:latin typeface="Calibri" pitchFamily="34" charset="0"/>
                <a:ea typeface="Calibri" pitchFamily="34" charset="-122"/>
                <a:cs typeface="Calibri" pitchFamily="34" charset="-120"/>
              </a:rPr>
              <a:t>TEAM MEMBERS</a:t>
            </a:r>
            <a:endParaRPr lang="en-US" sz="1100"/>
          </a:p>
        </p:txBody>
      </p:sp>
      <p:sp>
        <p:nvSpPr>
          <p:cNvPr id="10" name="Text 7"/>
          <p:cNvSpPr/>
          <p:nvPr/>
        </p:nvSpPr>
        <p:spPr>
          <a:xfrm>
            <a:off x="3352648" y="5212080"/>
            <a:ext cx="5486400" cy="457200"/>
          </a:xfrm>
          <a:prstGeom prst="rect">
            <a:avLst/>
          </a:prstGeom>
          <a:noFill/>
          <a:ln/>
        </p:spPr>
        <p:txBody>
          <a:bodyPr wrap="square" rtlCol="0" anchor="ctr"/>
          <a:lstStyle/>
          <a:p>
            <a:pPr marL="0" indent="0" algn="ctr">
              <a:buNone/>
            </a:pPr>
            <a:r>
              <a:rPr lang="en-US" sz="1500">
                <a:solidFill>
                  <a:srgbClr val="FFFFFF"/>
                </a:solidFill>
                <a:latin typeface="Calibri" pitchFamily="34" charset="0"/>
                <a:ea typeface="Calibri" pitchFamily="34" charset="-122"/>
                <a:cs typeface="Calibri" pitchFamily="34" charset="-120"/>
              </a:rPr>
              <a:t>Aashish Shrestha  ·  Antonio Musumeci  ·  Sujan Thapa</a:t>
            </a:r>
            <a:endParaRPr lang="en-US" sz="1500"/>
          </a:p>
        </p:txBody>
      </p:sp>
      <p:sp>
        <p:nvSpPr>
          <p:cNvPr id="11" name="Text 8"/>
          <p:cNvSpPr/>
          <p:nvPr/>
        </p:nvSpPr>
        <p:spPr>
          <a:xfrm>
            <a:off x="3352648" y="5623560"/>
            <a:ext cx="5486400" cy="274320"/>
          </a:xfrm>
          <a:prstGeom prst="rect">
            <a:avLst/>
          </a:prstGeom>
          <a:noFill/>
          <a:ln/>
        </p:spPr>
        <p:txBody>
          <a:bodyPr wrap="square" rtlCol="0" anchor="ctr"/>
          <a:lstStyle/>
          <a:p>
            <a:pPr marL="0" indent="0" algn="ctr">
              <a:buNone/>
            </a:pPr>
            <a:r>
              <a:rPr lang="en-US" sz="1100">
                <a:solidFill>
                  <a:srgbClr val="94A3B8"/>
                </a:solidFill>
                <a:latin typeface="Calibri" pitchFamily="34" charset="0"/>
                <a:ea typeface="Calibri" pitchFamily="34" charset="-122"/>
                <a:cs typeface="Calibri" pitchFamily="34" charset="-120"/>
              </a:rPr>
              <a:t>April 2026</a:t>
            </a:r>
            <a:endParaRPr lang="en-US" sz="11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65760" y="457200"/>
            <a:ext cx="109728" cy="731520"/>
          </a:xfrm>
          <a:prstGeom prst="rect">
            <a:avLst/>
          </a:prstGeom>
          <a:solidFill>
            <a:srgbClr val="00D9FF"/>
          </a:solidFill>
          <a:ln/>
        </p:spPr>
        <p:txBody>
          <a:bodyPr/>
          <a:lstStyle/>
          <a:p>
            <a:endParaRPr lang="en-US"/>
          </a:p>
        </p:txBody>
      </p:sp>
      <p:sp>
        <p:nvSpPr>
          <p:cNvPr id="3" name="Text 1"/>
          <p:cNvSpPr/>
          <p:nvPr/>
        </p:nvSpPr>
        <p:spPr>
          <a:xfrm>
            <a:off x="640080" y="411480"/>
            <a:ext cx="10515600" cy="502920"/>
          </a:xfrm>
          <a:prstGeom prst="rect">
            <a:avLst/>
          </a:prstGeom>
          <a:noFill/>
          <a:ln/>
        </p:spPr>
        <p:txBody>
          <a:bodyPr wrap="square" lIns="0" tIns="0" rIns="0" bIns="0" rtlCol="0" anchor="t"/>
          <a:lstStyle/>
          <a:p>
            <a:pPr marL="0" indent="0">
              <a:buNone/>
            </a:pPr>
            <a:r>
              <a:rPr lang="en-US" sz="2800" b="1">
                <a:solidFill>
                  <a:srgbClr val="0F172A"/>
                </a:solidFill>
                <a:latin typeface="Calibri" pitchFamily="34" charset="0"/>
                <a:ea typeface="Calibri" pitchFamily="34" charset="-122"/>
                <a:cs typeface="Calibri" pitchFamily="34" charset="-120"/>
              </a:rPr>
              <a:t>Presentation Roadmap</a:t>
            </a:r>
            <a:endParaRPr lang="en-US" sz="2800"/>
          </a:p>
        </p:txBody>
      </p:sp>
      <p:sp>
        <p:nvSpPr>
          <p:cNvPr id="4" name="Text 2"/>
          <p:cNvSpPr/>
          <p:nvPr/>
        </p:nvSpPr>
        <p:spPr>
          <a:xfrm>
            <a:off x="640080" y="868680"/>
            <a:ext cx="10515600" cy="320040"/>
          </a:xfrm>
          <a:prstGeom prst="rect">
            <a:avLst/>
          </a:prstGeom>
          <a:noFill/>
          <a:ln/>
        </p:spPr>
        <p:txBody>
          <a:bodyPr wrap="square" lIns="0" tIns="0" rIns="0" bIns="0" rtlCol="0" anchor="t"/>
          <a:lstStyle/>
          <a:p>
            <a:pPr marL="0" indent="0">
              <a:buNone/>
            </a:pPr>
            <a:r>
              <a:rPr lang="en-US" sz="1300" i="1">
                <a:solidFill>
                  <a:srgbClr val="475569"/>
                </a:solidFill>
                <a:latin typeface="Calibri" pitchFamily="34" charset="0"/>
                <a:ea typeface="Calibri" pitchFamily="34" charset="-122"/>
                <a:cs typeface="Calibri" pitchFamily="34" charset="-120"/>
              </a:rPr>
              <a:t>What we'll cover in the next 27 slides</a:t>
            </a:r>
            <a:endParaRPr lang="en-US" sz="1300"/>
          </a:p>
        </p:txBody>
      </p:sp>
      <p:sp>
        <p:nvSpPr>
          <p:cNvPr id="5" name="Shape 3"/>
          <p:cNvSpPr/>
          <p:nvPr/>
        </p:nvSpPr>
        <p:spPr>
          <a:xfrm>
            <a:off x="640080" y="1554480"/>
            <a:ext cx="5303520" cy="594360"/>
          </a:xfrm>
          <a:prstGeom prst="rect">
            <a:avLst/>
          </a:prstGeom>
          <a:solidFill>
            <a:srgbClr val="F7F9FC"/>
          </a:solidFill>
          <a:ln w="6350">
            <a:solidFill>
              <a:srgbClr val="E2E8F0"/>
            </a:solidFill>
            <a:prstDash val="solid"/>
          </a:ln>
        </p:spPr>
        <p:txBody>
          <a:bodyPr/>
          <a:lstStyle/>
          <a:p>
            <a:endParaRPr lang="en-US"/>
          </a:p>
        </p:txBody>
      </p:sp>
      <p:sp>
        <p:nvSpPr>
          <p:cNvPr id="6" name="Shape 4"/>
          <p:cNvSpPr/>
          <p:nvPr/>
        </p:nvSpPr>
        <p:spPr>
          <a:xfrm>
            <a:off x="640080" y="1554480"/>
            <a:ext cx="73152" cy="594360"/>
          </a:xfrm>
          <a:prstGeom prst="rect">
            <a:avLst/>
          </a:prstGeom>
          <a:solidFill>
            <a:srgbClr val="00D9FF"/>
          </a:solidFill>
          <a:ln/>
        </p:spPr>
        <p:txBody>
          <a:bodyPr/>
          <a:lstStyle/>
          <a:p>
            <a:endParaRPr lang="en-US"/>
          </a:p>
        </p:txBody>
      </p:sp>
      <p:sp>
        <p:nvSpPr>
          <p:cNvPr id="7" name="Text 5"/>
          <p:cNvSpPr/>
          <p:nvPr/>
        </p:nvSpPr>
        <p:spPr>
          <a:xfrm>
            <a:off x="822960" y="1627632"/>
            <a:ext cx="502920" cy="448056"/>
          </a:xfrm>
          <a:prstGeom prst="rect">
            <a:avLst/>
          </a:prstGeom>
          <a:noFill/>
          <a:ln/>
        </p:spPr>
        <p:txBody>
          <a:bodyPr wrap="square" lIns="0" tIns="0" rIns="0" bIns="0" rtlCol="0" anchor="ctr"/>
          <a:lstStyle/>
          <a:p>
            <a:pPr marL="0" indent="0" algn="ctr">
              <a:buNone/>
            </a:pPr>
            <a:r>
              <a:rPr lang="en-US" sz="2200" b="1">
                <a:solidFill>
                  <a:srgbClr val="0891B2"/>
                </a:solidFill>
                <a:latin typeface="Consolas" pitchFamily="34" charset="0"/>
                <a:ea typeface="Consolas" pitchFamily="34" charset="-122"/>
                <a:cs typeface="Consolas" pitchFamily="34" charset="-120"/>
              </a:rPr>
              <a:t>01</a:t>
            </a:r>
            <a:endParaRPr lang="en-US" sz="2200"/>
          </a:p>
        </p:txBody>
      </p:sp>
      <p:pic>
        <p:nvPicPr>
          <p:cNvPr id="8" name="Image 0" descr="preencoded.png"/>
          <p:cNvPicPr>
            <a:picLocks noChangeAspect="1"/>
          </p:cNvPicPr>
          <p:nvPr/>
        </p:nvPicPr>
        <p:blipFill>
          <a:blip r:embed="rId3"/>
          <a:stretch>
            <a:fillRect/>
          </a:stretch>
        </p:blipFill>
        <p:spPr>
          <a:xfrm>
            <a:off x="1417320" y="1691640"/>
            <a:ext cx="347472" cy="347472"/>
          </a:xfrm>
          <a:prstGeom prst="rect">
            <a:avLst/>
          </a:prstGeom>
        </p:spPr>
      </p:pic>
      <p:sp>
        <p:nvSpPr>
          <p:cNvPr id="9" name="Text 6"/>
          <p:cNvSpPr/>
          <p:nvPr/>
        </p:nvSpPr>
        <p:spPr>
          <a:xfrm>
            <a:off x="1920240" y="1627632"/>
            <a:ext cx="3931920" cy="274320"/>
          </a:xfrm>
          <a:prstGeom prst="rect">
            <a:avLst/>
          </a:prstGeom>
          <a:noFill/>
          <a:ln/>
        </p:spPr>
        <p:txBody>
          <a:bodyPr wrap="square" lIns="0" tIns="0" rIns="0" bIns="0" rtlCol="0" anchor="t"/>
          <a:lstStyle/>
          <a:p>
            <a:pPr marL="0" indent="0">
              <a:buNone/>
            </a:pPr>
            <a:r>
              <a:rPr lang="en-US" sz="1400" b="1">
                <a:solidFill>
                  <a:srgbClr val="0F172A"/>
                </a:solidFill>
                <a:latin typeface="Calibri" pitchFamily="34" charset="0"/>
                <a:ea typeface="Calibri" pitchFamily="34" charset="-122"/>
                <a:cs typeface="Calibri" pitchFamily="34" charset="-120"/>
              </a:rPr>
              <a:t>Project Overview</a:t>
            </a:r>
            <a:endParaRPr lang="en-US" sz="1400"/>
          </a:p>
        </p:txBody>
      </p:sp>
      <p:sp>
        <p:nvSpPr>
          <p:cNvPr id="10" name="Text 7"/>
          <p:cNvSpPr/>
          <p:nvPr/>
        </p:nvSpPr>
        <p:spPr>
          <a:xfrm>
            <a:off x="1920240" y="1883664"/>
            <a:ext cx="3931920" cy="256032"/>
          </a:xfrm>
          <a:prstGeom prst="rect">
            <a:avLst/>
          </a:prstGeom>
          <a:noFill/>
          <a:ln/>
        </p:spPr>
        <p:txBody>
          <a:bodyPr wrap="square" lIns="0" tIns="0" rIns="0" bIns="0" rtlCol="0" anchor="t"/>
          <a:lstStyle/>
          <a:p>
            <a:pPr marL="0" indent="0">
              <a:buNone/>
            </a:pPr>
            <a:r>
              <a:rPr lang="en-US" sz="1100">
                <a:solidFill>
                  <a:srgbClr val="475569"/>
                </a:solidFill>
                <a:latin typeface="Calibri" pitchFamily="34" charset="0"/>
                <a:ea typeface="Calibri" pitchFamily="34" charset="-122"/>
                <a:cs typeface="Calibri" pitchFamily="34" charset="-120"/>
              </a:rPr>
              <a:t>Goals and the four-VM lab</a:t>
            </a:r>
            <a:endParaRPr lang="en-US" sz="1100"/>
          </a:p>
        </p:txBody>
      </p:sp>
      <p:sp>
        <p:nvSpPr>
          <p:cNvPr id="11" name="Shape 8"/>
          <p:cNvSpPr/>
          <p:nvPr/>
        </p:nvSpPr>
        <p:spPr>
          <a:xfrm>
            <a:off x="6400800" y="1554480"/>
            <a:ext cx="5303520" cy="594360"/>
          </a:xfrm>
          <a:prstGeom prst="rect">
            <a:avLst/>
          </a:prstGeom>
          <a:solidFill>
            <a:srgbClr val="F7F9FC"/>
          </a:solidFill>
          <a:ln w="6350">
            <a:solidFill>
              <a:srgbClr val="E2E8F0"/>
            </a:solidFill>
            <a:prstDash val="solid"/>
          </a:ln>
        </p:spPr>
        <p:txBody>
          <a:bodyPr/>
          <a:lstStyle/>
          <a:p>
            <a:endParaRPr lang="en-US"/>
          </a:p>
        </p:txBody>
      </p:sp>
      <p:sp>
        <p:nvSpPr>
          <p:cNvPr id="12" name="Shape 9"/>
          <p:cNvSpPr/>
          <p:nvPr/>
        </p:nvSpPr>
        <p:spPr>
          <a:xfrm>
            <a:off x="6400800" y="1554480"/>
            <a:ext cx="73152" cy="594360"/>
          </a:xfrm>
          <a:prstGeom prst="rect">
            <a:avLst/>
          </a:prstGeom>
          <a:solidFill>
            <a:srgbClr val="00D9FF"/>
          </a:solidFill>
          <a:ln/>
        </p:spPr>
        <p:txBody>
          <a:bodyPr/>
          <a:lstStyle/>
          <a:p>
            <a:endParaRPr lang="en-US"/>
          </a:p>
        </p:txBody>
      </p:sp>
      <p:sp>
        <p:nvSpPr>
          <p:cNvPr id="13" name="Text 10"/>
          <p:cNvSpPr/>
          <p:nvPr/>
        </p:nvSpPr>
        <p:spPr>
          <a:xfrm>
            <a:off x="6583680" y="1627632"/>
            <a:ext cx="502920" cy="448056"/>
          </a:xfrm>
          <a:prstGeom prst="rect">
            <a:avLst/>
          </a:prstGeom>
          <a:noFill/>
          <a:ln/>
        </p:spPr>
        <p:txBody>
          <a:bodyPr wrap="square" lIns="0" tIns="0" rIns="0" bIns="0" rtlCol="0" anchor="ctr"/>
          <a:lstStyle/>
          <a:p>
            <a:pPr marL="0" indent="0" algn="ctr">
              <a:buNone/>
            </a:pPr>
            <a:r>
              <a:rPr lang="en-US" sz="2200" b="1">
                <a:solidFill>
                  <a:srgbClr val="0891B2"/>
                </a:solidFill>
                <a:latin typeface="Consolas" pitchFamily="34" charset="0"/>
                <a:ea typeface="Consolas" pitchFamily="34" charset="-122"/>
                <a:cs typeface="Consolas" pitchFamily="34" charset="-120"/>
              </a:rPr>
              <a:t>02</a:t>
            </a:r>
            <a:endParaRPr lang="en-US" sz="2200"/>
          </a:p>
        </p:txBody>
      </p:sp>
      <p:pic>
        <p:nvPicPr>
          <p:cNvPr id="14" name="Image 1" descr="preencoded.png"/>
          <p:cNvPicPr>
            <a:picLocks noChangeAspect="1"/>
          </p:cNvPicPr>
          <p:nvPr/>
        </p:nvPicPr>
        <p:blipFill>
          <a:blip r:embed="rId4"/>
          <a:stretch>
            <a:fillRect/>
          </a:stretch>
        </p:blipFill>
        <p:spPr>
          <a:xfrm>
            <a:off x="7178040" y="1691640"/>
            <a:ext cx="347472" cy="347472"/>
          </a:xfrm>
          <a:prstGeom prst="rect">
            <a:avLst/>
          </a:prstGeom>
        </p:spPr>
      </p:pic>
      <p:sp>
        <p:nvSpPr>
          <p:cNvPr id="15" name="Text 11"/>
          <p:cNvSpPr/>
          <p:nvPr/>
        </p:nvSpPr>
        <p:spPr>
          <a:xfrm>
            <a:off x="7680960" y="1627632"/>
            <a:ext cx="3931920" cy="274320"/>
          </a:xfrm>
          <a:prstGeom prst="rect">
            <a:avLst/>
          </a:prstGeom>
          <a:noFill/>
          <a:ln/>
        </p:spPr>
        <p:txBody>
          <a:bodyPr wrap="square" lIns="0" tIns="0" rIns="0" bIns="0" rtlCol="0" anchor="t"/>
          <a:lstStyle/>
          <a:p>
            <a:pPr marL="0" indent="0">
              <a:buNone/>
            </a:pPr>
            <a:r>
              <a:rPr lang="en-US" sz="1400" b="1">
                <a:solidFill>
                  <a:srgbClr val="0F172A"/>
                </a:solidFill>
                <a:latin typeface="Calibri" pitchFamily="34" charset="0"/>
                <a:ea typeface="Calibri" pitchFamily="34" charset="-122"/>
                <a:cs typeface="Calibri" pitchFamily="34" charset="-120"/>
              </a:rPr>
              <a:t>Project Relevance</a:t>
            </a:r>
            <a:endParaRPr lang="en-US" sz="1400"/>
          </a:p>
        </p:txBody>
      </p:sp>
      <p:sp>
        <p:nvSpPr>
          <p:cNvPr id="16" name="Text 12"/>
          <p:cNvSpPr/>
          <p:nvPr/>
        </p:nvSpPr>
        <p:spPr>
          <a:xfrm>
            <a:off x="7680960" y="1883664"/>
            <a:ext cx="3931920" cy="256032"/>
          </a:xfrm>
          <a:prstGeom prst="rect">
            <a:avLst/>
          </a:prstGeom>
          <a:noFill/>
          <a:ln/>
        </p:spPr>
        <p:txBody>
          <a:bodyPr wrap="square" lIns="0" tIns="0" rIns="0" bIns="0" rtlCol="0" anchor="t"/>
          <a:lstStyle/>
          <a:p>
            <a:pPr marL="0" indent="0">
              <a:buNone/>
            </a:pPr>
            <a:r>
              <a:rPr lang="en-US" sz="1100">
                <a:solidFill>
                  <a:srgbClr val="475569"/>
                </a:solidFill>
                <a:latin typeface="Calibri" pitchFamily="34" charset="0"/>
                <a:ea typeface="Calibri" pitchFamily="34" charset="-122"/>
                <a:cs typeface="Calibri" pitchFamily="34" charset="-120"/>
              </a:rPr>
              <a:t>Why SIEM matters in incident response</a:t>
            </a:r>
            <a:endParaRPr lang="en-US" sz="1100"/>
          </a:p>
        </p:txBody>
      </p:sp>
      <p:sp>
        <p:nvSpPr>
          <p:cNvPr id="17" name="Shape 13"/>
          <p:cNvSpPr/>
          <p:nvPr/>
        </p:nvSpPr>
        <p:spPr>
          <a:xfrm>
            <a:off x="640080" y="2286000"/>
            <a:ext cx="5303520" cy="594360"/>
          </a:xfrm>
          <a:prstGeom prst="rect">
            <a:avLst/>
          </a:prstGeom>
          <a:solidFill>
            <a:srgbClr val="F7F9FC"/>
          </a:solidFill>
          <a:ln w="6350">
            <a:solidFill>
              <a:srgbClr val="E2E8F0"/>
            </a:solidFill>
            <a:prstDash val="solid"/>
          </a:ln>
        </p:spPr>
        <p:txBody>
          <a:bodyPr/>
          <a:lstStyle/>
          <a:p>
            <a:endParaRPr lang="en-US"/>
          </a:p>
        </p:txBody>
      </p:sp>
      <p:sp>
        <p:nvSpPr>
          <p:cNvPr id="18" name="Shape 14"/>
          <p:cNvSpPr/>
          <p:nvPr/>
        </p:nvSpPr>
        <p:spPr>
          <a:xfrm>
            <a:off x="640080" y="2286000"/>
            <a:ext cx="73152" cy="594360"/>
          </a:xfrm>
          <a:prstGeom prst="rect">
            <a:avLst/>
          </a:prstGeom>
          <a:solidFill>
            <a:srgbClr val="00D9FF"/>
          </a:solidFill>
          <a:ln/>
        </p:spPr>
        <p:txBody>
          <a:bodyPr/>
          <a:lstStyle/>
          <a:p>
            <a:endParaRPr lang="en-US"/>
          </a:p>
        </p:txBody>
      </p:sp>
      <p:sp>
        <p:nvSpPr>
          <p:cNvPr id="19" name="Text 15"/>
          <p:cNvSpPr/>
          <p:nvPr/>
        </p:nvSpPr>
        <p:spPr>
          <a:xfrm>
            <a:off x="822960" y="2359152"/>
            <a:ext cx="502920" cy="448056"/>
          </a:xfrm>
          <a:prstGeom prst="rect">
            <a:avLst/>
          </a:prstGeom>
          <a:noFill/>
          <a:ln/>
        </p:spPr>
        <p:txBody>
          <a:bodyPr wrap="square" lIns="0" tIns="0" rIns="0" bIns="0" rtlCol="0" anchor="ctr"/>
          <a:lstStyle/>
          <a:p>
            <a:pPr marL="0" indent="0" algn="ctr">
              <a:buNone/>
            </a:pPr>
            <a:r>
              <a:rPr lang="en-US" sz="2200" b="1">
                <a:solidFill>
                  <a:srgbClr val="0891B2"/>
                </a:solidFill>
                <a:latin typeface="Consolas" pitchFamily="34" charset="0"/>
                <a:ea typeface="Consolas" pitchFamily="34" charset="-122"/>
                <a:cs typeface="Consolas" pitchFamily="34" charset="-120"/>
              </a:rPr>
              <a:t>03</a:t>
            </a:r>
            <a:endParaRPr lang="en-US" sz="2200"/>
          </a:p>
        </p:txBody>
      </p:sp>
      <p:pic>
        <p:nvPicPr>
          <p:cNvPr id="20" name="Image 2" descr="preencoded.png"/>
          <p:cNvPicPr>
            <a:picLocks noChangeAspect="1"/>
          </p:cNvPicPr>
          <p:nvPr/>
        </p:nvPicPr>
        <p:blipFill>
          <a:blip r:embed="rId5"/>
          <a:stretch>
            <a:fillRect/>
          </a:stretch>
        </p:blipFill>
        <p:spPr>
          <a:xfrm>
            <a:off x="1417320" y="2423160"/>
            <a:ext cx="347472" cy="347472"/>
          </a:xfrm>
          <a:prstGeom prst="rect">
            <a:avLst/>
          </a:prstGeom>
        </p:spPr>
      </p:pic>
      <p:sp>
        <p:nvSpPr>
          <p:cNvPr id="21" name="Text 16"/>
          <p:cNvSpPr/>
          <p:nvPr/>
        </p:nvSpPr>
        <p:spPr>
          <a:xfrm>
            <a:off x="1920240" y="2359152"/>
            <a:ext cx="3931920" cy="274320"/>
          </a:xfrm>
          <a:prstGeom prst="rect">
            <a:avLst/>
          </a:prstGeom>
          <a:noFill/>
          <a:ln/>
        </p:spPr>
        <p:txBody>
          <a:bodyPr wrap="square" lIns="0" tIns="0" rIns="0" bIns="0" rtlCol="0" anchor="t"/>
          <a:lstStyle/>
          <a:p>
            <a:pPr marL="0" indent="0">
              <a:buNone/>
            </a:pPr>
            <a:r>
              <a:rPr lang="en-US" sz="1400" b="1">
                <a:solidFill>
                  <a:srgbClr val="0F172A"/>
                </a:solidFill>
                <a:latin typeface="Calibri" pitchFamily="34" charset="0"/>
                <a:ea typeface="Calibri" pitchFamily="34" charset="-122"/>
                <a:cs typeface="Calibri" pitchFamily="34" charset="-120"/>
              </a:rPr>
              <a:t>Methodology</a:t>
            </a:r>
            <a:endParaRPr lang="en-US" sz="1400"/>
          </a:p>
        </p:txBody>
      </p:sp>
      <p:sp>
        <p:nvSpPr>
          <p:cNvPr id="22" name="Text 17"/>
          <p:cNvSpPr/>
          <p:nvPr/>
        </p:nvSpPr>
        <p:spPr>
          <a:xfrm>
            <a:off x="1920240" y="2615184"/>
            <a:ext cx="3931920" cy="256032"/>
          </a:xfrm>
          <a:prstGeom prst="rect">
            <a:avLst/>
          </a:prstGeom>
          <a:noFill/>
          <a:ln/>
        </p:spPr>
        <p:txBody>
          <a:bodyPr wrap="square" lIns="0" tIns="0" rIns="0" bIns="0" rtlCol="0" anchor="t"/>
          <a:lstStyle/>
          <a:p>
            <a:pPr marL="0" indent="0">
              <a:buNone/>
            </a:pPr>
            <a:r>
              <a:rPr lang="en-US" sz="1100">
                <a:solidFill>
                  <a:srgbClr val="475569"/>
                </a:solidFill>
                <a:latin typeface="Calibri" pitchFamily="34" charset="0"/>
                <a:ea typeface="Calibri" pitchFamily="34" charset="-122"/>
                <a:cs typeface="Calibri" pitchFamily="34" charset="-120"/>
              </a:rPr>
              <a:t>Architecture, data pipeline, build phases</a:t>
            </a:r>
            <a:endParaRPr lang="en-US" sz="1100"/>
          </a:p>
        </p:txBody>
      </p:sp>
      <p:sp>
        <p:nvSpPr>
          <p:cNvPr id="23" name="Shape 18"/>
          <p:cNvSpPr/>
          <p:nvPr/>
        </p:nvSpPr>
        <p:spPr>
          <a:xfrm>
            <a:off x="6400800" y="2286000"/>
            <a:ext cx="5303520" cy="594360"/>
          </a:xfrm>
          <a:prstGeom prst="rect">
            <a:avLst/>
          </a:prstGeom>
          <a:solidFill>
            <a:srgbClr val="F7F9FC"/>
          </a:solidFill>
          <a:ln w="6350">
            <a:solidFill>
              <a:srgbClr val="E2E8F0"/>
            </a:solidFill>
            <a:prstDash val="solid"/>
          </a:ln>
        </p:spPr>
        <p:txBody>
          <a:bodyPr/>
          <a:lstStyle/>
          <a:p>
            <a:endParaRPr lang="en-US"/>
          </a:p>
        </p:txBody>
      </p:sp>
      <p:sp>
        <p:nvSpPr>
          <p:cNvPr id="24" name="Shape 19"/>
          <p:cNvSpPr/>
          <p:nvPr/>
        </p:nvSpPr>
        <p:spPr>
          <a:xfrm>
            <a:off x="6400800" y="2286000"/>
            <a:ext cx="73152" cy="594360"/>
          </a:xfrm>
          <a:prstGeom prst="rect">
            <a:avLst/>
          </a:prstGeom>
          <a:solidFill>
            <a:srgbClr val="00D9FF"/>
          </a:solidFill>
          <a:ln/>
        </p:spPr>
        <p:txBody>
          <a:bodyPr/>
          <a:lstStyle/>
          <a:p>
            <a:endParaRPr lang="en-US"/>
          </a:p>
        </p:txBody>
      </p:sp>
      <p:sp>
        <p:nvSpPr>
          <p:cNvPr id="25" name="Text 20"/>
          <p:cNvSpPr/>
          <p:nvPr/>
        </p:nvSpPr>
        <p:spPr>
          <a:xfrm>
            <a:off x="6583680" y="2359152"/>
            <a:ext cx="502920" cy="448056"/>
          </a:xfrm>
          <a:prstGeom prst="rect">
            <a:avLst/>
          </a:prstGeom>
          <a:noFill/>
          <a:ln/>
        </p:spPr>
        <p:txBody>
          <a:bodyPr wrap="square" lIns="0" tIns="0" rIns="0" bIns="0" rtlCol="0" anchor="ctr"/>
          <a:lstStyle/>
          <a:p>
            <a:pPr marL="0" indent="0" algn="ctr">
              <a:buNone/>
            </a:pPr>
            <a:r>
              <a:rPr lang="en-US" sz="2200" b="1">
                <a:solidFill>
                  <a:srgbClr val="0891B2"/>
                </a:solidFill>
                <a:latin typeface="Consolas" pitchFamily="34" charset="0"/>
                <a:ea typeface="Consolas" pitchFamily="34" charset="-122"/>
                <a:cs typeface="Consolas" pitchFamily="34" charset="-120"/>
              </a:rPr>
              <a:t>04</a:t>
            </a:r>
            <a:endParaRPr lang="en-US" sz="2200"/>
          </a:p>
        </p:txBody>
      </p:sp>
      <p:pic>
        <p:nvPicPr>
          <p:cNvPr id="26" name="Image 3" descr="preencoded.png"/>
          <p:cNvPicPr>
            <a:picLocks noChangeAspect="1"/>
          </p:cNvPicPr>
          <p:nvPr/>
        </p:nvPicPr>
        <p:blipFill>
          <a:blip r:embed="rId6"/>
          <a:stretch>
            <a:fillRect/>
          </a:stretch>
        </p:blipFill>
        <p:spPr>
          <a:xfrm>
            <a:off x="7178040" y="2423160"/>
            <a:ext cx="347472" cy="347472"/>
          </a:xfrm>
          <a:prstGeom prst="rect">
            <a:avLst/>
          </a:prstGeom>
        </p:spPr>
      </p:pic>
      <p:sp>
        <p:nvSpPr>
          <p:cNvPr id="27" name="Text 21"/>
          <p:cNvSpPr/>
          <p:nvPr/>
        </p:nvSpPr>
        <p:spPr>
          <a:xfrm>
            <a:off x="7680960" y="2359152"/>
            <a:ext cx="3931920" cy="274320"/>
          </a:xfrm>
          <a:prstGeom prst="rect">
            <a:avLst/>
          </a:prstGeom>
          <a:noFill/>
          <a:ln/>
        </p:spPr>
        <p:txBody>
          <a:bodyPr wrap="square" lIns="0" tIns="0" rIns="0" bIns="0" rtlCol="0" anchor="t"/>
          <a:lstStyle/>
          <a:p>
            <a:pPr marL="0" indent="0">
              <a:buNone/>
            </a:pPr>
            <a:r>
              <a:rPr lang="en-US" sz="1400" b="1">
                <a:solidFill>
                  <a:srgbClr val="0F172A"/>
                </a:solidFill>
                <a:latin typeface="Calibri" pitchFamily="34" charset="0"/>
                <a:ea typeface="Calibri" pitchFamily="34" charset="-122"/>
                <a:cs typeface="Calibri" pitchFamily="34" charset="-120"/>
              </a:rPr>
              <a:t>Task 1 — SSH Brute Force</a:t>
            </a:r>
            <a:endParaRPr lang="en-US" sz="1400"/>
          </a:p>
        </p:txBody>
      </p:sp>
      <p:sp>
        <p:nvSpPr>
          <p:cNvPr id="28" name="Text 22"/>
          <p:cNvSpPr/>
          <p:nvPr/>
        </p:nvSpPr>
        <p:spPr>
          <a:xfrm>
            <a:off x="7680960" y="2615184"/>
            <a:ext cx="3931920" cy="256032"/>
          </a:xfrm>
          <a:prstGeom prst="rect">
            <a:avLst/>
          </a:prstGeom>
          <a:noFill/>
          <a:ln/>
        </p:spPr>
        <p:txBody>
          <a:bodyPr wrap="square" lIns="0" tIns="0" rIns="0" bIns="0" rtlCol="0" anchor="t"/>
          <a:lstStyle/>
          <a:p>
            <a:pPr marL="0" indent="0">
              <a:buNone/>
            </a:pPr>
            <a:r>
              <a:rPr lang="en-US" sz="1100">
                <a:solidFill>
                  <a:srgbClr val="475569"/>
                </a:solidFill>
                <a:latin typeface="Calibri" pitchFamily="34" charset="0"/>
                <a:ea typeface="Calibri" pitchFamily="34" charset="-122"/>
                <a:cs typeface="Calibri" pitchFamily="34" charset="-120"/>
              </a:rPr>
              <a:t>Hydra against the ELK server</a:t>
            </a:r>
            <a:endParaRPr lang="en-US" sz="1100"/>
          </a:p>
        </p:txBody>
      </p:sp>
      <p:sp>
        <p:nvSpPr>
          <p:cNvPr id="29" name="Shape 23"/>
          <p:cNvSpPr/>
          <p:nvPr/>
        </p:nvSpPr>
        <p:spPr>
          <a:xfrm>
            <a:off x="640080" y="3017520"/>
            <a:ext cx="5303520" cy="594360"/>
          </a:xfrm>
          <a:prstGeom prst="rect">
            <a:avLst/>
          </a:prstGeom>
          <a:solidFill>
            <a:srgbClr val="F7F9FC"/>
          </a:solidFill>
          <a:ln w="6350">
            <a:solidFill>
              <a:srgbClr val="E2E8F0"/>
            </a:solidFill>
            <a:prstDash val="solid"/>
          </a:ln>
        </p:spPr>
        <p:txBody>
          <a:bodyPr/>
          <a:lstStyle/>
          <a:p>
            <a:endParaRPr lang="en-US"/>
          </a:p>
        </p:txBody>
      </p:sp>
      <p:sp>
        <p:nvSpPr>
          <p:cNvPr id="30" name="Shape 24"/>
          <p:cNvSpPr/>
          <p:nvPr/>
        </p:nvSpPr>
        <p:spPr>
          <a:xfrm>
            <a:off x="640080" y="3017520"/>
            <a:ext cx="73152" cy="594360"/>
          </a:xfrm>
          <a:prstGeom prst="rect">
            <a:avLst/>
          </a:prstGeom>
          <a:solidFill>
            <a:srgbClr val="00D9FF"/>
          </a:solidFill>
          <a:ln/>
        </p:spPr>
        <p:txBody>
          <a:bodyPr/>
          <a:lstStyle/>
          <a:p>
            <a:endParaRPr lang="en-US"/>
          </a:p>
        </p:txBody>
      </p:sp>
      <p:sp>
        <p:nvSpPr>
          <p:cNvPr id="31" name="Text 25"/>
          <p:cNvSpPr/>
          <p:nvPr/>
        </p:nvSpPr>
        <p:spPr>
          <a:xfrm>
            <a:off x="822960" y="3090672"/>
            <a:ext cx="502920" cy="448056"/>
          </a:xfrm>
          <a:prstGeom prst="rect">
            <a:avLst/>
          </a:prstGeom>
          <a:noFill/>
          <a:ln/>
        </p:spPr>
        <p:txBody>
          <a:bodyPr wrap="square" lIns="0" tIns="0" rIns="0" bIns="0" rtlCol="0" anchor="ctr"/>
          <a:lstStyle/>
          <a:p>
            <a:pPr marL="0" indent="0" algn="ctr">
              <a:buNone/>
            </a:pPr>
            <a:r>
              <a:rPr lang="en-US" sz="2200" b="1">
                <a:solidFill>
                  <a:srgbClr val="0891B2"/>
                </a:solidFill>
                <a:latin typeface="Consolas" pitchFamily="34" charset="0"/>
                <a:ea typeface="Consolas" pitchFamily="34" charset="-122"/>
                <a:cs typeface="Consolas" pitchFamily="34" charset="-120"/>
              </a:rPr>
              <a:t>05</a:t>
            </a:r>
            <a:endParaRPr lang="en-US" sz="2200"/>
          </a:p>
        </p:txBody>
      </p:sp>
      <p:pic>
        <p:nvPicPr>
          <p:cNvPr id="32" name="Image 4" descr="preencoded.png"/>
          <p:cNvPicPr>
            <a:picLocks noChangeAspect="1"/>
          </p:cNvPicPr>
          <p:nvPr/>
        </p:nvPicPr>
        <p:blipFill>
          <a:blip r:embed="rId7"/>
          <a:stretch>
            <a:fillRect/>
          </a:stretch>
        </p:blipFill>
        <p:spPr>
          <a:xfrm>
            <a:off x="1417320" y="3154680"/>
            <a:ext cx="347472" cy="347472"/>
          </a:xfrm>
          <a:prstGeom prst="rect">
            <a:avLst/>
          </a:prstGeom>
        </p:spPr>
      </p:pic>
      <p:sp>
        <p:nvSpPr>
          <p:cNvPr id="33" name="Text 26"/>
          <p:cNvSpPr/>
          <p:nvPr/>
        </p:nvSpPr>
        <p:spPr>
          <a:xfrm>
            <a:off x="1920240" y="3090672"/>
            <a:ext cx="3931920" cy="274320"/>
          </a:xfrm>
          <a:prstGeom prst="rect">
            <a:avLst/>
          </a:prstGeom>
          <a:noFill/>
          <a:ln/>
        </p:spPr>
        <p:txBody>
          <a:bodyPr wrap="square" lIns="0" tIns="0" rIns="0" bIns="0" rtlCol="0" anchor="t"/>
          <a:lstStyle/>
          <a:p>
            <a:pPr marL="0" indent="0">
              <a:buNone/>
            </a:pPr>
            <a:r>
              <a:rPr lang="en-US" sz="1400" b="1">
                <a:solidFill>
                  <a:srgbClr val="0F172A"/>
                </a:solidFill>
                <a:latin typeface="Calibri" pitchFamily="34" charset="0"/>
                <a:ea typeface="Calibri" pitchFamily="34" charset="-122"/>
                <a:cs typeface="Calibri" pitchFamily="34" charset="-120"/>
              </a:rPr>
              <a:t>Task 2 — RDP Brute Force</a:t>
            </a:r>
            <a:endParaRPr lang="en-US" sz="1400"/>
          </a:p>
        </p:txBody>
      </p:sp>
      <p:sp>
        <p:nvSpPr>
          <p:cNvPr id="34" name="Text 27"/>
          <p:cNvSpPr/>
          <p:nvPr/>
        </p:nvSpPr>
        <p:spPr>
          <a:xfrm>
            <a:off x="1920240" y="3346704"/>
            <a:ext cx="3931920" cy="256032"/>
          </a:xfrm>
          <a:prstGeom prst="rect">
            <a:avLst/>
          </a:prstGeom>
          <a:noFill/>
          <a:ln/>
        </p:spPr>
        <p:txBody>
          <a:bodyPr wrap="square" lIns="0" tIns="0" rIns="0" bIns="0" rtlCol="0" anchor="t"/>
          <a:lstStyle/>
          <a:p>
            <a:pPr marL="0" indent="0">
              <a:buNone/>
            </a:pPr>
            <a:r>
              <a:rPr lang="en-US" sz="1100">
                <a:solidFill>
                  <a:srgbClr val="475569"/>
                </a:solidFill>
                <a:latin typeface="Calibri" pitchFamily="34" charset="0"/>
                <a:ea typeface="Calibri" pitchFamily="34" charset="-122"/>
                <a:cs typeface="Calibri" pitchFamily="34" charset="-120"/>
              </a:rPr>
              <a:t>Hydra against Windows Server</a:t>
            </a:r>
            <a:endParaRPr lang="en-US" sz="1100"/>
          </a:p>
        </p:txBody>
      </p:sp>
      <p:sp>
        <p:nvSpPr>
          <p:cNvPr id="35" name="Shape 28"/>
          <p:cNvSpPr/>
          <p:nvPr/>
        </p:nvSpPr>
        <p:spPr>
          <a:xfrm>
            <a:off x="6400800" y="3017520"/>
            <a:ext cx="5303520" cy="594360"/>
          </a:xfrm>
          <a:prstGeom prst="rect">
            <a:avLst/>
          </a:prstGeom>
          <a:solidFill>
            <a:srgbClr val="F7F9FC"/>
          </a:solidFill>
          <a:ln w="6350">
            <a:solidFill>
              <a:srgbClr val="E2E8F0"/>
            </a:solidFill>
            <a:prstDash val="solid"/>
          </a:ln>
        </p:spPr>
        <p:txBody>
          <a:bodyPr/>
          <a:lstStyle/>
          <a:p>
            <a:endParaRPr lang="en-US"/>
          </a:p>
        </p:txBody>
      </p:sp>
      <p:sp>
        <p:nvSpPr>
          <p:cNvPr id="36" name="Shape 29"/>
          <p:cNvSpPr/>
          <p:nvPr/>
        </p:nvSpPr>
        <p:spPr>
          <a:xfrm>
            <a:off x="6400800" y="3017520"/>
            <a:ext cx="73152" cy="594360"/>
          </a:xfrm>
          <a:prstGeom prst="rect">
            <a:avLst/>
          </a:prstGeom>
          <a:solidFill>
            <a:srgbClr val="00D9FF"/>
          </a:solidFill>
          <a:ln/>
        </p:spPr>
        <p:txBody>
          <a:bodyPr/>
          <a:lstStyle/>
          <a:p>
            <a:endParaRPr lang="en-US"/>
          </a:p>
        </p:txBody>
      </p:sp>
      <p:sp>
        <p:nvSpPr>
          <p:cNvPr id="37" name="Text 30"/>
          <p:cNvSpPr/>
          <p:nvPr/>
        </p:nvSpPr>
        <p:spPr>
          <a:xfrm>
            <a:off x="6583680" y="3090672"/>
            <a:ext cx="502920" cy="448056"/>
          </a:xfrm>
          <a:prstGeom prst="rect">
            <a:avLst/>
          </a:prstGeom>
          <a:noFill/>
          <a:ln/>
        </p:spPr>
        <p:txBody>
          <a:bodyPr wrap="square" lIns="0" tIns="0" rIns="0" bIns="0" rtlCol="0" anchor="ctr"/>
          <a:lstStyle/>
          <a:p>
            <a:pPr marL="0" indent="0" algn="ctr">
              <a:buNone/>
            </a:pPr>
            <a:r>
              <a:rPr lang="en-US" sz="2200" b="1">
                <a:solidFill>
                  <a:srgbClr val="0891B2"/>
                </a:solidFill>
                <a:latin typeface="Consolas" pitchFamily="34" charset="0"/>
                <a:ea typeface="Consolas" pitchFamily="34" charset="-122"/>
                <a:cs typeface="Consolas" pitchFamily="34" charset="-120"/>
              </a:rPr>
              <a:t>06</a:t>
            </a:r>
            <a:endParaRPr lang="en-US" sz="2200"/>
          </a:p>
        </p:txBody>
      </p:sp>
      <p:pic>
        <p:nvPicPr>
          <p:cNvPr id="38" name="Image 5" descr="preencoded.png"/>
          <p:cNvPicPr>
            <a:picLocks noChangeAspect="1"/>
          </p:cNvPicPr>
          <p:nvPr/>
        </p:nvPicPr>
        <p:blipFill>
          <a:blip r:embed="rId8"/>
          <a:stretch>
            <a:fillRect/>
          </a:stretch>
        </p:blipFill>
        <p:spPr>
          <a:xfrm>
            <a:off x="7178040" y="3154680"/>
            <a:ext cx="347472" cy="347472"/>
          </a:xfrm>
          <a:prstGeom prst="rect">
            <a:avLst/>
          </a:prstGeom>
        </p:spPr>
      </p:pic>
      <p:sp>
        <p:nvSpPr>
          <p:cNvPr id="39" name="Text 31"/>
          <p:cNvSpPr/>
          <p:nvPr/>
        </p:nvSpPr>
        <p:spPr>
          <a:xfrm>
            <a:off x="7680960" y="3090672"/>
            <a:ext cx="3931920" cy="274320"/>
          </a:xfrm>
          <a:prstGeom prst="rect">
            <a:avLst/>
          </a:prstGeom>
          <a:noFill/>
          <a:ln/>
        </p:spPr>
        <p:txBody>
          <a:bodyPr wrap="square" lIns="0" tIns="0" rIns="0" bIns="0" rtlCol="0" anchor="t"/>
          <a:lstStyle/>
          <a:p>
            <a:pPr marL="0" indent="0">
              <a:buNone/>
            </a:pPr>
            <a:r>
              <a:rPr lang="en-US" sz="1400" b="1">
                <a:solidFill>
                  <a:srgbClr val="0F172A"/>
                </a:solidFill>
                <a:latin typeface="Calibri" pitchFamily="34" charset="0"/>
                <a:ea typeface="Calibri" pitchFamily="34" charset="-122"/>
                <a:cs typeface="Calibri" pitchFamily="34" charset="-120"/>
              </a:rPr>
              <a:t>Task 3 — File Integrity Monitoring</a:t>
            </a:r>
            <a:endParaRPr lang="en-US" sz="1400"/>
          </a:p>
        </p:txBody>
      </p:sp>
      <p:sp>
        <p:nvSpPr>
          <p:cNvPr id="40" name="Text 32"/>
          <p:cNvSpPr/>
          <p:nvPr/>
        </p:nvSpPr>
        <p:spPr>
          <a:xfrm>
            <a:off x="7680960" y="3346704"/>
            <a:ext cx="3931920" cy="256032"/>
          </a:xfrm>
          <a:prstGeom prst="rect">
            <a:avLst/>
          </a:prstGeom>
          <a:noFill/>
          <a:ln/>
        </p:spPr>
        <p:txBody>
          <a:bodyPr wrap="square" lIns="0" tIns="0" rIns="0" bIns="0" rtlCol="0" anchor="t"/>
          <a:lstStyle/>
          <a:p>
            <a:pPr marL="0" indent="0">
              <a:buNone/>
            </a:pPr>
            <a:r>
              <a:rPr lang="en-US" sz="1100">
                <a:solidFill>
                  <a:srgbClr val="475569"/>
                </a:solidFill>
                <a:latin typeface="Calibri" pitchFamily="34" charset="0"/>
                <a:ea typeface="Calibri" pitchFamily="34" charset="-122"/>
                <a:cs typeface="Calibri" pitchFamily="34" charset="-120"/>
              </a:rPr>
              <a:t>Auditd on the Fleet Server</a:t>
            </a:r>
            <a:endParaRPr lang="en-US" sz="1100"/>
          </a:p>
        </p:txBody>
      </p:sp>
      <p:sp>
        <p:nvSpPr>
          <p:cNvPr id="41" name="Shape 33"/>
          <p:cNvSpPr/>
          <p:nvPr/>
        </p:nvSpPr>
        <p:spPr>
          <a:xfrm>
            <a:off x="640080" y="3749040"/>
            <a:ext cx="5303520" cy="594360"/>
          </a:xfrm>
          <a:prstGeom prst="rect">
            <a:avLst/>
          </a:prstGeom>
          <a:solidFill>
            <a:srgbClr val="F7F9FC"/>
          </a:solidFill>
          <a:ln w="6350">
            <a:solidFill>
              <a:srgbClr val="E2E8F0"/>
            </a:solidFill>
            <a:prstDash val="solid"/>
          </a:ln>
        </p:spPr>
        <p:txBody>
          <a:bodyPr/>
          <a:lstStyle/>
          <a:p>
            <a:endParaRPr lang="en-US"/>
          </a:p>
        </p:txBody>
      </p:sp>
      <p:sp>
        <p:nvSpPr>
          <p:cNvPr id="42" name="Shape 34"/>
          <p:cNvSpPr/>
          <p:nvPr/>
        </p:nvSpPr>
        <p:spPr>
          <a:xfrm>
            <a:off x="640080" y="3749040"/>
            <a:ext cx="73152" cy="594360"/>
          </a:xfrm>
          <a:prstGeom prst="rect">
            <a:avLst/>
          </a:prstGeom>
          <a:solidFill>
            <a:srgbClr val="00D9FF"/>
          </a:solidFill>
          <a:ln/>
        </p:spPr>
        <p:txBody>
          <a:bodyPr/>
          <a:lstStyle/>
          <a:p>
            <a:endParaRPr lang="en-US"/>
          </a:p>
        </p:txBody>
      </p:sp>
      <p:sp>
        <p:nvSpPr>
          <p:cNvPr id="43" name="Text 35"/>
          <p:cNvSpPr/>
          <p:nvPr/>
        </p:nvSpPr>
        <p:spPr>
          <a:xfrm>
            <a:off x="822960" y="3822192"/>
            <a:ext cx="502920" cy="448056"/>
          </a:xfrm>
          <a:prstGeom prst="rect">
            <a:avLst/>
          </a:prstGeom>
          <a:noFill/>
          <a:ln/>
        </p:spPr>
        <p:txBody>
          <a:bodyPr wrap="square" lIns="0" tIns="0" rIns="0" bIns="0" rtlCol="0" anchor="ctr"/>
          <a:lstStyle/>
          <a:p>
            <a:pPr marL="0" indent="0" algn="ctr">
              <a:buNone/>
            </a:pPr>
            <a:r>
              <a:rPr lang="en-US" sz="2200" b="1">
                <a:solidFill>
                  <a:srgbClr val="0891B2"/>
                </a:solidFill>
                <a:latin typeface="Consolas" pitchFamily="34" charset="0"/>
                <a:ea typeface="Consolas" pitchFamily="34" charset="-122"/>
                <a:cs typeface="Consolas" pitchFamily="34" charset="-120"/>
              </a:rPr>
              <a:t>07</a:t>
            </a:r>
            <a:endParaRPr lang="en-US" sz="2200"/>
          </a:p>
        </p:txBody>
      </p:sp>
      <p:pic>
        <p:nvPicPr>
          <p:cNvPr id="44" name="Image 6" descr="preencoded.png"/>
          <p:cNvPicPr>
            <a:picLocks noChangeAspect="1"/>
          </p:cNvPicPr>
          <p:nvPr/>
        </p:nvPicPr>
        <p:blipFill>
          <a:blip r:embed="rId9"/>
          <a:stretch>
            <a:fillRect/>
          </a:stretch>
        </p:blipFill>
        <p:spPr>
          <a:xfrm>
            <a:off x="1417320" y="3886200"/>
            <a:ext cx="347472" cy="347472"/>
          </a:xfrm>
          <a:prstGeom prst="rect">
            <a:avLst/>
          </a:prstGeom>
        </p:spPr>
      </p:pic>
      <p:sp>
        <p:nvSpPr>
          <p:cNvPr id="45" name="Text 36"/>
          <p:cNvSpPr/>
          <p:nvPr/>
        </p:nvSpPr>
        <p:spPr>
          <a:xfrm>
            <a:off x="1920240" y="3822192"/>
            <a:ext cx="3931920" cy="274320"/>
          </a:xfrm>
          <a:prstGeom prst="rect">
            <a:avLst/>
          </a:prstGeom>
          <a:noFill/>
          <a:ln/>
        </p:spPr>
        <p:txBody>
          <a:bodyPr wrap="square" lIns="0" tIns="0" rIns="0" bIns="0" rtlCol="0" anchor="t"/>
          <a:lstStyle/>
          <a:p>
            <a:pPr marL="0" indent="0">
              <a:buNone/>
            </a:pPr>
            <a:r>
              <a:rPr lang="en-US" sz="1400" b="1">
                <a:solidFill>
                  <a:srgbClr val="0F172A"/>
                </a:solidFill>
                <a:latin typeface="Calibri" pitchFamily="34" charset="0"/>
                <a:ea typeface="Calibri" pitchFamily="34" charset="-122"/>
                <a:cs typeface="Calibri" pitchFamily="34" charset="-120"/>
              </a:rPr>
              <a:t>Detection Rule &amp; Teams Alert</a:t>
            </a:r>
            <a:endParaRPr lang="en-US" sz="1400"/>
          </a:p>
        </p:txBody>
      </p:sp>
      <p:sp>
        <p:nvSpPr>
          <p:cNvPr id="46" name="Text 37"/>
          <p:cNvSpPr/>
          <p:nvPr/>
        </p:nvSpPr>
        <p:spPr>
          <a:xfrm>
            <a:off x="1920240" y="4078224"/>
            <a:ext cx="3931920" cy="256032"/>
          </a:xfrm>
          <a:prstGeom prst="rect">
            <a:avLst/>
          </a:prstGeom>
          <a:noFill/>
          <a:ln/>
        </p:spPr>
        <p:txBody>
          <a:bodyPr wrap="square" lIns="0" tIns="0" rIns="0" bIns="0" rtlCol="0" anchor="t"/>
          <a:lstStyle/>
          <a:p>
            <a:pPr marL="0" indent="0">
              <a:buNone/>
            </a:pPr>
            <a:r>
              <a:rPr lang="en-US" sz="1100">
                <a:solidFill>
                  <a:srgbClr val="475569"/>
                </a:solidFill>
                <a:latin typeface="Calibri" pitchFamily="34" charset="0"/>
                <a:ea typeface="Calibri" pitchFamily="34" charset="-122"/>
                <a:cs typeface="Calibri" pitchFamily="34" charset="-120"/>
              </a:rPr>
              <a:t>Automated detection pipeline</a:t>
            </a:r>
            <a:endParaRPr lang="en-US" sz="1100"/>
          </a:p>
        </p:txBody>
      </p:sp>
      <p:sp>
        <p:nvSpPr>
          <p:cNvPr id="47" name="Shape 38"/>
          <p:cNvSpPr/>
          <p:nvPr/>
        </p:nvSpPr>
        <p:spPr>
          <a:xfrm>
            <a:off x="6400800" y="3749040"/>
            <a:ext cx="5303520" cy="594360"/>
          </a:xfrm>
          <a:prstGeom prst="rect">
            <a:avLst/>
          </a:prstGeom>
          <a:solidFill>
            <a:srgbClr val="F7F9FC"/>
          </a:solidFill>
          <a:ln w="6350">
            <a:solidFill>
              <a:srgbClr val="E2E8F0"/>
            </a:solidFill>
            <a:prstDash val="solid"/>
          </a:ln>
        </p:spPr>
        <p:txBody>
          <a:bodyPr/>
          <a:lstStyle/>
          <a:p>
            <a:endParaRPr lang="en-US"/>
          </a:p>
        </p:txBody>
      </p:sp>
      <p:sp>
        <p:nvSpPr>
          <p:cNvPr id="48" name="Shape 39"/>
          <p:cNvSpPr/>
          <p:nvPr/>
        </p:nvSpPr>
        <p:spPr>
          <a:xfrm>
            <a:off x="6400800" y="3749040"/>
            <a:ext cx="73152" cy="594360"/>
          </a:xfrm>
          <a:prstGeom prst="rect">
            <a:avLst/>
          </a:prstGeom>
          <a:solidFill>
            <a:srgbClr val="00D9FF"/>
          </a:solidFill>
          <a:ln/>
        </p:spPr>
        <p:txBody>
          <a:bodyPr/>
          <a:lstStyle/>
          <a:p>
            <a:endParaRPr lang="en-US"/>
          </a:p>
        </p:txBody>
      </p:sp>
      <p:sp>
        <p:nvSpPr>
          <p:cNvPr id="49" name="Text 40"/>
          <p:cNvSpPr/>
          <p:nvPr/>
        </p:nvSpPr>
        <p:spPr>
          <a:xfrm>
            <a:off x="6583680" y="3822192"/>
            <a:ext cx="502920" cy="448056"/>
          </a:xfrm>
          <a:prstGeom prst="rect">
            <a:avLst/>
          </a:prstGeom>
          <a:noFill/>
          <a:ln/>
        </p:spPr>
        <p:txBody>
          <a:bodyPr wrap="square" lIns="0" tIns="0" rIns="0" bIns="0" rtlCol="0" anchor="ctr"/>
          <a:lstStyle/>
          <a:p>
            <a:pPr marL="0" indent="0" algn="ctr">
              <a:buNone/>
            </a:pPr>
            <a:r>
              <a:rPr lang="en-US" sz="2200" b="1">
                <a:solidFill>
                  <a:srgbClr val="0891B2"/>
                </a:solidFill>
                <a:latin typeface="Consolas" pitchFamily="34" charset="0"/>
                <a:ea typeface="Consolas" pitchFamily="34" charset="-122"/>
                <a:cs typeface="Consolas" pitchFamily="34" charset="-120"/>
              </a:rPr>
              <a:t>08</a:t>
            </a:r>
            <a:endParaRPr lang="en-US" sz="2200"/>
          </a:p>
        </p:txBody>
      </p:sp>
      <p:pic>
        <p:nvPicPr>
          <p:cNvPr id="50" name="Image 7" descr="preencoded.png"/>
          <p:cNvPicPr>
            <a:picLocks noChangeAspect="1"/>
          </p:cNvPicPr>
          <p:nvPr/>
        </p:nvPicPr>
        <p:blipFill>
          <a:blip r:embed="rId10"/>
          <a:stretch>
            <a:fillRect/>
          </a:stretch>
        </p:blipFill>
        <p:spPr>
          <a:xfrm>
            <a:off x="7178040" y="3886200"/>
            <a:ext cx="347472" cy="347472"/>
          </a:xfrm>
          <a:prstGeom prst="rect">
            <a:avLst/>
          </a:prstGeom>
        </p:spPr>
      </p:pic>
      <p:sp>
        <p:nvSpPr>
          <p:cNvPr id="51" name="Text 41"/>
          <p:cNvSpPr/>
          <p:nvPr/>
        </p:nvSpPr>
        <p:spPr>
          <a:xfrm>
            <a:off x="7680960" y="3822192"/>
            <a:ext cx="3931920" cy="274320"/>
          </a:xfrm>
          <a:prstGeom prst="rect">
            <a:avLst/>
          </a:prstGeom>
          <a:noFill/>
          <a:ln/>
        </p:spPr>
        <p:txBody>
          <a:bodyPr wrap="square" lIns="0" tIns="0" rIns="0" bIns="0" rtlCol="0" anchor="t"/>
          <a:lstStyle/>
          <a:p>
            <a:pPr marL="0" indent="0">
              <a:buNone/>
            </a:pPr>
            <a:r>
              <a:rPr lang="en-US" sz="1400" b="1">
                <a:solidFill>
                  <a:srgbClr val="0F172A"/>
                </a:solidFill>
                <a:latin typeface="Calibri" pitchFamily="34" charset="0"/>
                <a:ea typeface="Calibri" pitchFamily="34" charset="-122"/>
                <a:cs typeface="Calibri" pitchFamily="34" charset="-120"/>
              </a:rPr>
              <a:t>Findings, Lessons &amp; Conclusion</a:t>
            </a:r>
            <a:endParaRPr lang="en-US" sz="1400"/>
          </a:p>
        </p:txBody>
      </p:sp>
      <p:sp>
        <p:nvSpPr>
          <p:cNvPr id="52" name="Text 42"/>
          <p:cNvSpPr/>
          <p:nvPr/>
        </p:nvSpPr>
        <p:spPr>
          <a:xfrm>
            <a:off x="7680960" y="4078224"/>
            <a:ext cx="3931920" cy="256032"/>
          </a:xfrm>
          <a:prstGeom prst="rect">
            <a:avLst/>
          </a:prstGeom>
          <a:noFill/>
          <a:ln/>
        </p:spPr>
        <p:txBody>
          <a:bodyPr wrap="square" lIns="0" tIns="0" rIns="0" bIns="0" rtlCol="0" anchor="t"/>
          <a:lstStyle/>
          <a:p>
            <a:pPr marL="0" indent="0">
              <a:buNone/>
            </a:pPr>
            <a:r>
              <a:rPr lang="en-US" sz="1100">
                <a:solidFill>
                  <a:srgbClr val="475569"/>
                </a:solidFill>
                <a:latin typeface="Calibri" pitchFamily="34" charset="0"/>
                <a:ea typeface="Calibri" pitchFamily="34" charset="-122"/>
                <a:cs typeface="Calibri" pitchFamily="34" charset="-120"/>
              </a:rPr>
              <a:t>What we learned</a:t>
            </a:r>
            <a:endParaRPr lang="en-US" sz="1100"/>
          </a:p>
        </p:txBody>
      </p:sp>
      <p:sp>
        <p:nvSpPr>
          <p:cNvPr id="53" name="Text 43"/>
          <p:cNvSpPr/>
          <p:nvPr/>
        </p:nvSpPr>
        <p:spPr>
          <a:xfrm>
            <a:off x="365760" y="6537960"/>
            <a:ext cx="4572000" cy="228600"/>
          </a:xfrm>
          <a:prstGeom prst="rect">
            <a:avLst/>
          </a:prstGeom>
          <a:noFill/>
          <a:ln/>
        </p:spPr>
        <p:txBody>
          <a:bodyPr wrap="square" lIns="0" tIns="0" rIns="0" bIns="0" rtlCol="0" anchor="ctr"/>
          <a:lstStyle/>
          <a:p>
            <a:pPr marL="0" indent="0" algn="l">
              <a:buNone/>
            </a:pPr>
            <a:r>
              <a:rPr lang="en-US" sz="900">
                <a:solidFill>
                  <a:srgbClr val="94A3B8"/>
                </a:solidFill>
                <a:latin typeface="Calibri" pitchFamily="34" charset="0"/>
                <a:ea typeface="Calibri" pitchFamily="34" charset="-122"/>
                <a:cs typeface="Calibri" pitchFamily="34" charset="-120"/>
              </a:rPr>
              <a:t>Incident Handling Lab  |  Elastic SIEM</a:t>
            </a:r>
            <a:endParaRPr lang="en-US" sz="900"/>
          </a:p>
        </p:txBody>
      </p:sp>
      <p:sp>
        <p:nvSpPr>
          <p:cNvPr id="54" name="Text 44"/>
          <p:cNvSpPr/>
          <p:nvPr/>
        </p:nvSpPr>
        <p:spPr>
          <a:xfrm>
            <a:off x="11094415" y="6537960"/>
            <a:ext cx="914400" cy="228600"/>
          </a:xfrm>
          <a:prstGeom prst="rect">
            <a:avLst/>
          </a:prstGeom>
          <a:noFill/>
          <a:ln/>
        </p:spPr>
        <p:txBody>
          <a:bodyPr wrap="square" lIns="0" tIns="0" rIns="0" bIns="0" rtlCol="0" anchor="ctr"/>
          <a:lstStyle/>
          <a:p>
            <a:pPr marL="0" indent="0" algn="r">
              <a:buNone/>
            </a:pPr>
            <a:r>
              <a:rPr lang="en-US" sz="900">
                <a:solidFill>
                  <a:srgbClr val="94A3B8"/>
                </a:solidFill>
                <a:latin typeface="Calibri" pitchFamily="34" charset="0"/>
                <a:ea typeface="Calibri" pitchFamily="34" charset="-122"/>
                <a:cs typeface="Calibri" pitchFamily="34" charset="-120"/>
              </a:rPr>
              <a:t>2 / 29</a:t>
            </a:r>
            <a:endParaRPr lang="en-US" sz="9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65760" y="457200"/>
            <a:ext cx="109728" cy="731520"/>
          </a:xfrm>
          <a:prstGeom prst="rect">
            <a:avLst/>
          </a:prstGeom>
          <a:solidFill>
            <a:srgbClr val="00D9FF"/>
          </a:solidFill>
          <a:ln/>
        </p:spPr>
        <p:txBody>
          <a:bodyPr/>
          <a:lstStyle/>
          <a:p>
            <a:endParaRPr lang="en-US"/>
          </a:p>
        </p:txBody>
      </p:sp>
      <p:sp>
        <p:nvSpPr>
          <p:cNvPr id="3" name="Text 1"/>
          <p:cNvSpPr/>
          <p:nvPr/>
        </p:nvSpPr>
        <p:spPr>
          <a:xfrm>
            <a:off x="640080" y="411480"/>
            <a:ext cx="10515600" cy="502920"/>
          </a:xfrm>
          <a:prstGeom prst="rect">
            <a:avLst/>
          </a:prstGeom>
          <a:noFill/>
          <a:ln/>
        </p:spPr>
        <p:txBody>
          <a:bodyPr wrap="square" lIns="0" tIns="0" rIns="0" bIns="0" rtlCol="0" anchor="t"/>
          <a:lstStyle/>
          <a:p>
            <a:pPr marL="0" indent="0">
              <a:buNone/>
            </a:pPr>
            <a:r>
              <a:rPr lang="en-US" sz="2800" b="1">
                <a:solidFill>
                  <a:srgbClr val="0F172A"/>
                </a:solidFill>
                <a:latin typeface="Calibri" pitchFamily="34" charset="0"/>
                <a:ea typeface="Calibri" pitchFamily="34" charset="-122"/>
                <a:cs typeface="Calibri" pitchFamily="34" charset="-120"/>
              </a:rPr>
              <a:t>Project Overview</a:t>
            </a:r>
            <a:endParaRPr lang="en-US" sz="2800"/>
          </a:p>
        </p:txBody>
      </p:sp>
      <p:sp>
        <p:nvSpPr>
          <p:cNvPr id="4" name="Text 2"/>
          <p:cNvSpPr/>
          <p:nvPr/>
        </p:nvSpPr>
        <p:spPr>
          <a:xfrm>
            <a:off x="640080" y="868680"/>
            <a:ext cx="10515600" cy="320040"/>
          </a:xfrm>
          <a:prstGeom prst="rect">
            <a:avLst/>
          </a:prstGeom>
          <a:noFill/>
          <a:ln/>
        </p:spPr>
        <p:txBody>
          <a:bodyPr wrap="square" lIns="0" tIns="0" rIns="0" bIns="0" rtlCol="0" anchor="t"/>
          <a:lstStyle/>
          <a:p>
            <a:pPr marL="0" indent="0">
              <a:buNone/>
            </a:pPr>
            <a:r>
              <a:rPr lang="en-US" sz="1300" i="1">
                <a:solidFill>
                  <a:srgbClr val="475569"/>
                </a:solidFill>
                <a:latin typeface="Calibri" pitchFamily="34" charset="0"/>
                <a:ea typeface="Calibri" pitchFamily="34" charset="-122"/>
                <a:cs typeface="Calibri" pitchFamily="34" charset="-120"/>
              </a:rPr>
              <a:t>End-to-end SIEM lab built on the Elastic Stack</a:t>
            </a:r>
            <a:endParaRPr lang="en-US" sz="1300"/>
          </a:p>
        </p:txBody>
      </p:sp>
      <p:sp>
        <p:nvSpPr>
          <p:cNvPr id="5" name="Text 3"/>
          <p:cNvSpPr/>
          <p:nvPr/>
        </p:nvSpPr>
        <p:spPr>
          <a:xfrm>
            <a:off x="640080" y="1417320"/>
            <a:ext cx="5303520" cy="3931920"/>
          </a:xfrm>
          <a:prstGeom prst="rect">
            <a:avLst/>
          </a:prstGeom>
          <a:noFill/>
          <a:ln/>
        </p:spPr>
        <p:txBody>
          <a:bodyPr wrap="square" lIns="0" tIns="0" rIns="0" bIns="0" rtlCol="0" anchor="t"/>
          <a:lstStyle/>
          <a:p>
            <a:pPr marL="0" indent="0">
              <a:spcAft>
                <a:spcPts val="200"/>
              </a:spcAft>
              <a:buNone/>
            </a:pPr>
            <a:r>
              <a:rPr lang="en-US" sz="1400">
                <a:solidFill>
                  <a:srgbClr val="0F172A"/>
                </a:solidFill>
                <a:latin typeface="Calibri" pitchFamily="34" charset="0"/>
                <a:ea typeface="Calibri" pitchFamily="34" charset="-122"/>
                <a:cs typeface="Calibri" pitchFamily="34" charset="-120"/>
              </a:rPr>
              <a:t>A fully operational Security Operations Centre </a:t>
            </a:r>
            <a:endParaRPr lang="en-US" sz="1400"/>
          </a:p>
          <a:p>
            <a:pPr marL="0" indent="0">
              <a:spcAft>
                <a:spcPts val="200"/>
              </a:spcAft>
              <a:buNone/>
            </a:pPr>
            <a:r>
              <a:rPr lang="en-US" sz="1400">
                <a:solidFill>
                  <a:srgbClr val="0F172A"/>
                </a:solidFill>
                <a:latin typeface="Calibri" pitchFamily="34" charset="0"/>
                <a:ea typeface="Calibri" pitchFamily="34" charset="-122"/>
                <a:cs typeface="Calibri" pitchFamily="34" charset="-120"/>
              </a:rPr>
              <a:t>environment was built from the ground up using </a:t>
            </a:r>
            <a:endParaRPr lang="en-US" sz="1400"/>
          </a:p>
          <a:p>
            <a:pPr marL="0" indent="0">
              <a:spcAft>
                <a:spcPts val="200"/>
              </a:spcAft>
              <a:buNone/>
            </a:pPr>
            <a:r>
              <a:rPr lang="en-US" sz="1400">
                <a:solidFill>
                  <a:srgbClr val="0F172A"/>
                </a:solidFill>
                <a:latin typeface="Calibri" pitchFamily="34" charset="0"/>
                <a:ea typeface="Calibri" pitchFamily="34" charset="-122"/>
                <a:cs typeface="Calibri" pitchFamily="34" charset="-120"/>
              </a:rPr>
              <a:t>open-source tools.</a:t>
            </a:r>
            <a:endParaRPr lang="en-US" sz="1400"/>
          </a:p>
          <a:p>
            <a:pPr marL="0" indent="0">
              <a:spcAft>
                <a:spcPts val="200"/>
              </a:spcAft>
              <a:buNone/>
            </a:pPr>
            <a:r>
              <a:rPr lang="en-US" sz="800">
                <a:solidFill>
                  <a:srgbClr val="000000"/>
                </a:solidFill>
              </a:rPr>
              <a:t> </a:t>
            </a:r>
            <a:endParaRPr lang="en-US" sz="1400"/>
          </a:p>
          <a:p>
            <a:pPr marL="0" indent="0">
              <a:spcAft>
                <a:spcPts val="200"/>
              </a:spcAft>
              <a:buNone/>
            </a:pPr>
            <a:r>
              <a:rPr lang="en-US" sz="1400">
                <a:solidFill>
                  <a:srgbClr val="475569"/>
                </a:solidFill>
                <a:latin typeface="Calibri" pitchFamily="34" charset="0"/>
                <a:ea typeface="Calibri" pitchFamily="34" charset="-122"/>
                <a:cs typeface="Calibri" pitchFamily="34" charset="-120"/>
              </a:rPr>
              <a:t>Four virtual machines on a private host-only network, </a:t>
            </a:r>
            <a:endParaRPr lang="en-US" sz="1400"/>
          </a:p>
          <a:p>
            <a:pPr marL="0" indent="0">
              <a:spcAft>
                <a:spcPts val="200"/>
              </a:spcAft>
              <a:buNone/>
            </a:pPr>
            <a:r>
              <a:rPr lang="en-US" sz="1400">
                <a:solidFill>
                  <a:srgbClr val="475569"/>
                </a:solidFill>
                <a:latin typeface="Calibri" pitchFamily="34" charset="0"/>
                <a:ea typeface="Calibri" pitchFamily="34" charset="-122"/>
                <a:cs typeface="Calibri" pitchFamily="34" charset="-120"/>
              </a:rPr>
              <a:t>three of them instrumented with Elastic Agents </a:t>
            </a:r>
            <a:endParaRPr lang="en-US" sz="1400"/>
          </a:p>
          <a:p>
            <a:pPr marL="0" indent="0">
              <a:spcAft>
                <a:spcPts val="200"/>
              </a:spcAft>
              <a:buNone/>
            </a:pPr>
            <a:r>
              <a:rPr lang="en-US" sz="1400">
                <a:solidFill>
                  <a:srgbClr val="475569"/>
                </a:solidFill>
                <a:latin typeface="Calibri" pitchFamily="34" charset="0"/>
                <a:ea typeface="Calibri" pitchFamily="34" charset="-122"/>
                <a:cs typeface="Calibri" pitchFamily="34" charset="-120"/>
              </a:rPr>
              <a:t>shipping telemetry through Fleet into Elasticsearch </a:t>
            </a:r>
            <a:endParaRPr lang="en-US" sz="1400"/>
          </a:p>
          <a:p>
            <a:pPr marL="0" indent="0">
              <a:spcAft>
                <a:spcPts val="200"/>
              </a:spcAft>
              <a:buNone/>
            </a:pPr>
            <a:r>
              <a:rPr lang="en-US" sz="1400">
                <a:solidFill>
                  <a:srgbClr val="475569"/>
                </a:solidFill>
                <a:latin typeface="Calibri" pitchFamily="34" charset="0"/>
                <a:ea typeface="Calibri" pitchFamily="34" charset="-122"/>
                <a:cs typeface="Calibri" pitchFamily="34" charset="-120"/>
              </a:rPr>
              <a:t>and visualized in Kibana.</a:t>
            </a:r>
            <a:endParaRPr lang="en-US" sz="1400"/>
          </a:p>
          <a:p>
            <a:pPr marL="0" indent="0">
              <a:spcAft>
                <a:spcPts val="200"/>
              </a:spcAft>
              <a:buNone/>
            </a:pPr>
            <a:r>
              <a:rPr lang="en-US" sz="800">
                <a:solidFill>
                  <a:srgbClr val="000000"/>
                </a:solidFill>
              </a:rPr>
              <a:t> </a:t>
            </a:r>
            <a:endParaRPr lang="en-US" sz="1400"/>
          </a:p>
          <a:p>
            <a:pPr marL="0" indent="0">
              <a:spcAft>
                <a:spcPts val="200"/>
              </a:spcAft>
              <a:buNone/>
            </a:pPr>
            <a:r>
              <a:rPr lang="en-US" sz="1400">
                <a:solidFill>
                  <a:srgbClr val="475569"/>
                </a:solidFill>
                <a:latin typeface="Calibri" pitchFamily="34" charset="0"/>
                <a:ea typeface="Calibri" pitchFamily="34" charset="-122"/>
                <a:cs typeface="Calibri" pitchFamily="34" charset="-120"/>
              </a:rPr>
              <a:t>Three distinct attack scenarios were simulated </a:t>
            </a:r>
            <a:endParaRPr lang="en-US" sz="1400"/>
          </a:p>
          <a:p>
            <a:pPr marL="0" indent="0">
              <a:spcAft>
                <a:spcPts val="200"/>
              </a:spcAft>
              <a:buNone/>
            </a:pPr>
            <a:r>
              <a:rPr lang="en-US" sz="1400">
                <a:solidFill>
                  <a:srgbClr val="475569"/>
                </a:solidFill>
                <a:latin typeface="Calibri" pitchFamily="34" charset="0"/>
                <a:ea typeface="Calibri" pitchFamily="34" charset="-122"/>
                <a:cs typeface="Calibri" pitchFamily="34" charset="-120"/>
              </a:rPr>
              <a:t>end-to-end and automatically detected, culminating </a:t>
            </a:r>
            <a:endParaRPr lang="en-US" sz="1400"/>
          </a:p>
          <a:p>
            <a:pPr marL="0" indent="0">
              <a:spcAft>
                <a:spcPts val="200"/>
              </a:spcAft>
              <a:buNone/>
            </a:pPr>
            <a:r>
              <a:rPr lang="en-US" sz="1400">
                <a:solidFill>
                  <a:srgbClr val="475569"/>
                </a:solidFill>
                <a:latin typeface="Calibri" pitchFamily="34" charset="0"/>
                <a:ea typeface="Calibri" pitchFamily="34" charset="-122"/>
                <a:cs typeface="Calibri" pitchFamily="34" charset="-120"/>
              </a:rPr>
              <a:t>in a real-time Microsoft Teams alert.</a:t>
            </a:r>
            <a:endParaRPr lang="en-US" sz="1400"/>
          </a:p>
        </p:txBody>
      </p:sp>
      <p:sp>
        <p:nvSpPr>
          <p:cNvPr id="6" name="Shape 4"/>
          <p:cNvSpPr/>
          <p:nvPr/>
        </p:nvSpPr>
        <p:spPr>
          <a:xfrm>
            <a:off x="6583680" y="1417320"/>
            <a:ext cx="2560320" cy="1874520"/>
          </a:xfrm>
          <a:prstGeom prst="rect">
            <a:avLst/>
          </a:prstGeom>
          <a:solidFill>
            <a:srgbClr val="F7F9FC"/>
          </a:solidFill>
          <a:ln w="6350">
            <a:solidFill>
              <a:srgbClr val="E2E8F0"/>
            </a:solidFill>
            <a:prstDash val="solid"/>
          </a:ln>
          <a:effectLst>
            <a:outerShdw blurRad="101600" dist="38100" dir="5400000" algn="bl" rotWithShape="0">
              <a:srgbClr val="000000">
                <a:alpha val="12000"/>
              </a:srgbClr>
            </a:outerShdw>
          </a:effectLst>
        </p:spPr>
        <p:txBody>
          <a:bodyPr/>
          <a:lstStyle/>
          <a:p>
            <a:endParaRPr lang="en-US"/>
          </a:p>
        </p:txBody>
      </p:sp>
      <p:pic>
        <p:nvPicPr>
          <p:cNvPr id="7" name="Image 0" descr="preencoded.png"/>
          <p:cNvPicPr>
            <a:picLocks noChangeAspect="1"/>
          </p:cNvPicPr>
          <p:nvPr/>
        </p:nvPicPr>
        <p:blipFill>
          <a:blip r:embed="rId3"/>
          <a:stretch>
            <a:fillRect/>
          </a:stretch>
        </p:blipFill>
        <p:spPr>
          <a:xfrm>
            <a:off x="6812280" y="1618488"/>
            <a:ext cx="365760" cy="365760"/>
          </a:xfrm>
          <a:prstGeom prst="rect">
            <a:avLst/>
          </a:prstGeom>
        </p:spPr>
      </p:pic>
      <p:sp>
        <p:nvSpPr>
          <p:cNvPr id="8" name="Text 5"/>
          <p:cNvSpPr/>
          <p:nvPr/>
        </p:nvSpPr>
        <p:spPr>
          <a:xfrm>
            <a:off x="6812280" y="1965960"/>
            <a:ext cx="2103120" cy="640080"/>
          </a:xfrm>
          <a:prstGeom prst="rect">
            <a:avLst/>
          </a:prstGeom>
          <a:noFill/>
          <a:ln/>
        </p:spPr>
        <p:txBody>
          <a:bodyPr wrap="square" lIns="0" tIns="0" rIns="0" bIns="0" rtlCol="0" anchor="ctr"/>
          <a:lstStyle/>
          <a:p>
            <a:pPr marL="0" indent="0">
              <a:buNone/>
            </a:pPr>
            <a:r>
              <a:rPr lang="en-US" sz="4400" b="1">
                <a:solidFill>
                  <a:srgbClr val="00D9FF"/>
                </a:solidFill>
                <a:latin typeface="Calibri" pitchFamily="34" charset="0"/>
                <a:ea typeface="Calibri" pitchFamily="34" charset="-122"/>
                <a:cs typeface="Calibri" pitchFamily="34" charset="-120"/>
              </a:rPr>
              <a:t>4</a:t>
            </a:r>
            <a:endParaRPr lang="en-US" sz="4400"/>
          </a:p>
        </p:txBody>
      </p:sp>
      <p:sp>
        <p:nvSpPr>
          <p:cNvPr id="9" name="Text 6"/>
          <p:cNvSpPr/>
          <p:nvPr/>
        </p:nvSpPr>
        <p:spPr>
          <a:xfrm>
            <a:off x="6812280" y="2560320"/>
            <a:ext cx="2103120" cy="274320"/>
          </a:xfrm>
          <a:prstGeom prst="rect">
            <a:avLst/>
          </a:prstGeom>
          <a:noFill/>
          <a:ln/>
        </p:spPr>
        <p:txBody>
          <a:bodyPr wrap="square" lIns="0" tIns="0" rIns="0" bIns="0" rtlCol="0" anchor="ctr"/>
          <a:lstStyle/>
          <a:p>
            <a:pPr marL="0" indent="0">
              <a:buNone/>
            </a:pPr>
            <a:r>
              <a:rPr lang="en-US" sz="1300" b="1">
                <a:solidFill>
                  <a:srgbClr val="0F172A"/>
                </a:solidFill>
                <a:latin typeface="Calibri" pitchFamily="34" charset="0"/>
                <a:ea typeface="Calibri" pitchFamily="34" charset="-122"/>
                <a:cs typeface="Calibri" pitchFamily="34" charset="-120"/>
              </a:rPr>
              <a:t>Virtual Machines</a:t>
            </a:r>
            <a:endParaRPr lang="en-US" sz="1300"/>
          </a:p>
        </p:txBody>
      </p:sp>
      <p:sp>
        <p:nvSpPr>
          <p:cNvPr id="10" name="Text 7"/>
          <p:cNvSpPr/>
          <p:nvPr/>
        </p:nvSpPr>
        <p:spPr>
          <a:xfrm>
            <a:off x="6812280" y="2788920"/>
            <a:ext cx="2103120" cy="411480"/>
          </a:xfrm>
          <a:prstGeom prst="rect">
            <a:avLst/>
          </a:prstGeom>
          <a:noFill/>
          <a:ln/>
        </p:spPr>
        <p:txBody>
          <a:bodyPr wrap="square" lIns="0" tIns="0" rIns="0" bIns="0" rtlCol="0" anchor="ctr"/>
          <a:lstStyle/>
          <a:p>
            <a:pPr marL="0" indent="0">
              <a:buNone/>
            </a:pPr>
            <a:r>
              <a:rPr lang="en-US" sz="950">
                <a:solidFill>
                  <a:srgbClr val="475569"/>
                </a:solidFill>
                <a:latin typeface="Calibri" pitchFamily="34" charset="0"/>
                <a:ea typeface="Calibri" pitchFamily="34" charset="-122"/>
                <a:cs typeface="Calibri" pitchFamily="34" charset="-120"/>
              </a:rPr>
              <a:t>Ubuntu ELK, Ubuntu Fleet, Windows Server, Kali Linux</a:t>
            </a:r>
            <a:endParaRPr lang="en-US" sz="950"/>
          </a:p>
        </p:txBody>
      </p:sp>
      <p:sp>
        <p:nvSpPr>
          <p:cNvPr id="11" name="Shape 8"/>
          <p:cNvSpPr/>
          <p:nvPr/>
        </p:nvSpPr>
        <p:spPr>
          <a:xfrm>
            <a:off x="9326880" y="1417320"/>
            <a:ext cx="2560320" cy="1874520"/>
          </a:xfrm>
          <a:prstGeom prst="rect">
            <a:avLst/>
          </a:prstGeom>
          <a:solidFill>
            <a:srgbClr val="F7F9FC"/>
          </a:solidFill>
          <a:ln w="6350">
            <a:solidFill>
              <a:srgbClr val="E2E8F0"/>
            </a:solidFill>
            <a:prstDash val="solid"/>
          </a:ln>
          <a:effectLst>
            <a:outerShdw blurRad="101600" dist="38100" dir="5400000" algn="bl" rotWithShape="0">
              <a:srgbClr val="000000">
                <a:alpha val="12000"/>
              </a:srgbClr>
            </a:outerShdw>
          </a:effectLst>
        </p:spPr>
        <p:txBody>
          <a:bodyPr/>
          <a:lstStyle/>
          <a:p>
            <a:endParaRPr lang="en-US"/>
          </a:p>
        </p:txBody>
      </p:sp>
      <p:pic>
        <p:nvPicPr>
          <p:cNvPr id="12" name="Image 1" descr="preencoded.png"/>
          <p:cNvPicPr>
            <a:picLocks noChangeAspect="1"/>
          </p:cNvPicPr>
          <p:nvPr/>
        </p:nvPicPr>
        <p:blipFill>
          <a:blip r:embed="rId4"/>
          <a:stretch>
            <a:fillRect/>
          </a:stretch>
        </p:blipFill>
        <p:spPr>
          <a:xfrm>
            <a:off x="9555480" y="1618488"/>
            <a:ext cx="365760" cy="365760"/>
          </a:xfrm>
          <a:prstGeom prst="rect">
            <a:avLst/>
          </a:prstGeom>
        </p:spPr>
      </p:pic>
      <p:sp>
        <p:nvSpPr>
          <p:cNvPr id="13" name="Text 9"/>
          <p:cNvSpPr/>
          <p:nvPr/>
        </p:nvSpPr>
        <p:spPr>
          <a:xfrm>
            <a:off x="9555480" y="1965960"/>
            <a:ext cx="2103120" cy="640080"/>
          </a:xfrm>
          <a:prstGeom prst="rect">
            <a:avLst/>
          </a:prstGeom>
          <a:noFill/>
          <a:ln/>
        </p:spPr>
        <p:txBody>
          <a:bodyPr wrap="square" lIns="0" tIns="0" rIns="0" bIns="0" rtlCol="0" anchor="ctr"/>
          <a:lstStyle/>
          <a:p>
            <a:pPr marL="0" indent="0">
              <a:buNone/>
            </a:pPr>
            <a:r>
              <a:rPr lang="en-US" sz="4400" b="1">
                <a:solidFill>
                  <a:srgbClr val="EF4444"/>
                </a:solidFill>
                <a:latin typeface="Calibri" pitchFamily="34" charset="0"/>
                <a:ea typeface="Calibri" pitchFamily="34" charset="-122"/>
                <a:cs typeface="Calibri" pitchFamily="34" charset="-120"/>
              </a:rPr>
              <a:t>3</a:t>
            </a:r>
            <a:endParaRPr lang="en-US" sz="4400"/>
          </a:p>
        </p:txBody>
      </p:sp>
      <p:sp>
        <p:nvSpPr>
          <p:cNvPr id="14" name="Text 10"/>
          <p:cNvSpPr/>
          <p:nvPr/>
        </p:nvSpPr>
        <p:spPr>
          <a:xfrm>
            <a:off x="9555480" y="2560320"/>
            <a:ext cx="2103120" cy="274320"/>
          </a:xfrm>
          <a:prstGeom prst="rect">
            <a:avLst/>
          </a:prstGeom>
          <a:noFill/>
          <a:ln/>
        </p:spPr>
        <p:txBody>
          <a:bodyPr wrap="square" lIns="0" tIns="0" rIns="0" bIns="0" rtlCol="0" anchor="ctr"/>
          <a:lstStyle/>
          <a:p>
            <a:pPr marL="0" indent="0">
              <a:buNone/>
            </a:pPr>
            <a:r>
              <a:rPr lang="en-US" sz="1300" b="1">
                <a:solidFill>
                  <a:srgbClr val="0F172A"/>
                </a:solidFill>
                <a:latin typeface="Calibri" pitchFamily="34" charset="0"/>
                <a:ea typeface="Calibri" pitchFamily="34" charset="-122"/>
                <a:cs typeface="Calibri" pitchFamily="34" charset="-120"/>
              </a:rPr>
              <a:t>Attack Scenarios</a:t>
            </a:r>
            <a:endParaRPr lang="en-US" sz="1300"/>
          </a:p>
        </p:txBody>
      </p:sp>
      <p:sp>
        <p:nvSpPr>
          <p:cNvPr id="15" name="Text 11"/>
          <p:cNvSpPr/>
          <p:nvPr/>
        </p:nvSpPr>
        <p:spPr>
          <a:xfrm>
            <a:off x="9555480" y="2788920"/>
            <a:ext cx="2103120" cy="411480"/>
          </a:xfrm>
          <a:prstGeom prst="rect">
            <a:avLst/>
          </a:prstGeom>
          <a:noFill/>
          <a:ln/>
        </p:spPr>
        <p:txBody>
          <a:bodyPr wrap="square" lIns="0" tIns="0" rIns="0" bIns="0" rtlCol="0" anchor="ctr"/>
          <a:lstStyle/>
          <a:p>
            <a:pPr marL="0" indent="0">
              <a:buNone/>
            </a:pPr>
            <a:r>
              <a:rPr lang="en-US" sz="950">
                <a:solidFill>
                  <a:srgbClr val="475569"/>
                </a:solidFill>
                <a:latin typeface="Calibri" pitchFamily="34" charset="0"/>
                <a:ea typeface="Calibri" pitchFamily="34" charset="-122"/>
                <a:cs typeface="Calibri" pitchFamily="34" charset="-120"/>
              </a:rPr>
              <a:t>SSH brute force, RDP brute force, FIM tamper</a:t>
            </a:r>
            <a:endParaRPr lang="en-US" sz="950"/>
          </a:p>
        </p:txBody>
      </p:sp>
      <p:sp>
        <p:nvSpPr>
          <p:cNvPr id="16" name="Shape 12"/>
          <p:cNvSpPr/>
          <p:nvPr/>
        </p:nvSpPr>
        <p:spPr>
          <a:xfrm>
            <a:off x="6583680" y="3474720"/>
            <a:ext cx="2560320" cy="1874520"/>
          </a:xfrm>
          <a:prstGeom prst="rect">
            <a:avLst/>
          </a:prstGeom>
          <a:solidFill>
            <a:srgbClr val="F7F9FC"/>
          </a:solidFill>
          <a:ln w="6350">
            <a:solidFill>
              <a:srgbClr val="E2E8F0"/>
            </a:solidFill>
            <a:prstDash val="solid"/>
          </a:ln>
          <a:effectLst>
            <a:outerShdw blurRad="101600" dist="38100" dir="5400000" algn="bl" rotWithShape="0">
              <a:srgbClr val="000000">
                <a:alpha val="12000"/>
              </a:srgbClr>
            </a:outerShdw>
          </a:effectLst>
        </p:spPr>
        <p:txBody>
          <a:bodyPr/>
          <a:lstStyle/>
          <a:p>
            <a:endParaRPr lang="en-US"/>
          </a:p>
        </p:txBody>
      </p:sp>
      <p:pic>
        <p:nvPicPr>
          <p:cNvPr id="17" name="Image 2" descr="preencoded.png"/>
          <p:cNvPicPr>
            <a:picLocks noChangeAspect="1"/>
          </p:cNvPicPr>
          <p:nvPr/>
        </p:nvPicPr>
        <p:blipFill>
          <a:blip r:embed="rId5"/>
          <a:stretch>
            <a:fillRect/>
          </a:stretch>
        </p:blipFill>
        <p:spPr>
          <a:xfrm>
            <a:off x="6812280" y="3675888"/>
            <a:ext cx="365760" cy="365760"/>
          </a:xfrm>
          <a:prstGeom prst="rect">
            <a:avLst/>
          </a:prstGeom>
        </p:spPr>
      </p:pic>
      <p:sp>
        <p:nvSpPr>
          <p:cNvPr id="18" name="Text 13"/>
          <p:cNvSpPr/>
          <p:nvPr/>
        </p:nvSpPr>
        <p:spPr>
          <a:xfrm>
            <a:off x="6812280" y="4023360"/>
            <a:ext cx="2103120" cy="640080"/>
          </a:xfrm>
          <a:prstGeom prst="rect">
            <a:avLst/>
          </a:prstGeom>
          <a:noFill/>
          <a:ln/>
        </p:spPr>
        <p:txBody>
          <a:bodyPr wrap="square" lIns="0" tIns="0" rIns="0" bIns="0" rtlCol="0" anchor="ctr"/>
          <a:lstStyle/>
          <a:p>
            <a:pPr marL="0" indent="0">
              <a:buNone/>
            </a:pPr>
            <a:r>
              <a:rPr lang="en-US" sz="4400" b="1">
                <a:solidFill>
                  <a:srgbClr val="A78BFA"/>
                </a:solidFill>
                <a:latin typeface="Calibri" pitchFamily="34" charset="0"/>
                <a:ea typeface="Calibri" pitchFamily="34" charset="-122"/>
                <a:cs typeface="Calibri" pitchFamily="34" charset="-120"/>
              </a:rPr>
              <a:t>5</a:t>
            </a:r>
            <a:endParaRPr lang="en-US" sz="4400"/>
          </a:p>
        </p:txBody>
      </p:sp>
      <p:sp>
        <p:nvSpPr>
          <p:cNvPr id="19" name="Text 14"/>
          <p:cNvSpPr/>
          <p:nvPr/>
        </p:nvSpPr>
        <p:spPr>
          <a:xfrm>
            <a:off x="6812280" y="4617720"/>
            <a:ext cx="2103120" cy="274320"/>
          </a:xfrm>
          <a:prstGeom prst="rect">
            <a:avLst/>
          </a:prstGeom>
          <a:noFill/>
          <a:ln/>
        </p:spPr>
        <p:txBody>
          <a:bodyPr wrap="square" lIns="0" tIns="0" rIns="0" bIns="0" rtlCol="0" anchor="ctr"/>
          <a:lstStyle/>
          <a:p>
            <a:pPr marL="0" indent="0">
              <a:buNone/>
            </a:pPr>
            <a:r>
              <a:rPr lang="en-US" sz="1300" b="1">
                <a:solidFill>
                  <a:srgbClr val="0F172A"/>
                </a:solidFill>
                <a:latin typeface="Calibri" pitchFamily="34" charset="0"/>
                <a:ea typeface="Calibri" pitchFamily="34" charset="-122"/>
                <a:cs typeface="Calibri" pitchFamily="34" charset="-120"/>
              </a:rPr>
              <a:t>Stack Components</a:t>
            </a:r>
            <a:endParaRPr lang="en-US" sz="1300"/>
          </a:p>
        </p:txBody>
      </p:sp>
      <p:sp>
        <p:nvSpPr>
          <p:cNvPr id="20" name="Text 15"/>
          <p:cNvSpPr/>
          <p:nvPr/>
        </p:nvSpPr>
        <p:spPr>
          <a:xfrm>
            <a:off x="6812280" y="4846320"/>
            <a:ext cx="2103120" cy="411480"/>
          </a:xfrm>
          <a:prstGeom prst="rect">
            <a:avLst/>
          </a:prstGeom>
          <a:noFill/>
          <a:ln/>
        </p:spPr>
        <p:txBody>
          <a:bodyPr wrap="square" lIns="0" tIns="0" rIns="0" bIns="0" rtlCol="0" anchor="ctr"/>
          <a:lstStyle/>
          <a:p>
            <a:pPr marL="0" indent="0">
              <a:buNone/>
            </a:pPr>
            <a:r>
              <a:rPr lang="en-US" sz="950">
                <a:solidFill>
                  <a:srgbClr val="475569"/>
                </a:solidFill>
                <a:latin typeface="Calibri" pitchFamily="34" charset="0"/>
                <a:ea typeface="Calibri" pitchFamily="34" charset="-122"/>
                <a:cs typeface="Calibri" pitchFamily="34" charset="-120"/>
              </a:rPr>
              <a:t>Elasticsearch, Kibana, Logstash, Fleet, Agent</a:t>
            </a:r>
            <a:endParaRPr lang="en-US" sz="950"/>
          </a:p>
        </p:txBody>
      </p:sp>
      <p:sp>
        <p:nvSpPr>
          <p:cNvPr id="21" name="Shape 16"/>
          <p:cNvSpPr/>
          <p:nvPr/>
        </p:nvSpPr>
        <p:spPr>
          <a:xfrm>
            <a:off x="9326880" y="3474720"/>
            <a:ext cx="2560320" cy="1874520"/>
          </a:xfrm>
          <a:prstGeom prst="rect">
            <a:avLst/>
          </a:prstGeom>
          <a:solidFill>
            <a:srgbClr val="F7F9FC"/>
          </a:solidFill>
          <a:ln w="6350">
            <a:solidFill>
              <a:srgbClr val="E2E8F0"/>
            </a:solidFill>
            <a:prstDash val="solid"/>
          </a:ln>
          <a:effectLst>
            <a:outerShdw blurRad="101600" dist="38100" dir="5400000" algn="bl" rotWithShape="0">
              <a:srgbClr val="000000">
                <a:alpha val="12000"/>
              </a:srgbClr>
            </a:outerShdw>
          </a:effectLst>
        </p:spPr>
        <p:txBody>
          <a:bodyPr/>
          <a:lstStyle/>
          <a:p>
            <a:endParaRPr lang="en-US"/>
          </a:p>
        </p:txBody>
      </p:sp>
      <p:pic>
        <p:nvPicPr>
          <p:cNvPr id="22" name="Image 3" descr="preencoded.png"/>
          <p:cNvPicPr>
            <a:picLocks noChangeAspect="1"/>
          </p:cNvPicPr>
          <p:nvPr/>
        </p:nvPicPr>
        <p:blipFill>
          <a:blip r:embed="rId6"/>
          <a:stretch>
            <a:fillRect/>
          </a:stretch>
        </p:blipFill>
        <p:spPr>
          <a:xfrm>
            <a:off x="9555480" y="3675888"/>
            <a:ext cx="365760" cy="365760"/>
          </a:xfrm>
          <a:prstGeom prst="rect">
            <a:avLst/>
          </a:prstGeom>
        </p:spPr>
      </p:pic>
      <p:sp>
        <p:nvSpPr>
          <p:cNvPr id="23" name="Text 17"/>
          <p:cNvSpPr/>
          <p:nvPr/>
        </p:nvSpPr>
        <p:spPr>
          <a:xfrm>
            <a:off x="9555480" y="4023360"/>
            <a:ext cx="2103120" cy="640080"/>
          </a:xfrm>
          <a:prstGeom prst="rect">
            <a:avLst/>
          </a:prstGeom>
          <a:noFill/>
          <a:ln/>
        </p:spPr>
        <p:txBody>
          <a:bodyPr wrap="square" lIns="0" tIns="0" rIns="0" bIns="0" rtlCol="0" anchor="ctr"/>
          <a:lstStyle/>
          <a:p>
            <a:pPr marL="0" indent="0">
              <a:buNone/>
            </a:pPr>
            <a:r>
              <a:rPr lang="en-US" sz="4400" b="1">
                <a:solidFill>
                  <a:srgbClr val="F59E0B"/>
                </a:solidFill>
                <a:latin typeface="Calibri" pitchFamily="34" charset="0"/>
                <a:ea typeface="Calibri" pitchFamily="34" charset="-122"/>
                <a:cs typeface="Calibri" pitchFamily="34" charset="-120"/>
              </a:rPr>
              <a:t>1</a:t>
            </a:r>
            <a:endParaRPr lang="en-US" sz="4400"/>
          </a:p>
        </p:txBody>
      </p:sp>
      <p:sp>
        <p:nvSpPr>
          <p:cNvPr id="24" name="Text 18"/>
          <p:cNvSpPr/>
          <p:nvPr/>
        </p:nvSpPr>
        <p:spPr>
          <a:xfrm>
            <a:off x="9555480" y="4617720"/>
            <a:ext cx="2103120" cy="274320"/>
          </a:xfrm>
          <a:prstGeom prst="rect">
            <a:avLst/>
          </a:prstGeom>
          <a:noFill/>
          <a:ln/>
        </p:spPr>
        <p:txBody>
          <a:bodyPr wrap="square" lIns="0" tIns="0" rIns="0" bIns="0" rtlCol="0" anchor="ctr"/>
          <a:lstStyle/>
          <a:p>
            <a:pPr marL="0" indent="0">
              <a:buNone/>
            </a:pPr>
            <a:r>
              <a:rPr lang="en-US" sz="1300" b="1">
                <a:solidFill>
                  <a:srgbClr val="0F172A"/>
                </a:solidFill>
                <a:latin typeface="Calibri" pitchFamily="34" charset="0"/>
                <a:ea typeface="Calibri" pitchFamily="34" charset="-122"/>
                <a:cs typeface="Calibri" pitchFamily="34" charset="-120"/>
              </a:rPr>
              <a:t>Teams Webhook</a:t>
            </a:r>
            <a:endParaRPr lang="en-US" sz="1300"/>
          </a:p>
        </p:txBody>
      </p:sp>
      <p:sp>
        <p:nvSpPr>
          <p:cNvPr id="25" name="Text 19"/>
          <p:cNvSpPr/>
          <p:nvPr/>
        </p:nvSpPr>
        <p:spPr>
          <a:xfrm>
            <a:off x="9555480" y="4846320"/>
            <a:ext cx="2103120" cy="411480"/>
          </a:xfrm>
          <a:prstGeom prst="rect">
            <a:avLst/>
          </a:prstGeom>
          <a:noFill/>
          <a:ln/>
        </p:spPr>
        <p:txBody>
          <a:bodyPr wrap="square" lIns="0" tIns="0" rIns="0" bIns="0" rtlCol="0" anchor="ctr"/>
          <a:lstStyle/>
          <a:p>
            <a:pPr marL="0" indent="0">
              <a:buNone/>
            </a:pPr>
            <a:r>
              <a:rPr lang="en-US" sz="950">
                <a:solidFill>
                  <a:srgbClr val="475569"/>
                </a:solidFill>
                <a:latin typeface="Calibri" pitchFamily="34" charset="0"/>
                <a:ea typeface="Calibri" pitchFamily="34" charset="-122"/>
                <a:cs typeface="Calibri" pitchFamily="34" charset="-120"/>
              </a:rPr>
              <a:t>End-to-end automated alert delivery</a:t>
            </a:r>
            <a:endParaRPr lang="en-US" sz="950"/>
          </a:p>
        </p:txBody>
      </p:sp>
      <p:sp>
        <p:nvSpPr>
          <p:cNvPr id="26" name="Shape 20"/>
          <p:cNvSpPr/>
          <p:nvPr/>
        </p:nvSpPr>
        <p:spPr>
          <a:xfrm>
            <a:off x="640080" y="5623560"/>
            <a:ext cx="10911535" cy="685800"/>
          </a:xfrm>
          <a:prstGeom prst="rect">
            <a:avLst/>
          </a:prstGeom>
          <a:solidFill>
            <a:srgbClr val="0F1E38"/>
          </a:solidFill>
          <a:ln/>
        </p:spPr>
        <p:txBody>
          <a:bodyPr/>
          <a:lstStyle/>
          <a:p>
            <a:endParaRPr lang="en-US"/>
          </a:p>
        </p:txBody>
      </p:sp>
      <p:pic>
        <p:nvPicPr>
          <p:cNvPr id="27" name="Image 4" descr="preencoded.png"/>
          <p:cNvPicPr>
            <a:picLocks noChangeAspect="1"/>
          </p:cNvPicPr>
          <p:nvPr/>
        </p:nvPicPr>
        <p:blipFill>
          <a:blip r:embed="rId7"/>
          <a:stretch>
            <a:fillRect/>
          </a:stretch>
        </p:blipFill>
        <p:spPr>
          <a:xfrm>
            <a:off x="822960" y="5806440"/>
            <a:ext cx="320040" cy="320040"/>
          </a:xfrm>
          <a:prstGeom prst="rect">
            <a:avLst/>
          </a:prstGeom>
        </p:spPr>
      </p:pic>
      <p:sp>
        <p:nvSpPr>
          <p:cNvPr id="28" name="Text 21"/>
          <p:cNvSpPr/>
          <p:nvPr/>
        </p:nvSpPr>
        <p:spPr>
          <a:xfrm>
            <a:off x="1280160" y="5669280"/>
            <a:ext cx="1371600" cy="594360"/>
          </a:xfrm>
          <a:prstGeom prst="rect">
            <a:avLst/>
          </a:prstGeom>
          <a:noFill/>
          <a:ln/>
        </p:spPr>
        <p:txBody>
          <a:bodyPr wrap="square" lIns="0" tIns="0" rIns="0" bIns="0" rtlCol="0" anchor="ctr"/>
          <a:lstStyle/>
          <a:p>
            <a:pPr marL="0" indent="0">
              <a:buNone/>
            </a:pPr>
            <a:r>
              <a:rPr lang="en-US" sz="1000" b="1" kern="0" spc="300">
                <a:solidFill>
                  <a:srgbClr val="00D9FF"/>
                </a:solidFill>
                <a:latin typeface="Calibri" pitchFamily="34" charset="0"/>
                <a:ea typeface="Calibri" pitchFamily="34" charset="-122"/>
                <a:cs typeface="Calibri" pitchFamily="34" charset="-120"/>
              </a:rPr>
              <a:t>OBJECTIVE  </a:t>
            </a:r>
            <a:endParaRPr lang="en-US" sz="1000"/>
          </a:p>
        </p:txBody>
      </p:sp>
      <p:sp>
        <p:nvSpPr>
          <p:cNvPr id="29" name="Text 22"/>
          <p:cNvSpPr/>
          <p:nvPr/>
        </p:nvSpPr>
        <p:spPr>
          <a:xfrm>
            <a:off x="2377440" y="5669280"/>
            <a:ext cx="9174175" cy="594360"/>
          </a:xfrm>
          <a:prstGeom prst="rect">
            <a:avLst/>
          </a:prstGeom>
          <a:noFill/>
          <a:ln/>
        </p:spPr>
        <p:txBody>
          <a:bodyPr wrap="square" lIns="0" tIns="0" rIns="0" bIns="0" rtlCol="0" anchor="ctr"/>
          <a:lstStyle/>
          <a:p>
            <a:pPr marL="0" indent="0">
              <a:buNone/>
            </a:pPr>
            <a:r>
              <a:rPr lang="en-US" sz="1300" i="1">
                <a:solidFill>
                  <a:srgbClr val="FFFFFF"/>
                </a:solidFill>
                <a:latin typeface="Calibri" pitchFamily="34" charset="0"/>
                <a:ea typeface="Calibri" pitchFamily="34" charset="-122"/>
                <a:cs typeface="Calibri" pitchFamily="34" charset="-120"/>
              </a:rPr>
              <a:t>Deploy a SIEM that detects real attacks in real time and turns raw events into actionable analyst alerts</a:t>
            </a:r>
            <a:endParaRPr lang="en-US" sz="1300"/>
          </a:p>
        </p:txBody>
      </p:sp>
      <p:sp>
        <p:nvSpPr>
          <p:cNvPr id="30" name="Text 23"/>
          <p:cNvSpPr/>
          <p:nvPr/>
        </p:nvSpPr>
        <p:spPr>
          <a:xfrm>
            <a:off x="365760" y="6537960"/>
            <a:ext cx="4572000" cy="228600"/>
          </a:xfrm>
          <a:prstGeom prst="rect">
            <a:avLst/>
          </a:prstGeom>
          <a:noFill/>
          <a:ln/>
        </p:spPr>
        <p:txBody>
          <a:bodyPr wrap="square" lIns="0" tIns="0" rIns="0" bIns="0" rtlCol="0" anchor="ctr"/>
          <a:lstStyle/>
          <a:p>
            <a:pPr marL="0" indent="0" algn="l">
              <a:buNone/>
            </a:pPr>
            <a:r>
              <a:rPr lang="en-US" sz="900">
                <a:solidFill>
                  <a:srgbClr val="94A3B8"/>
                </a:solidFill>
                <a:latin typeface="Calibri" pitchFamily="34" charset="0"/>
                <a:ea typeface="Calibri" pitchFamily="34" charset="-122"/>
                <a:cs typeface="Calibri" pitchFamily="34" charset="-120"/>
              </a:rPr>
              <a:t>Incident Handling Lab  |  Elastic SIEM</a:t>
            </a:r>
            <a:endParaRPr lang="en-US" sz="900"/>
          </a:p>
        </p:txBody>
      </p:sp>
      <p:sp>
        <p:nvSpPr>
          <p:cNvPr id="31" name="Text 24"/>
          <p:cNvSpPr/>
          <p:nvPr/>
        </p:nvSpPr>
        <p:spPr>
          <a:xfrm>
            <a:off x="11094415" y="6537960"/>
            <a:ext cx="914400" cy="228600"/>
          </a:xfrm>
          <a:prstGeom prst="rect">
            <a:avLst/>
          </a:prstGeom>
          <a:noFill/>
          <a:ln/>
        </p:spPr>
        <p:txBody>
          <a:bodyPr wrap="square" lIns="0" tIns="0" rIns="0" bIns="0" rtlCol="0" anchor="ctr"/>
          <a:lstStyle/>
          <a:p>
            <a:pPr marL="0" indent="0" algn="r">
              <a:buNone/>
            </a:pPr>
            <a:r>
              <a:rPr lang="en-US" sz="900">
                <a:solidFill>
                  <a:srgbClr val="94A3B8"/>
                </a:solidFill>
                <a:latin typeface="Calibri" pitchFamily="34" charset="0"/>
                <a:ea typeface="Calibri" pitchFamily="34" charset="-122"/>
                <a:cs typeface="Calibri" pitchFamily="34" charset="-120"/>
              </a:rPr>
              <a:t>3 / 29</a:t>
            </a:r>
            <a:endParaRPr lang="en-US" sz="9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65760" y="457200"/>
            <a:ext cx="109728" cy="731520"/>
          </a:xfrm>
          <a:prstGeom prst="rect">
            <a:avLst/>
          </a:prstGeom>
          <a:solidFill>
            <a:srgbClr val="00D9FF"/>
          </a:solidFill>
          <a:ln/>
        </p:spPr>
        <p:txBody>
          <a:bodyPr/>
          <a:lstStyle/>
          <a:p>
            <a:endParaRPr lang="en-US"/>
          </a:p>
        </p:txBody>
      </p:sp>
      <p:sp>
        <p:nvSpPr>
          <p:cNvPr id="3" name="Text 1"/>
          <p:cNvSpPr/>
          <p:nvPr/>
        </p:nvSpPr>
        <p:spPr>
          <a:xfrm>
            <a:off x="640080" y="411480"/>
            <a:ext cx="10515600" cy="502920"/>
          </a:xfrm>
          <a:prstGeom prst="rect">
            <a:avLst/>
          </a:prstGeom>
          <a:noFill/>
          <a:ln/>
        </p:spPr>
        <p:txBody>
          <a:bodyPr wrap="square" lIns="0" tIns="0" rIns="0" bIns="0" rtlCol="0" anchor="t"/>
          <a:lstStyle/>
          <a:p>
            <a:pPr marL="0" indent="0">
              <a:buNone/>
            </a:pPr>
            <a:r>
              <a:rPr lang="en-US" sz="2800" b="1">
                <a:solidFill>
                  <a:srgbClr val="0F172A"/>
                </a:solidFill>
                <a:latin typeface="Calibri" pitchFamily="34" charset="0"/>
                <a:ea typeface="Calibri" pitchFamily="34" charset="-122"/>
                <a:cs typeface="Calibri" pitchFamily="34" charset="-120"/>
              </a:rPr>
              <a:t>Why SIEM Matters in Incident Response</a:t>
            </a:r>
            <a:endParaRPr lang="en-US" sz="2800"/>
          </a:p>
        </p:txBody>
      </p:sp>
      <p:sp>
        <p:nvSpPr>
          <p:cNvPr id="4" name="Text 2"/>
          <p:cNvSpPr/>
          <p:nvPr/>
        </p:nvSpPr>
        <p:spPr>
          <a:xfrm>
            <a:off x="640080" y="868680"/>
            <a:ext cx="10515600" cy="320040"/>
          </a:xfrm>
          <a:prstGeom prst="rect">
            <a:avLst/>
          </a:prstGeom>
          <a:noFill/>
          <a:ln/>
        </p:spPr>
        <p:txBody>
          <a:bodyPr wrap="square" lIns="0" tIns="0" rIns="0" bIns="0" rtlCol="0" anchor="t"/>
          <a:lstStyle/>
          <a:p>
            <a:pPr marL="0" indent="0">
              <a:buNone/>
            </a:pPr>
            <a:r>
              <a:rPr lang="en-US" sz="1300" i="1">
                <a:solidFill>
                  <a:srgbClr val="475569"/>
                </a:solidFill>
                <a:latin typeface="Calibri" pitchFamily="34" charset="0"/>
                <a:ea typeface="Calibri" pitchFamily="34" charset="-122"/>
                <a:cs typeface="Calibri" pitchFamily="34" charset="-120"/>
              </a:rPr>
              <a:t>Log data is the evidence — a SIEM makes it searchable</a:t>
            </a:r>
            <a:endParaRPr lang="en-US" sz="1300"/>
          </a:p>
        </p:txBody>
      </p:sp>
      <p:sp>
        <p:nvSpPr>
          <p:cNvPr id="5" name="Shape 3"/>
          <p:cNvSpPr/>
          <p:nvPr/>
        </p:nvSpPr>
        <p:spPr>
          <a:xfrm>
            <a:off x="640080" y="1371600"/>
            <a:ext cx="10911535" cy="1371600"/>
          </a:xfrm>
          <a:prstGeom prst="rect">
            <a:avLst/>
          </a:prstGeom>
          <a:solidFill>
            <a:srgbClr val="0F1E38"/>
          </a:solidFill>
          <a:ln/>
        </p:spPr>
        <p:txBody>
          <a:bodyPr/>
          <a:lstStyle/>
          <a:p>
            <a:endParaRPr lang="en-US"/>
          </a:p>
        </p:txBody>
      </p:sp>
      <p:sp>
        <p:nvSpPr>
          <p:cNvPr id="6" name="Shape 4"/>
          <p:cNvSpPr/>
          <p:nvPr/>
        </p:nvSpPr>
        <p:spPr>
          <a:xfrm>
            <a:off x="640080" y="1371600"/>
            <a:ext cx="109728" cy="1371600"/>
          </a:xfrm>
          <a:prstGeom prst="rect">
            <a:avLst/>
          </a:prstGeom>
          <a:solidFill>
            <a:srgbClr val="00D9FF"/>
          </a:solidFill>
          <a:ln/>
        </p:spPr>
        <p:txBody>
          <a:bodyPr/>
          <a:lstStyle/>
          <a:p>
            <a:endParaRPr lang="en-US"/>
          </a:p>
        </p:txBody>
      </p:sp>
      <p:sp>
        <p:nvSpPr>
          <p:cNvPr id="7" name="Text 5"/>
          <p:cNvSpPr/>
          <p:nvPr/>
        </p:nvSpPr>
        <p:spPr>
          <a:xfrm>
            <a:off x="1005840" y="1508760"/>
            <a:ext cx="10454335" cy="457200"/>
          </a:xfrm>
          <a:prstGeom prst="rect">
            <a:avLst/>
          </a:prstGeom>
          <a:noFill/>
          <a:ln/>
        </p:spPr>
        <p:txBody>
          <a:bodyPr wrap="square" lIns="0" tIns="0" rIns="0" bIns="0" rtlCol="0" anchor="ctr"/>
          <a:lstStyle/>
          <a:p>
            <a:pPr marL="0" indent="0">
              <a:buNone/>
            </a:pPr>
            <a:r>
              <a:rPr lang="en-US" sz="1800" i="1">
                <a:solidFill>
                  <a:srgbClr val="FFFFFF"/>
                </a:solidFill>
                <a:latin typeface="Calibri" pitchFamily="34" charset="0"/>
                <a:ea typeface="Calibri" pitchFamily="34" charset="-122"/>
                <a:cs typeface="Calibri" pitchFamily="34" charset="-120"/>
              </a:rPr>
              <a:t>"Without log data, an investigation has no evidence.</a:t>
            </a:r>
            <a:endParaRPr lang="en-US" sz="1800"/>
          </a:p>
        </p:txBody>
      </p:sp>
      <p:sp>
        <p:nvSpPr>
          <p:cNvPr id="8" name="Text 6"/>
          <p:cNvSpPr/>
          <p:nvPr/>
        </p:nvSpPr>
        <p:spPr>
          <a:xfrm>
            <a:off x="1005840" y="1965960"/>
            <a:ext cx="10454335" cy="411480"/>
          </a:xfrm>
          <a:prstGeom prst="rect">
            <a:avLst/>
          </a:prstGeom>
          <a:noFill/>
          <a:ln/>
        </p:spPr>
        <p:txBody>
          <a:bodyPr wrap="square" lIns="0" tIns="0" rIns="0" bIns="0" rtlCol="0" anchor="ctr"/>
          <a:lstStyle/>
          <a:p>
            <a:pPr marL="0" indent="0">
              <a:buNone/>
            </a:pPr>
            <a:r>
              <a:rPr lang="en-US" sz="1800" i="1">
                <a:solidFill>
                  <a:srgbClr val="FFFFFF"/>
                </a:solidFill>
                <a:latin typeface="Calibri" pitchFamily="34" charset="0"/>
                <a:ea typeface="Calibri" pitchFamily="34" charset="-122"/>
                <a:cs typeface="Calibri" pitchFamily="34" charset="-120"/>
              </a:rPr>
              <a:t>With it, an analyst can reconstruct exactly what an attacker did, when, and how."</a:t>
            </a:r>
            <a:endParaRPr lang="en-US" sz="1800"/>
          </a:p>
        </p:txBody>
      </p:sp>
      <p:sp>
        <p:nvSpPr>
          <p:cNvPr id="9" name="Text 7"/>
          <p:cNvSpPr/>
          <p:nvPr/>
        </p:nvSpPr>
        <p:spPr>
          <a:xfrm>
            <a:off x="1005840" y="2423160"/>
            <a:ext cx="10454335" cy="274320"/>
          </a:xfrm>
          <a:prstGeom prst="rect">
            <a:avLst/>
          </a:prstGeom>
          <a:noFill/>
          <a:ln/>
        </p:spPr>
        <p:txBody>
          <a:bodyPr wrap="square" lIns="0" tIns="0" rIns="0" bIns="0" rtlCol="0" anchor="ctr"/>
          <a:lstStyle/>
          <a:p>
            <a:pPr marL="0" indent="0">
              <a:buNone/>
            </a:pPr>
            <a:r>
              <a:rPr lang="en-US" sz="1100" kern="0" spc="200">
                <a:solidFill>
                  <a:srgbClr val="00D9FF"/>
                </a:solidFill>
                <a:latin typeface="Calibri" pitchFamily="34" charset="0"/>
                <a:ea typeface="Calibri" pitchFamily="34" charset="-122"/>
                <a:cs typeface="Calibri" pitchFamily="34" charset="-120"/>
              </a:rPr>
              <a:t>The SIEM value proposition</a:t>
            </a:r>
            <a:endParaRPr lang="en-US" sz="1100"/>
          </a:p>
        </p:txBody>
      </p:sp>
      <p:sp>
        <p:nvSpPr>
          <p:cNvPr id="10" name="Shape 8"/>
          <p:cNvSpPr/>
          <p:nvPr/>
        </p:nvSpPr>
        <p:spPr>
          <a:xfrm>
            <a:off x="640080" y="3063240"/>
            <a:ext cx="3749040" cy="2743200"/>
          </a:xfrm>
          <a:prstGeom prst="rect">
            <a:avLst/>
          </a:prstGeom>
          <a:solidFill>
            <a:srgbClr val="FFFFFF"/>
          </a:solidFill>
          <a:ln w="12700">
            <a:solidFill>
              <a:srgbClr val="E2E8F0"/>
            </a:solidFill>
            <a:prstDash val="solid"/>
          </a:ln>
          <a:effectLst>
            <a:outerShdw blurRad="101600" dist="38100" dir="5400000" algn="bl" rotWithShape="0">
              <a:srgbClr val="000000">
                <a:alpha val="12000"/>
              </a:srgbClr>
            </a:outerShdw>
          </a:effectLst>
        </p:spPr>
        <p:txBody>
          <a:bodyPr/>
          <a:lstStyle/>
          <a:p>
            <a:endParaRPr lang="en-US"/>
          </a:p>
        </p:txBody>
      </p:sp>
      <p:sp>
        <p:nvSpPr>
          <p:cNvPr id="11" name="Shape 9"/>
          <p:cNvSpPr/>
          <p:nvPr/>
        </p:nvSpPr>
        <p:spPr>
          <a:xfrm>
            <a:off x="914400" y="3337560"/>
            <a:ext cx="640080" cy="640080"/>
          </a:xfrm>
          <a:prstGeom prst="ellipse">
            <a:avLst/>
          </a:prstGeom>
          <a:solidFill>
            <a:srgbClr val="162B48"/>
          </a:solidFill>
          <a:ln/>
        </p:spPr>
        <p:txBody>
          <a:bodyPr/>
          <a:lstStyle/>
          <a:p>
            <a:endParaRPr lang="en-US"/>
          </a:p>
        </p:txBody>
      </p:sp>
      <p:pic>
        <p:nvPicPr>
          <p:cNvPr id="12" name="Image 0" descr="preencoded.png"/>
          <p:cNvPicPr>
            <a:picLocks noChangeAspect="1"/>
          </p:cNvPicPr>
          <p:nvPr/>
        </p:nvPicPr>
        <p:blipFill>
          <a:blip r:embed="rId3"/>
          <a:stretch>
            <a:fillRect/>
          </a:stretch>
        </p:blipFill>
        <p:spPr>
          <a:xfrm>
            <a:off x="1051560" y="3474720"/>
            <a:ext cx="365760" cy="365760"/>
          </a:xfrm>
          <a:prstGeom prst="rect">
            <a:avLst/>
          </a:prstGeom>
        </p:spPr>
      </p:pic>
      <p:sp>
        <p:nvSpPr>
          <p:cNvPr id="13" name="Text 10"/>
          <p:cNvSpPr/>
          <p:nvPr/>
        </p:nvSpPr>
        <p:spPr>
          <a:xfrm>
            <a:off x="1645920" y="3383280"/>
            <a:ext cx="2560320" cy="411480"/>
          </a:xfrm>
          <a:prstGeom prst="rect">
            <a:avLst/>
          </a:prstGeom>
          <a:noFill/>
          <a:ln/>
        </p:spPr>
        <p:txBody>
          <a:bodyPr wrap="square" lIns="0" tIns="0" rIns="0" bIns="0" rtlCol="0" anchor="ctr"/>
          <a:lstStyle/>
          <a:p>
            <a:pPr marL="0" indent="0">
              <a:buNone/>
            </a:pPr>
            <a:r>
              <a:rPr lang="en-US" sz="2000" b="1">
                <a:solidFill>
                  <a:srgbClr val="0F172A"/>
                </a:solidFill>
                <a:latin typeface="Calibri" pitchFamily="34" charset="0"/>
                <a:ea typeface="Calibri" pitchFamily="34" charset="-122"/>
                <a:cs typeface="Calibri" pitchFamily="34" charset="-120"/>
              </a:rPr>
              <a:t>Volume</a:t>
            </a:r>
            <a:endParaRPr lang="en-US" sz="2000"/>
          </a:p>
        </p:txBody>
      </p:sp>
      <p:sp>
        <p:nvSpPr>
          <p:cNvPr id="14" name="Text 11"/>
          <p:cNvSpPr/>
          <p:nvPr/>
        </p:nvSpPr>
        <p:spPr>
          <a:xfrm>
            <a:off x="914400" y="4160520"/>
            <a:ext cx="3200400" cy="228600"/>
          </a:xfrm>
          <a:prstGeom prst="rect">
            <a:avLst/>
          </a:prstGeom>
          <a:noFill/>
          <a:ln/>
        </p:spPr>
        <p:txBody>
          <a:bodyPr wrap="square" lIns="0" tIns="0" rIns="0" bIns="0" rtlCol="0" anchor="ctr"/>
          <a:lstStyle/>
          <a:p>
            <a:pPr marL="0" indent="0">
              <a:buNone/>
            </a:pPr>
            <a:r>
              <a:rPr lang="en-US" sz="900" b="1" kern="0" spc="200">
                <a:solidFill>
                  <a:srgbClr val="EF4444"/>
                </a:solidFill>
                <a:latin typeface="Calibri" pitchFamily="34" charset="0"/>
                <a:ea typeface="Calibri" pitchFamily="34" charset="-122"/>
                <a:cs typeface="Calibri" pitchFamily="34" charset="-120"/>
              </a:rPr>
              <a:t>PROBLEM</a:t>
            </a:r>
            <a:endParaRPr lang="en-US" sz="900"/>
          </a:p>
        </p:txBody>
      </p:sp>
      <p:sp>
        <p:nvSpPr>
          <p:cNvPr id="15" name="Text 12"/>
          <p:cNvSpPr/>
          <p:nvPr/>
        </p:nvSpPr>
        <p:spPr>
          <a:xfrm>
            <a:off x="914400" y="4389120"/>
            <a:ext cx="3200400" cy="640080"/>
          </a:xfrm>
          <a:prstGeom prst="rect">
            <a:avLst/>
          </a:prstGeom>
          <a:noFill/>
          <a:ln/>
        </p:spPr>
        <p:txBody>
          <a:bodyPr wrap="square" lIns="0" tIns="0" rIns="0" bIns="0" rtlCol="0" anchor="t"/>
          <a:lstStyle/>
          <a:p>
            <a:pPr marL="0" indent="0">
              <a:buNone/>
            </a:pPr>
            <a:r>
              <a:rPr lang="en-US" sz="1100">
                <a:solidFill>
                  <a:srgbClr val="475569"/>
                </a:solidFill>
                <a:latin typeface="Calibri" pitchFamily="34" charset="0"/>
                <a:ea typeface="Calibri" pitchFamily="34" charset="-122"/>
                <a:cs typeface="Calibri" pitchFamily="34" charset="-120"/>
              </a:rPr>
              <a:t>A single Windows server produces tens of thousands of events per hour.</a:t>
            </a:r>
            <a:endParaRPr lang="en-US" sz="1100"/>
          </a:p>
        </p:txBody>
      </p:sp>
      <p:sp>
        <p:nvSpPr>
          <p:cNvPr id="16" name="Text 13"/>
          <p:cNvSpPr/>
          <p:nvPr/>
        </p:nvSpPr>
        <p:spPr>
          <a:xfrm>
            <a:off x="914400" y="5029200"/>
            <a:ext cx="3200400" cy="228600"/>
          </a:xfrm>
          <a:prstGeom prst="rect">
            <a:avLst/>
          </a:prstGeom>
          <a:noFill/>
          <a:ln/>
        </p:spPr>
        <p:txBody>
          <a:bodyPr wrap="square" lIns="0" tIns="0" rIns="0" bIns="0" rtlCol="0" anchor="ctr"/>
          <a:lstStyle/>
          <a:p>
            <a:pPr marL="0" indent="0">
              <a:buNone/>
            </a:pPr>
            <a:r>
              <a:rPr lang="en-US" sz="900" b="1" kern="0" spc="200">
                <a:solidFill>
                  <a:srgbClr val="10B981"/>
                </a:solidFill>
                <a:latin typeface="Calibri" pitchFamily="34" charset="0"/>
                <a:ea typeface="Calibri" pitchFamily="34" charset="-122"/>
                <a:cs typeface="Calibri" pitchFamily="34" charset="-120"/>
              </a:rPr>
              <a:t>SIEM ANSWER</a:t>
            </a:r>
            <a:endParaRPr lang="en-US" sz="900"/>
          </a:p>
        </p:txBody>
      </p:sp>
      <p:sp>
        <p:nvSpPr>
          <p:cNvPr id="17" name="Text 14"/>
          <p:cNvSpPr/>
          <p:nvPr/>
        </p:nvSpPr>
        <p:spPr>
          <a:xfrm>
            <a:off x="914400" y="5257800"/>
            <a:ext cx="3200400" cy="502920"/>
          </a:xfrm>
          <a:prstGeom prst="rect">
            <a:avLst/>
          </a:prstGeom>
          <a:noFill/>
          <a:ln/>
        </p:spPr>
        <p:txBody>
          <a:bodyPr wrap="square" lIns="0" tIns="0" rIns="0" bIns="0" rtlCol="0" anchor="t"/>
          <a:lstStyle/>
          <a:p>
            <a:pPr marL="0" indent="0">
              <a:buNone/>
            </a:pPr>
            <a:r>
              <a:rPr lang="en-US" sz="1100">
                <a:solidFill>
                  <a:srgbClr val="0F172A"/>
                </a:solidFill>
                <a:latin typeface="Calibri" pitchFamily="34" charset="0"/>
                <a:ea typeface="Calibri" pitchFamily="34" charset="-122"/>
                <a:cs typeface="Calibri" pitchFamily="34" charset="-120"/>
              </a:rPr>
              <a:t>Elasticsearch indexes everything and returns results in milliseconds.</a:t>
            </a:r>
            <a:endParaRPr lang="en-US" sz="1100"/>
          </a:p>
        </p:txBody>
      </p:sp>
      <p:sp>
        <p:nvSpPr>
          <p:cNvPr id="18" name="Shape 15"/>
          <p:cNvSpPr/>
          <p:nvPr/>
        </p:nvSpPr>
        <p:spPr>
          <a:xfrm>
            <a:off x="4617720" y="3063240"/>
            <a:ext cx="3749040" cy="2743200"/>
          </a:xfrm>
          <a:prstGeom prst="rect">
            <a:avLst/>
          </a:prstGeom>
          <a:solidFill>
            <a:srgbClr val="FFFFFF"/>
          </a:solidFill>
          <a:ln w="12700">
            <a:solidFill>
              <a:srgbClr val="E2E8F0"/>
            </a:solidFill>
            <a:prstDash val="solid"/>
          </a:ln>
          <a:effectLst>
            <a:outerShdw blurRad="101600" dist="38100" dir="5400000" algn="bl" rotWithShape="0">
              <a:srgbClr val="000000">
                <a:alpha val="12000"/>
              </a:srgbClr>
            </a:outerShdw>
          </a:effectLst>
        </p:spPr>
        <p:txBody>
          <a:bodyPr/>
          <a:lstStyle/>
          <a:p>
            <a:endParaRPr lang="en-US"/>
          </a:p>
        </p:txBody>
      </p:sp>
      <p:sp>
        <p:nvSpPr>
          <p:cNvPr id="19" name="Shape 16"/>
          <p:cNvSpPr/>
          <p:nvPr/>
        </p:nvSpPr>
        <p:spPr>
          <a:xfrm>
            <a:off x="4892040" y="3337560"/>
            <a:ext cx="640080" cy="640080"/>
          </a:xfrm>
          <a:prstGeom prst="ellipse">
            <a:avLst/>
          </a:prstGeom>
          <a:solidFill>
            <a:srgbClr val="162B48"/>
          </a:solidFill>
          <a:ln/>
        </p:spPr>
        <p:txBody>
          <a:bodyPr/>
          <a:lstStyle/>
          <a:p>
            <a:endParaRPr lang="en-US"/>
          </a:p>
        </p:txBody>
      </p:sp>
      <p:pic>
        <p:nvPicPr>
          <p:cNvPr id="20" name="Image 1" descr="preencoded.png"/>
          <p:cNvPicPr>
            <a:picLocks noChangeAspect="1"/>
          </p:cNvPicPr>
          <p:nvPr/>
        </p:nvPicPr>
        <p:blipFill>
          <a:blip r:embed="rId4"/>
          <a:stretch>
            <a:fillRect/>
          </a:stretch>
        </p:blipFill>
        <p:spPr>
          <a:xfrm>
            <a:off x="5029200" y="3474720"/>
            <a:ext cx="365760" cy="365760"/>
          </a:xfrm>
          <a:prstGeom prst="rect">
            <a:avLst/>
          </a:prstGeom>
        </p:spPr>
      </p:pic>
      <p:sp>
        <p:nvSpPr>
          <p:cNvPr id="21" name="Text 17"/>
          <p:cNvSpPr/>
          <p:nvPr/>
        </p:nvSpPr>
        <p:spPr>
          <a:xfrm>
            <a:off x="5623560" y="3383280"/>
            <a:ext cx="2560320" cy="411480"/>
          </a:xfrm>
          <a:prstGeom prst="rect">
            <a:avLst/>
          </a:prstGeom>
          <a:noFill/>
          <a:ln/>
        </p:spPr>
        <p:txBody>
          <a:bodyPr wrap="square" lIns="0" tIns="0" rIns="0" bIns="0" rtlCol="0" anchor="ctr"/>
          <a:lstStyle/>
          <a:p>
            <a:pPr marL="0" indent="0">
              <a:buNone/>
            </a:pPr>
            <a:r>
              <a:rPr lang="en-US" sz="2000" b="1">
                <a:solidFill>
                  <a:srgbClr val="0F172A"/>
                </a:solidFill>
                <a:latin typeface="Calibri" pitchFamily="34" charset="0"/>
                <a:ea typeface="Calibri" pitchFamily="34" charset="-122"/>
                <a:cs typeface="Calibri" pitchFamily="34" charset="-120"/>
              </a:rPr>
              <a:t>Visibility</a:t>
            </a:r>
            <a:endParaRPr lang="en-US" sz="2000"/>
          </a:p>
        </p:txBody>
      </p:sp>
      <p:sp>
        <p:nvSpPr>
          <p:cNvPr id="22" name="Text 18"/>
          <p:cNvSpPr/>
          <p:nvPr/>
        </p:nvSpPr>
        <p:spPr>
          <a:xfrm>
            <a:off x="4892040" y="4160520"/>
            <a:ext cx="3200400" cy="228600"/>
          </a:xfrm>
          <a:prstGeom prst="rect">
            <a:avLst/>
          </a:prstGeom>
          <a:noFill/>
          <a:ln/>
        </p:spPr>
        <p:txBody>
          <a:bodyPr wrap="square" lIns="0" tIns="0" rIns="0" bIns="0" rtlCol="0" anchor="ctr"/>
          <a:lstStyle/>
          <a:p>
            <a:pPr marL="0" indent="0">
              <a:buNone/>
            </a:pPr>
            <a:r>
              <a:rPr lang="en-US" sz="900" b="1" kern="0" spc="200">
                <a:solidFill>
                  <a:srgbClr val="EF4444"/>
                </a:solidFill>
                <a:latin typeface="Calibri" pitchFamily="34" charset="0"/>
                <a:ea typeface="Calibri" pitchFamily="34" charset="-122"/>
                <a:cs typeface="Calibri" pitchFamily="34" charset="-120"/>
              </a:rPr>
              <a:t>PROBLEM</a:t>
            </a:r>
            <a:endParaRPr lang="en-US" sz="900"/>
          </a:p>
        </p:txBody>
      </p:sp>
      <p:sp>
        <p:nvSpPr>
          <p:cNvPr id="23" name="Text 19"/>
          <p:cNvSpPr/>
          <p:nvPr/>
        </p:nvSpPr>
        <p:spPr>
          <a:xfrm>
            <a:off x="4892040" y="4389120"/>
            <a:ext cx="3200400" cy="640080"/>
          </a:xfrm>
          <a:prstGeom prst="rect">
            <a:avLst/>
          </a:prstGeom>
          <a:noFill/>
          <a:ln/>
        </p:spPr>
        <p:txBody>
          <a:bodyPr wrap="square" lIns="0" tIns="0" rIns="0" bIns="0" rtlCol="0" anchor="t"/>
          <a:lstStyle/>
          <a:p>
            <a:pPr marL="0" indent="0">
              <a:buNone/>
            </a:pPr>
            <a:r>
              <a:rPr lang="en-US" sz="1100">
                <a:solidFill>
                  <a:srgbClr val="475569"/>
                </a:solidFill>
                <a:latin typeface="Calibri" pitchFamily="34" charset="0"/>
                <a:ea typeface="Calibri" pitchFamily="34" charset="-122"/>
                <a:cs typeface="Calibri" pitchFamily="34" charset="-120"/>
              </a:rPr>
              <a:t>Log data scattered across hundreds of machines is impossible to review.</a:t>
            </a:r>
            <a:endParaRPr lang="en-US" sz="1100"/>
          </a:p>
        </p:txBody>
      </p:sp>
      <p:sp>
        <p:nvSpPr>
          <p:cNvPr id="24" name="Text 20"/>
          <p:cNvSpPr/>
          <p:nvPr/>
        </p:nvSpPr>
        <p:spPr>
          <a:xfrm>
            <a:off x="4892040" y="5029200"/>
            <a:ext cx="3200400" cy="228600"/>
          </a:xfrm>
          <a:prstGeom prst="rect">
            <a:avLst/>
          </a:prstGeom>
          <a:noFill/>
          <a:ln/>
        </p:spPr>
        <p:txBody>
          <a:bodyPr wrap="square" lIns="0" tIns="0" rIns="0" bIns="0" rtlCol="0" anchor="ctr"/>
          <a:lstStyle/>
          <a:p>
            <a:pPr marL="0" indent="0">
              <a:buNone/>
            </a:pPr>
            <a:r>
              <a:rPr lang="en-US" sz="900" b="1" kern="0" spc="200">
                <a:solidFill>
                  <a:srgbClr val="10B981"/>
                </a:solidFill>
                <a:latin typeface="Calibri" pitchFamily="34" charset="0"/>
                <a:ea typeface="Calibri" pitchFamily="34" charset="-122"/>
                <a:cs typeface="Calibri" pitchFamily="34" charset="-120"/>
              </a:rPr>
              <a:t>SIEM ANSWER</a:t>
            </a:r>
            <a:endParaRPr lang="en-US" sz="900"/>
          </a:p>
        </p:txBody>
      </p:sp>
      <p:sp>
        <p:nvSpPr>
          <p:cNvPr id="25" name="Text 21"/>
          <p:cNvSpPr/>
          <p:nvPr/>
        </p:nvSpPr>
        <p:spPr>
          <a:xfrm>
            <a:off x="4892040" y="5257800"/>
            <a:ext cx="3200400" cy="502920"/>
          </a:xfrm>
          <a:prstGeom prst="rect">
            <a:avLst/>
          </a:prstGeom>
          <a:noFill/>
          <a:ln/>
        </p:spPr>
        <p:txBody>
          <a:bodyPr wrap="square" lIns="0" tIns="0" rIns="0" bIns="0" rtlCol="0" anchor="t"/>
          <a:lstStyle/>
          <a:p>
            <a:pPr marL="0" indent="0">
              <a:buNone/>
            </a:pPr>
            <a:r>
              <a:rPr lang="en-US" sz="1100">
                <a:solidFill>
                  <a:srgbClr val="0F172A"/>
                </a:solidFill>
                <a:latin typeface="Calibri" pitchFamily="34" charset="0"/>
                <a:ea typeface="Calibri" pitchFamily="34" charset="-122"/>
                <a:cs typeface="Calibri" pitchFamily="34" charset="-120"/>
              </a:rPr>
              <a:t>Fleet-managed agents centralize telemetry from every host.</a:t>
            </a:r>
            <a:endParaRPr lang="en-US" sz="1100"/>
          </a:p>
        </p:txBody>
      </p:sp>
      <p:sp>
        <p:nvSpPr>
          <p:cNvPr id="26" name="Shape 22"/>
          <p:cNvSpPr/>
          <p:nvPr/>
        </p:nvSpPr>
        <p:spPr>
          <a:xfrm>
            <a:off x="8595360" y="3063240"/>
            <a:ext cx="3749040" cy="2743200"/>
          </a:xfrm>
          <a:prstGeom prst="rect">
            <a:avLst/>
          </a:prstGeom>
          <a:solidFill>
            <a:srgbClr val="FFFFFF"/>
          </a:solidFill>
          <a:ln w="12700">
            <a:solidFill>
              <a:srgbClr val="E2E8F0"/>
            </a:solidFill>
            <a:prstDash val="solid"/>
          </a:ln>
          <a:effectLst>
            <a:outerShdw blurRad="101600" dist="38100" dir="5400000" algn="bl" rotWithShape="0">
              <a:srgbClr val="000000">
                <a:alpha val="12000"/>
              </a:srgbClr>
            </a:outerShdw>
          </a:effectLst>
        </p:spPr>
        <p:txBody>
          <a:bodyPr/>
          <a:lstStyle/>
          <a:p>
            <a:endParaRPr lang="en-US"/>
          </a:p>
        </p:txBody>
      </p:sp>
      <p:sp>
        <p:nvSpPr>
          <p:cNvPr id="27" name="Shape 23"/>
          <p:cNvSpPr/>
          <p:nvPr/>
        </p:nvSpPr>
        <p:spPr>
          <a:xfrm>
            <a:off x="8869680" y="3337560"/>
            <a:ext cx="640080" cy="640080"/>
          </a:xfrm>
          <a:prstGeom prst="ellipse">
            <a:avLst/>
          </a:prstGeom>
          <a:solidFill>
            <a:srgbClr val="162B48"/>
          </a:solidFill>
          <a:ln/>
        </p:spPr>
        <p:txBody>
          <a:bodyPr/>
          <a:lstStyle/>
          <a:p>
            <a:endParaRPr lang="en-US"/>
          </a:p>
        </p:txBody>
      </p:sp>
      <p:pic>
        <p:nvPicPr>
          <p:cNvPr id="28" name="Image 2" descr="preencoded.png"/>
          <p:cNvPicPr>
            <a:picLocks noChangeAspect="1"/>
          </p:cNvPicPr>
          <p:nvPr/>
        </p:nvPicPr>
        <p:blipFill>
          <a:blip r:embed="rId5"/>
          <a:stretch>
            <a:fillRect/>
          </a:stretch>
        </p:blipFill>
        <p:spPr>
          <a:xfrm>
            <a:off x="9006840" y="3474720"/>
            <a:ext cx="365760" cy="365760"/>
          </a:xfrm>
          <a:prstGeom prst="rect">
            <a:avLst/>
          </a:prstGeom>
        </p:spPr>
      </p:pic>
      <p:sp>
        <p:nvSpPr>
          <p:cNvPr id="29" name="Text 24"/>
          <p:cNvSpPr/>
          <p:nvPr/>
        </p:nvSpPr>
        <p:spPr>
          <a:xfrm>
            <a:off x="9601200" y="3383280"/>
            <a:ext cx="2560320" cy="411480"/>
          </a:xfrm>
          <a:prstGeom prst="rect">
            <a:avLst/>
          </a:prstGeom>
          <a:noFill/>
          <a:ln/>
        </p:spPr>
        <p:txBody>
          <a:bodyPr wrap="square" lIns="0" tIns="0" rIns="0" bIns="0" rtlCol="0" anchor="ctr"/>
          <a:lstStyle/>
          <a:p>
            <a:pPr marL="0" indent="0">
              <a:buNone/>
            </a:pPr>
            <a:r>
              <a:rPr lang="en-US" sz="2000" b="1">
                <a:solidFill>
                  <a:srgbClr val="0F172A"/>
                </a:solidFill>
                <a:latin typeface="Calibri" pitchFamily="34" charset="0"/>
                <a:ea typeface="Calibri" pitchFamily="34" charset="-122"/>
                <a:cs typeface="Calibri" pitchFamily="34" charset="-120"/>
              </a:rPr>
              <a:t>Speed</a:t>
            </a:r>
            <a:endParaRPr lang="en-US" sz="2000"/>
          </a:p>
        </p:txBody>
      </p:sp>
      <p:sp>
        <p:nvSpPr>
          <p:cNvPr id="30" name="Text 25"/>
          <p:cNvSpPr/>
          <p:nvPr/>
        </p:nvSpPr>
        <p:spPr>
          <a:xfrm>
            <a:off x="8869680" y="4160520"/>
            <a:ext cx="3200400" cy="228600"/>
          </a:xfrm>
          <a:prstGeom prst="rect">
            <a:avLst/>
          </a:prstGeom>
          <a:noFill/>
          <a:ln/>
        </p:spPr>
        <p:txBody>
          <a:bodyPr wrap="square" lIns="0" tIns="0" rIns="0" bIns="0" rtlCol="0" anchor="ctr"/>
          <a:lstStyle/>
          <a:p>
            <a:pPr marL="0" indent="0">
              <a:buNone/>
            </a:pPr>
            <a:r>
              <a:rPr lang="en-US" sz="900" b="1" kern="0" spc="200">
                <a:solidFill>
                  <a:srgbClr val="EF4444"/>
                </a:solidFill>
                <a:latin typeface="Calibri" pitchFamily="34" charset="0"/>
                <a:ea typeface="Calibri" pitchFamily="34" charset="-122"/>
                <a:cs typeface="Calibri" pitchFamily="34" charset="-120"/>
              </a:rPr>
              <a:t>PROBLEM</a:t>
            </a:r>
            <a:endParaRPr lang="en-US" sz="900"/>
          </a:p>
        </p:txBody>
      </p:sp>
      <p:sp>
        <p:nvSpPr>
          <p:cNvPr id="31" name="Text 26"/>
          <p:cNvSpPr/>
          <p:nvPr/>
        </p:nvSpPr>
        <p:spPr>
          <a:xfrm>
            <a:off x="8869680" y="4389120"/>
            <a:ext cx="3200400" cy="640080"/>
          </a:xfrm>
          <a:prstGeom prst="rect">
            <a:avLst/>
          </a:prstGeom>
          <a:noFill/>
          <a:ln/>
        </p:spPr>
        <p:txBody>
          <a:bodyPr wrap="square" lIns="0" tIns="0" rIns="0" bIns="0" rtlCol="0" anchor="t"/>
          <a:lstStyle/>
          <a:p>
            <a:pPr marL="0" indent="0">
              <a:buNone/>
            </a:pPr>
            <a:r>
              <a:rPr lang="en-US" sz="1100">
                <a:solidFill>
                  <a:srgbClr val="475569"/>
                </a:solidFill>
                <a:latin typeface="Calibri" pitchFamily="34" charset="0"/>
                <a:ea typeface="Calibri" pitchFamily="34" charset="-122"/>
                <a:cs typeface="Calibri" pitchFamily="34" charset="-120"/>
              </a:rPr>
              <a:t>Manual investigation of failed logins requires logging into each host.</a:t>
            </a:r>
            <a:endParaRPr lang="en-US" sz="1100"/>
          </a:p>
        </p:txBody>
      </p:sp>
      <p:sp>
        <p:nvSpPr>
          <p:cNvPr id="32" name="Text 27"/>
          <p:cNvSpPr/>
          <p:nvPr/>
        </p:nvSpPr>
        <p:spPr>
          <a:xfrm>
            <a:off x="8869680" y="5029200"/>
            <a:ext cx="3200400" cy="228600"/>
          </a:xfrm>
          <a:prstGeom prst="rect">
            <a:avLst/>
          </a:prstGeom>
          <a:noFill/>
          <a:ln/>
        </p:spPr>
        <p:txBody>
          <a:bodyPr wrap="square" lIns="0" tIns="0" rIns="0" bIns="0" rtlCol="0" anchor="ctr"/>
          <a:lstStyle/>
          <a:p>
            <a:pPr marL="0" indent="0">
              <a:buNone/>
            </a:pPr>
            <a:r>
              <a:rPr lang="en-US" sz="900" b="1" kern="0" spc="200">
                <a:solidFill>
                  <a:srgbClr val="10B981"/>
                </a:solidFill>
                <a:latin typeface="Calibri" pitchFamily="34" charset="0"/>
                <a:ea typeface="Calibri" pitchFamily="34" charset="-122"/>
                <a:cs typeface="Calibri" pitchFamily="34" charset="-120"/>
              </a:rPr>
              <a:t>SIEM ANSWER</a:t>
            </a:r>
            <a:endParaRPr lang="en-US" sz="900"/>
          </a:p>
        </p:txBody>
      </p:sp>
      <p:sp>
        <p:nvSpPr>
          <p:cNvPr id="33" name="Text 28"/>
          <p:cNvSpPr/>
          <p:nvPr/>
        </p:nvSpPr>
        <p:spPr>
          <a:xfrm>
            <a:off x="8869680" y="5257800"/>
            <a:ext cx="3200400" cy="502920"/>
          </a:xfrm>
          <a:prstGeom prst="rect">
            <a:avLst/>
          </a:prstGeom>
          <a:noFill/>
          <a:ln/>
        </p:spPr>
        <p:txBody>
          <a:bodyPr wrap="square" lIns="0" tIns="0" rIns="0" bIns="0" rtlCol="0" anchor="t"/>
          <a:lstStyle/>
          <a:p>
            <a:pPr marL="0" indent="0">
              <a:buNone/>
            </a:pPr>
            <a:r>
              <a:rPr lang="en-US" sz="1100">
                <a:solidFill>
                  <a:srgbClr val="0F172A"/>
                </a:solidFill>
                <a:latin typeface="Calibri" pitchFamily="34" charset="0"/>
                <a:ea typeface="Calibri" pitchFamily="34" charset="-122"/>
                <a:cs typeface="Calibri" pitchFamily="34" charset="-120"/>
              </a:rPr>
              <a:t>One KQL query surfaces every matching event across the whole fleet.</a:t>
            </a:r>
            <a:endParaRPr lang="en-US" sz="1100"/>
          </a:p>
        </p:txBody>
      </p:sp>
      <p:sp>
        <p:nvSpPr>
          <p:cNvPr id="34" name="Text 29"/>
          <p:cNvSpPr/>
          <p:nvPr/>
        </p:nvSpPr>
        <p:spPr>
          <a:xfrm>
            <a:off x="365760" y="6537960"/>
            <a:ext cx="4572000" cy="228600"/>
          </a:xfrm>
          <a:prstGeom prst="rect">
            <a:avLst/>
          </a:prstGeom>
          <a:noFill/>
          <a:ln/>
        </p:spPr>
        <p:txBody>
          <a:bodyPr wrap="square" lIns="0" tIns="0" rIns="0" bIns="0" rtlCol="0" anchor="ctr"/>
          <a:lstStyle/>
          <a:p>
            <a:pPr marL="0" indent="0" algn="l">
              <a:buNone/>
            </a:pPr>
            <a:r>
              <a:rPr lang="en-US" sz="900">
                <a:solidFill>
                  <a:srgbClr val="94A3B8"/>
                </a:solidFill>
                <a:latin typeface="Calibri" pitchFamily="34" charset="0"/>
                <a:ea typeface="Calibri" pitchFamily="34" charset="-122"/>
                <a:cs typeface="Calibri" pitchFamily="34" charset="-120"/>
              </a:rPr>
              <a:t>Incident Handling Lab  |  Elastic SIEM</a:t>
            </a:r>
            <a:endParaRPr lang="en-US" sz="900"/>
          </a:p>
        </p:txBody>
      </p:sp>
      <p:sp>
        <p:nvSpPr>
          <p:cNvPr id="35" name="Text 30"/>
          <p:cNvSpPr/>
          <p:nvPr/>
        </p:nvSpPr>
        <p:spPr>
          <a:xfrm>
            <a:off x="11094415" y="6537960"/>
            <a:ext cx="914400" cy="228600"/>
          </a:xfrm>
          <a:prstGeom prst="rect">
            <a:avLst/>
          </a:prstGeom>
          <a:noFill/>
          <a:ln/>
        </p:spPr>
        <p:txBody>
          <a:bodyPr wrap="square" lIns="0" tIns="0" rIns="0" bIns="0" rtlCol="0" anchor="ctr"/>
          <a:lstStyle/>
          <a:p>
            <a:pPr marL="0" indent="0" algn="r">
              <a:buNone/>
            </a:pPr>
            <a:r>
              <a:rPr lang="en-US" sz="900">
                <a:solidFill>
                  <a:srgbClr val="94A3B8"/>
                </a:solidFill>
                <a:latin typeface="Calibri" pitchFamily="34" charset="0"/>
                <a:ea typeface="Calibri" pitchFamily="34" charset="-122"/>
                <a:cs typeface="Calibri" pitchFamily="34" charset="-120"/>
              </a:rPr>
              <a:t>4 / 29</a:t>
            </a:r>
            <a:endParaRPr lang="en-US" sz="9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65760" y="457200"/>
            <a:ext cx="109728" cy="731520"/>
          </a:xfrm>
          <a:prstGeom prst="rect">
            <a:avLst/>
          </a:prstGeom>
          <a:solidFill>
            <a:srgbClr val="00D9FF"/>
          </a:solidFill>
          <a:ln/>
        </p:spPr>
        <p:txBody>
          <a:bodyPr/>
          <a:lstStyle/>
          <a:p>
            <a:endParaRPr lang="en-US"/>
          </a:p>
        </p:txBody>
      </p:sp>
      <p:sp>
        <p:nvSpPr>
          <p:cNvPr id="3" name="Text 1"/>
          <p:cNvSpPr/>
          <p:nvPr/>
        </p:nvSpPr>
        <p:spPr>
          <a:xfrm>
            <a:off x="640080" y="411480"/>
            <a:ext cx="10515600" cy="502920"/>
          </a:xfrm>
          <a:prstGeom prst="rect">
            <a:avLst/>
          </a:prstGeom>
          <a:noFill/>
          <a:ln/>
        </p:spPr>
        <p:txBody>
          <a:bodyPr wrap="square" lIns="0" tIns="0" rIns="0" bIns="0" rtlCol="0" anchor="t"/>
          <a:lstStyle/>
          <a:p>
            <a:pPr marL="0" indent="0">
              <a:buNone/>
            </a:pPr>
            <a:r>
              <a:rPr lang="en-US" sz="2800" b="1">
                <a:solidFill>
                  <a:srgbClr val="0F172A"/>
                </a:solidFill>
                <a:latin typeface="Calibri" pitchFamily="34" charset="0"/>
                <a:ea typeface="Calibri" pitchFamily="34" charset="-122"/>
                <a:cs typeface="Calibri" pitchFamily="34" charset="-120"/>
              </a:rPr>
              <a:t>Elastic Stack Across the IR Lifecycle</a:t>
            </a:r>
            <a:endParaRPr lang="en-US" sz="2800"/>
          </a:p>
        </p:txBody>
      </p:sp>
      <p:sp>
        <p:nvSpPr>
          <p:cNvPr id="4" name="Text 2"/>
          <p:cNvSpPr/>
          <p:nvPr/>
        </p:nvSpPr>
        <p:spPr>
          <a:xfrm>
            <a:off x="640080" y="868680"/>
            <a:ext cx="10515600" cy="320040"/>
          </a:xfrm>
          <a:prstGeom prst="rect">
            <a:avLst/>
          </a:prstGeom>
          <a:noFill/>
          <a:ln/>
        </p:spPr>
        <p:txBody>
          <a:bodyPr wrap="square" lIns="0" tIns="0" rIns="0" bIns="0" rtlCol="0" anchor="t"/>
          <a:lstStyle/>
          <a:p>
            <a:pPr marL="0" indent="0">
              <a:buNone/>
            </a:pPr>
            <a:r>
              <a:rPr lang="en-US" sz="1300" i="1">
                <a:solidFill>
                  <a:srgbClr val="475569"/>
                </a:solidFill>
                <a:latin typeface="Calibri" pitchFamily="34" charset="0"/>
                <a:ea typeface="Calibri" pitchFamily="34" charset="-122"/>
                <a:cs typeface="Calibri" pitchFamily="34" charset="-120"/>
              </a:rPr>
              <a:t>NIST SP 800-61 phases and where our stack fits</a:t>
            </a:r>
            <a:endParaRPr lang="en-US" sz="1300"/>
          </a:p>
        </p:txBody>
      </p:sp>
      <p:sp>
        <p:nvSpPr>
          <p:cNvPr id="5" name="Shape 3"/>
          <p:cNvSpPr/>
          <p:nvPr/>
        </p:nvSpPr>
        <p:spPr>
          <a:xfrm>
            <a:off x="640080" y="1463040"/>
            <a:ext cx="3657600" cy="1508760"/>
          </a:xfrm>
          <a:prstGeom prst="rect">
            <a:avLst/>
          </a:prstGeom>
          <a:solidFill>
            <a:srgbClr val="FFFFFF"/>
          </a:solidFill>
          <a:ln w="12700">
            <a:solidFill>
              <a:srgbClr val="E2E8F0"/>
            </a:solidFill>
            <a:prstDash val="solid"/>
          </a:ln>
          <a:effectLst>
            <a:outerShdw blurRad="101600" dist="38100" dir="5400000" algn="bl" rotWithShape="0">
              <a:srgbClr val="000000">
                <a:alpha val="12000"/>
              </a:srgbClr>
            </a:outerShdw>
          </a:effectLst>
        </p:spPr>
        <p:txBody>
          <a:bodyPr/>
          <a:lstStyle/>
          <a:p>
            <a:endParaRPr lang="en-US"/>
          </a:p>
        </p:txBody>
      </p:sp>
      <p:sp>
        <p:nvSpPr>
          <p:cNvPr id="6" name="Shape 4"/>
          <p:cNvSpPr/>
          <p:nvPr/>
        </p:nvSpPr>
        <p:spPr>
          <a:xfrm>
            <a:off x="640080" y="1463040"/>
            <a:ext cx="3657600" cy="73152"/>
          </a:xfrm>
          <a:prstGeom prst="rect">
            <a:avLst/>
          </a:prstGeom>
          <a:solidFill>
            <a:srgbClr val="0891B2"/>
          </a:solidFill>
          <a:ln/>
        </p:spPr>
        <p:txBody>
          <a:bodyPr/>
          <a:lstStyle/>
          <a:p>
            <a:endParaRPr lang="en-US"/>
          </a:p>
        </p:txBody>
      </p:sp>
      <p:sp>
        <p:nvSpPr>
          <p:cNvPr id="7" name="Text 5"/>
          <p:cNvSpPr/>
          <p:nvPr/>
        </p:nvSpPr>
        <p:spPr>
          <a:xfrm>
            <a:off x="822960" y="1645920"/>
            <a:ext cx="457200" cy="274320"/>
          </a:xfrm>
          <a:prstGeom prst="rect">
            <a:avLst/>
          </a:prstGeom>
          <a:noFill/>
          <a:ln/>
        </p:spPr>
        <p:txBody>
          <a:bodyPr wrap="square" lIns="0" tIns="0" rIns="0" bIns="0" rtlCol="0" anchor="ctr"/>
          <a:lstStyle/>
          <a:p>
            <a:pPr marL="0" indent="0">
              <a:buNone/>
            </a:pPr>
            <a:r>
              <a:rPr lang="en-US" sz="1000" b="1">
                <a:solidFill>
                  <a:srgbClr val="0891B2"/>
                </a:solidFill>
                <a:latin typeface="Consolas" pitchFamily="34" charset="0"/>
                <a:ea typeface="Consolas" pitchFamily="34" charset="-122"/>
                <a:cs typeface="Consolas" pitchFamily="34" charset="-120"/>
              </a:rPr>
              <a:t>01</a:t>
            </a:r>
            <a:endParaRPr lang="en-US" sz="1000"/>
          </a:p>
        </p:txBody>
      </p:sp>
      <p:pic>
        <p:nvPicPr>
          <p:cNvPr id="8" name="Image 0" descr="preencoded.png"/>
          <p:cNvPicPr>
            <a:picLocks noChangeAspect="1"/>
          </p:cNvPicPr>
          <p:nvPr/>
        </p:nvPicPr>
        <p:blipFill>
          <a:blip r:embed="rId3"/>
          <a:stretch>
            <a:fillRect/>
          </a:stretch>
        </p:blipFill>
        <p:spPr>
          <a:xfrm>
            <a:off x="3703320" y="1645920"/>
            <a:ext cx="365760" cy="365760"/>
          </a:xfrm>
          <a:prstGeom prst="rect">
            <a:avLst/>
          </a:prstGeom>
        </p:spPr>
      </p:pic>
      <p:sp>
        <p:nvSpPr>
          <p:cNvPr id="9" name="Text 6"/>
          <p:cNvSpPr/>
          <p:nvPr/>
        </p:nvSpPr>
        <p:spPr>
          <a:xfrm>
            <a:off x="822960" y="1920240"/>
            <a:ext cx="3291840" cy="365760"/>
          </a:xfrm>
          <a:prstGeom prst="rect">
            <a:avLst/>
          </a:prstGeom>
          <a:noFill/>
          <a:ln/>
        </p:spPr>
        <p:txBody>
          <a:bodyPr wrap="square" lIns="0" tIns="0" rIns="0" bIns="0" rtlCol="0" anchor="ctr"/>
          <a:lstStyle/>
          <a:p>
            <a:pPr marL="0" indent="0">
              <a:buNone/>
            </a:pPr>
            <a:r>
              <a:rPr lang="en-US" sz="1600" b="1">
                <a:solidFill>
                  <a:srgbClr val="0F172A"/>
                </a:solidFill>
                <a:latin typeface="Calibri" pitchFamily="34" charset="0"/>
                <a:ea typeface="Calibri" pitchFamily="34" charset="-122"/>
                <a:cs typeface="Calibri" pitchFamily="34" charset="-120"/>
              </a:rPr>
              <a:t>Preparation</a:t>
            </a:r>
            <a:endParaRPr lang="en-US" sz="1600"/>
          </a:p>
        </p:txBody>
      </p:sp>
      <p:sp>
        <p:nvSpPr>
          <p:cNvPr id="10" name="Text 7"/>
          <p:cNvSpPr/>
          <p:nvPr/>
        </p:nvSpPr>
        <p:spPr>
          <a:xfrm>
            <a:off x="822960" y="2286000"/>
            <a:ext cx="3291840" cy="640080"/>
          </a:xfrm>
          <a:prstGeom prst="rect">
            <a:avLst/>
          </a:prstGeom>
          <a:noFill/>
          <a:ln/>
        </p:spPr>
        <p:txBody>
          <a:bodyPr wrap="square" lIns="0" tIns="0" rIns="0" bIns="0" rtlCol="0" anchor="t"/>
          <a:lstStyle/>
          <a:p>
            <a:pPr marL="0" indent="0">
              <a:buNone/>
            </a:pPr>
            <a:r>
              <a:rPr lang="en-US" sz="1000">
                <a:solidFill>
                  <a:srgbClr val="475569"/>
                </a:solidFill>
                <a:latin typeface="Calibri" pitchFamily="34" charset="0"/>
                <a:ea typeface="Calibri" pitchFamily="34" charset="-122"/>
                <a:cs typeface="Calibri" pitchFamily="34" charset="-120"/>
              </a:rPr>
              <a:t>Agents deployed on every endpoint; detection rules written and tuned; dashboards built for baseline visibility.</a:t>
            </a:r>
            <a:endParaRPr lang="en-US" sz="1000"/>
          </a:p>
        </p:txBody>
      </p:sp>
      <p:sp>
        <p:nvSpPr>
          <p:cNvPr id="11" name="Shape 8"/>
          <p:cNvSpPr/>
          <p:nvPr/>
        </p:nvSpPr>
        <p:spPr>
          <a:xfrm>
            <a:off x="4498848" y="1463040"/>
            <a:ext cx="3657600" cy="1508760"/>
          </a:xfrm>
          <a:prstGeom prst="rect">
            <a:avLst/>
          </a:prstGeom>
          <a:solidFill>
            <a:srgbClr val="FFFFFF"/>
          </a:solidFill>
          <a:ln w="12700">
            <a:solidFill>
              <a:srgbClr val="E2E8F0"/>
            </a:solidFill>
            <a:prstDash val="solid"/>
          </a:ln>
          <a:effectLst>
            <a:outerShdw blurRad="101600" dist="38100" dir="5400000" algn="bl" rotWithShape="0">
              <a:srgbClr val="000000">
                <a:alpha val="12000"/>
              </a:srgbClr>
            </a:outerShdw>
          </a:effectLst>
        </p:spPr>
        <p:txBody>
          <a:bodyPr/>
          <a:lstStyle/>
          <a:p>
            <a:endParaRPr lang="en-US"/>
          </a:p>
        </p:txBody>
      </p:sp>
      <p:sp>
        <p:nvSpPr>
          <p:cNvPr id="12" name="Shape 9"/>
          <p:cNvSpPr/>
          <p:nvPr/>
        </p:nvSpPr>
        <p:spPr>
          <a:xfrm>
            <a:off x="4498848" y="1463040"/>
            <a:ext cx="3657600" cy="73152"/>
          </a:xfrm>
          <a:prstGeom prst="rect">
            <a:avLst/>
          </a:prstGeom>
          <a:solidFill>
            <a:srgbClr val="00D9FF"/>
          </a:solidFill>
          <a:ln/>
        </p:spPr>
        <p:txBody>
          <a:bodyPr/>
          <a:lstStyle/>
          <a:p>
            <a:endParaRPr lang="en-US"/>
          </a:p>
        </p:txBody>
      </p:sp>
      <p:sp>
        <p:nvSpPr>
          <p:cNvPr id="13" name="Text 10"/>
          <p:cNvSpPr/>
          <p:nvPr/>
        </p:nvSpPr>
        <p:spPr>
          <a:xfrm>
            <a:off x="4681728" y="1645920"/>
            <a:ext cx="457200" cy="274320"/>
          </a:xfrm>
          <a:prstGeom prst="rect">
            <a:avLst/>
          </a:prstGeom>
          <a:noFill/>
          <a:ln/>
        </p:spPr>
        <p:txBody>
          <a:bodyPr wrap="square" lIns="0" tIns="0" rIns="0" bIns="0" rtlCol="0" anchor="ctr"/>
          <a:lstStyle/>
          <a:p>
            <a:pPr marL="0" indent="0">
              <a:buNone/>
            </a:pPr>
            <a:r>
              <a:rPr lang="en-US" sz="1000" b="1">
                <a:solidFill>
                  <a:srgbClr val="00D9FF"/>
                </a:solidFill>
                <a:latin typeface="Consolas" pitchFamily="34" charset="0"/>
                <a:ea typeface="Consolas" pitchFamily="34" charset="-122"/>
                <a:cs typeface="Consolas" pitchFamily="34" charset="-120"/>
              </a:rPr>
              <a:t>02</a:t>
            </a:r>
            <a:endParaRPr lang="en-US" sz="1000"/>
          </a:p>
        </p:txBody>
      </p:sp>
      <p:pic>
        <p:nvPicPr>
          <p:cNvPr id="14" name="Image 1" descr="preencoded.png"/>
          <p:cNvPicPr>
            <a:picLocks noChangeAspect="1"/>
          </p:cNvPicPr>
          <p:nvPr/>
        </p:nvPicPr>
        <p:blipFill>
          <a:blip r:embed="rId4"/>
          <a:stretch>
            <a:fillRect/>
          </a:stretch>
        </p:blipFill>
        <p:spPr>
          <a:xfrm>
            <a:off x="7562088" y="1645920"/>
            <a:ext cx="365760" cy="365760"/>
          </a:xfrm>
          <a:prstGeom prst="rect">
            <a:avLst/>
          </a:prstGeom>
        </p:spPr>
      </p:pic>
      <p:sp>
        <p:nvSpPr>
          <p:cNvPr id="15" name="Text 11"/>
          <p:cNvSpPr/>
          <p:nvPr/>
        </p:nvSpPr>
        <p:spPr>
          <a:xfrm>
            <a:off x="4681728" y="1920240"/>
            <a:ext cx="3291840" cy="365760"/>
          </a:xfrm>
          <a:prstGeom prst="rect">
            <a:avLst/>
          </a:prstGeom>
          <a:noFill/>
          <a:ln/>
        </p:spPr>
        <p:txBody>
          <a:bodyPr wrap="square" lIns="0" tIns="0" rIns="0" bIns="0" rtlCol="0" anchor="ctr"/>
          <a:lstStyle/>
          <a:p>
            <a:pPr marL="0" indent="0">
              <a:buNone/>
            </a:pPr>
            <a:r>
              <a:rPr lang="en-US" sz="1600" b="1">
                <a:solidFill>
                  <a:srgbClr val="0F172A"/>
                </a:solidFill>
                <a:latin typeface="Calibri" pitchFamily="34" charset="0"/>
                <a:ea typeface="Calibri" pitchFamily="34" charset="-122"/>
                <a:cs typeface="Calibri" pitchFamily="34" charset="-120"/>
              </a:rPr>
              <a:t>Detection &amp; Analysis</a:t>
            </a:r>
            <a:endParaRPr lang="en-US" sz="1600"/>
          </a:p>
        </p:txBody>
      </p:sp>
      <p:sp>
        <p:nvSpPr>
          <p:cNvPr id="16" name="Text 12"/>
          <p:cNvSpPr/>
          <p:nvPr/>
        </p:nvSpPr>
        <p:spPr>
          <a:xfrm>
            <a:off x="4681728" y="2286000"/>
            <a:ext cx="3291840" cy="640080"/>
          </a:xfrm>
          <a:prstGeom prst="rect">
            <a:avLst/>
          </a:prstGeom>
          <a:noFill/>
          <a:ln/>
        </p:spPr>
        <p:txBody>
          <a:bodyPr wrap="square" lIns="0" tIns="0" rIns="0" bIns="0" rtlCol="0" anchor="t"/>
          <a:lstStyle/>
          <a:p>
            <a:pPr marL="0" indent="0">
              <a:buNone/>
            </a:pPr>
            <a:r>
              <a:rPr lang="en-US" sz="1000">
                <a:solidFill>
                  <a:srgbClr val="475569"/>
                </a:solidFill>
                <a:latin typeface="Calibri" pitchFamily="34" charset="0"/>
                <a:ea typeface="Calibri" pitchFamily="34" charset="-122"/>
                <a:cs typeface="Calibri" pitchFamily="34" charset="-120"/>
              </a:rPr>
              <a:t>Rules fire on suspicious activity; analysts pivot in Kibana Discover; timeline built from ECS-normalized events.</a:t>
            </a:r>
            <a:endParaRPr lang="en-US" sz="1000"/>
          </a:p>
        </p:txBody>
      </p:sp>
      <p:sp>
        <p:nvSpPr>
          <p:cNvPr id="17" name="Shape 13"/>
          <p:cNvSpPr/>
          <p:nvPr/>
        </p:nvSpPr>
        <p:spPr>
          <a:xfrm>
            <a:off x="8357616" y="1463040"/>
            <a:ext cx="3657600" cy="1508760"/>
          </a:xfrm>
          <a:prstGeom prst="rect">
            <a:avLst/>
          </a:prstGeom>
          <a:solidFill>
            <a:srgbClr val="FFFFFF"/>
          </a:solidFill>
          <a:ln w="12700">
            <a:solidFill>
              <a:srgbClr val="E2E8F0"/>
            </a:solidFill>
            <a:prstDash val="solid"/>
          </a:ln>
          <a:effectLst>
            <a:outerShdw blurRad="101600" dist="38100" dir="5400000" algn="bl" rotWithShape="0">
              <a:srgbClr val="000000">
                <a:alpha val="12000"/>
              </a:srgbClr>
            </a:outerShdw>
          </a:effectLst>
        </p:spPr>
        <p:txBody>
          <a:bodyPr/>
          <a:lstStyle/>
          <a:p>
            <a:endParaRPr lang="en-US"/>
          </a:p>
        </p:txBody>
      </p:sp>
      <p:sp>
        <p:nvSpPr>
          <p:cNvPr id="18" name="Shape 14"/>
          <p:cNvSpPr/>
          <p:nvPr/>
        </p:nvSpPr>
        <p:spPr>
          <a:xfrm>
            <a:off x="8357616" y="1463040"/>
            <a:ext cx="3657600" cy="73152"/>
          </a:xfrm>
          <a:prstGeom prst="rect">
            <a:avLst/>
          </a:prstGeom>
          <a:solidFill>
            <a:srgbClr val="F59E0B"/>
          </a:solidFill>
          <a:ln/>
        </p:spPr>
        <p:txBody>
          <a:bodyPr/>
          <a:lstStyle/>
          <a:p>
            <a:endParaRPr lang="en-US"/>
          </a:p>
        </p:txBody>
      </p:sp>
      <p:sp>
        <p:nvSpPr>
          <p:cNvPr id="19" name="Text 15"/>
          <p:cNvSpPr/>
          <p:nvPr/>
        </p:nvSpPr>
        <p:spPr>
          <a:xfrm>
            <a:off x="8540496" y="1645920"/>
            <a:ext cx="457200" cy="274320"/>
          </a:xfrm>
          <a:prstGeom prst="rect">
            <a:avLst/>
          </a:prstGeom>
          <a:noFill/>
          <a:ln/>
        </p:spPr>
        <p:txBody>
          <a:bodyPr wrap="square" lIns="0" tIns="0" rIns="0" bIns="0" rtlCol="0" anchor="ctr"/>
          <a:lstStyle/>
          <a:p>
            <a:pPr marL="0" indent="0">
              <a:buNone/>
            </a:pPr>
            <a:r>
              <a:rPr lang="en-US" sz="1000" b="1">
                <a:solidFill>
                  <a:srgbClr val="F59E0B"/>
                </a:solidFill>
                <a:latin typeface="Consolas" pitchFamily="34" charset="0"/>
                <a:ea typeface="Consolas" pitchFamily="34" charset="-122"/>
                <a:cs typeface="Consolas" pitchFamily="34" charset="-120"/>
              </a:rPr>
              <a:t>03</a:t>
            </a:r>
            <a:endParaRPr lang="en-US" sz="1000"/>
          </a:p>
        </p:txBody>
      </p:sp>
      <p:pic>
        <p:nvPicPr>
          <p:cNvPr id="20" name="Image 2" descr="preencoded.png"/>
          <p:cNvPicPr>
            <a:picLocks noChangeAspect="1"/>
          </p:cNvPicPr>
          <p:nvPr/>
        </p:nvPicPr>
        <p:blipFill>
          <a:blip r:embed="rId5"/>
          <a:stretch>
            <a:fillRect/>
          </a:stretch>
        </p:blipFill>
        <p:spPr>
          <a:xfrm>
            <a:off x="11420856" y="1645920"/>
            <a:ext cx="365760" cy="365760"/>
          </a:xfrm>
          <a:prstGeom prst="rect">
            <a:avLst/>
          </a:prstGeom>
        </p:spPr>
      </p:pic>
      <p:sp>
        <p:nvSpPr>
          <p:cNvPr id="21" name="Text 16"/>
          <p:cNvSpPr/>
          <p:nvPr/>
        </p:nvSpPr>
        <p:spPr>
          <a:xfrm>
            <a:off x="8540496" y="1920240"/>
            <a:ext cx="3291840" cy="365760"/>
          </a:xfrm>
          <a:prstGeom prst="rect">
            <a:avLst/>
          </a:prstGeom>
          <a:noFill/>
          <a:ln/>
        </p:spPr>
        <p:txBody>
          <a:bodyPr wrap="square" lIns="0" tIns="0" rIns="0" bIns="0" rtlCol="0" anchor="ctr"/>
          <a:lstStyle/>
          <a:p>
            <a:pPr marL="0" indent="0">
              <a:buNone/>
            </a:pPr>
            <a:r>
              <a:rPr lang="en-US" sz="1600" b="1">
                <a:solidFill>
                  <a:srgbClr val="0F172A"/>
                </a:solidFill>
                <a:latin typeface="Calibri" pitchFamily="34" charset="0"/>
                <a:ea typeface="Calibri" pitchFamily="34" charset="-122"/>
                <a:cs typeface="Calibri" pitchFamily="34" charset="-120"/>
              </a:rPr>
              <a:t>Containment</a:t>
            </a:r>
            <a:endParaRPr lang="en-US" sz="1600"/>
          </a:p>
        </p:txBody>
      </p:sp>
      <p:sp>
        <p:nvSpPr>
          <p:cNvPr id="22" name="Text 17"/>
          <p:cNvSpPr/>
          <p:nvPr/>
        </p:nvSpPr>
        <p:spPr>
          <a:xfrm>
            <a:off x="8540496" y="2286000"/>
            <a:ext cx="3291840" cy="640080"/>
          </a:xfrm>
          <a:prstGeom prst="rect">
            <a:avLst/>
          </a:prstGeom>
          <a:noFill/>
          <a:ln/>
        </p:spPr>
        <p:txBody>
          <a:bodyPr wrap="square" lIns="0" tIns="0" rIns="0" bIns="0" rtlCol="0" anchor="t"/>
          <a:lstStyle/>
          <a:p>
            <a:pPr marL="0" indent="0">
              <a:buNone/>
            </a:pPr>
            <a:r>
              <a:rPr lang="en-US" sz="1000">
                <a:solidFill>
                  <a:srgbClr val="475569"/>
                </a:solidFill>
                <a:latin typeface="Calibri" pitchFamily="34" charset="0"/>
                <a:ea typeface="Calibri" pitchFamily="34" charset="-122"/>
                <a:cs typeface="Calibri" pitchFamily="34" charset="-120"/>
              </a:rPr>
              <a:t>One KQL query over Elasticsearch surfaces every host, user, and IP touched by the adversary.</a:t>
            </a:r>
            <a:endParaRPr lang="en-US" sz="1000"/>
          </a:p>
        </p:txBody>
      </p:sp>
      <p:sp>
        <p:nvSpPr>
          <p:cNvPr id="23" name="Shape 18"/>
          <p:cNvSpPr/>
          <p:nvPr/>
        </p:nvSpPr>
        <p:spPr>
          <a:xfrm>
            <a:off x="640080" y="3291840"/>
            <a:ext cx="3657600" cy="1508760"/>
          </a:xfrm>
          <a:prstGeom prst="rect">
            <a:avLst/>
          </a:prstGeom>
          <a:solidFill>
            <a:srgbClr val="FFFFFF"/>
          </a:solidFill>
          <a:ln w="12700">
            <a:solidFill>
              <a:srgbClr val="E2E8F0"/>
            </a:solidFill>
            <a:prstDash val="solid"/>
          </a:ln>
          <a:effectLst>
            <a:outerShdw blurRad="101600" dist="38100" dir="5400000" algn="bl" rotWithShape="0">
              <a:srgbClr val="000000">
                <a:alpha val="12000"/>
              </a:srgbClr>
            </a:outerShdw>
          </a:effectLst>
        </p:spPr>
        <p:txBody>
          <a:bodyPr/>
          <a:lstStyle/>
          <a:p>
            <a:endParaRPr lang="en-US"/>
          </a:p>
        </p:txBody>
      </p:sp>
      <p:sp>
        <p:nvSpPr>
          <p:cNvPr id="24" name="Shape 19"/>
          <p:cNvSpPr/>
          <p:nvPr/>
        </p:nvSpPr>
        <p:spPr>
          <a:xfrm>
            <a:off x="640080" y="3291840"/>
            <a:ext cx="3657600" cy="73152"/>
          </a:xfrm>
          <a:prstGeom prst="rect">
            <a:avLst/>
          </a:prstGeom>
          <a:solidFill>
            <a:srgbClr val="A78BFA"/>
          </a:solidFill>
          <a:ln/>
        </p:spPr>
        <p:txBody>
          <a:bodyPr/>
          <a:lstStyle/>
          <a:p>
            <a:endParaRPr lang="en-US"/>
          </a:p>
        </p:txBody>
      </p:sp>
      <p:sp>
        <p:nvSpPr>
          <p:cNvPr id="25" name="Text 20"/>
          <p:cNvSpPr/>
          <p:nvPr/>
        </p:nvSpPr>
        <p:spPr>
          <a:xfrm>
            <a:off x="822960" y="3474720"/>
            <a:ext cx="457200" cy="274320"/>
          </a:xfrm>
          <a:prstGeom prst="rect">
            <a:avLst/>
          </a:prstGeom>
          <a:noFill/>
          <a:ln/>
        </p:spPr>
        <p:txBody>
          <a:bodyPr wrap="square" lIns="0" tIns="0" rIns="0" bIns="0" rtlCol="0" anchor="ctr"/>
          <a:lstStyle/>
          <a:p>
            <a:pPr marL="0" indent="0">
              <a:buNone/>
            </a:pPr>
            <a:r>
              <a:rPr lang="en-US" sz="1000" b="1">
                <a:solidFill>
                  <a:srgbClr val="A78BFA"/>
                </a:solidFill>
                <a:latin typeface="Consolas" pitchFamily="34" charset="0"/>
                <a:ea typeface="Consolas" pitchFamily="34" charset="-122"/>
                <a:cs typeface="Consolas" pitchFamily="34" charset="-120"/>
              </a:rPr>
              <a:t>04</a:t>
            </a:r>
            <a:endParaRPr lang="en-US" sz="1000"/>
          </a:p>
        </p:txBody>
      </p:sp>
      <p:pic>
        <p:nvPicPr>
          <p:cNvPr id="26" name="Image 3" descr="preencoded.png"/>
          <p:cNvPicPr>
            <a:picLocks noChangeAspect="1"/>
          </p:cNvPicPr>
          <p:nvPr/>
        </p:nvPicPr>
        <p:blipFill>
          <a:blip r:embed="rId6"/>
          <a:stretch>
            <a:fillRect/>
          </a:stretch>
        </p:blipFill>
        <p:spPr>
          <a:xfrm>
            <a:off x="3703320" y="3474720"/>
            <a:ext cx="365760" cy="365760"/>
          </a:xfrm>
          <a:prstGeom prst="rect">
            <a:avLst/>
          </a:prstGeom>
        </p:spPr>
      </p:pic>
      <p:sp>
        <p:nvSpPr>
          <p:cNvPr id="27" name="Text 21"/>
          <p:cNvSpPr/>
          <p:nvPr/>
        </p:nvSpPr>
        <p:spPr>
          <a:xfrm>
            <a:off x="822960" y="3749040"/>
            <a:ext cx="3291840" cy="365760"/>
          </a:xfrm>
          <a:prstGeom prst="rect">
            <a:avLst/>
          </a:prstGeom>
          <a:noFill/>
          <a:ln/>
        </p:spPr>
        <p:txBody>
          <a:bodyPr wrap="square" lIns="0" tIns="0" rIns="0" bIns="0" rtlCol="0" anchor="ctr"/>
          <a:lstStyle/>
          <a:p>
            <a:pPr marL="0" indent="0">
              <a:buNone/>
            </a:pPr>
            <a:r>
              <a:rPr lang="en-US" sz="1600" b="1">
                <a:solidFill>
                  <a:srgbClr val="0F172A"/>
                </a:solidFill>
                <a:latin typeface="Calibri" pitchFamily="34" charset="0"/>
                <a:ea typeface="Calibri" pitchFamily="34" charset="-122"/>
                <a:cs typeface="Calibri" pitchFamily="34" charset="-120"/>
              </a:rPr>
              <a:t>Eradication</a:t>
            </a:r>
            <a:endParaRPr lang="en-US" sz="1600"/>
          </a:p>
        </p:txBody>
      </p:sp>
      <p:sp>
        <p:nvSpPr>
          <p:cNvPr id="28" name="Text 22"/>
          <p:cNvSpPr/>
          <p:nvPr/>
        </p:nvSpPr>
        <p:spPr>
          <a:xfrm>
            <a:off x="822960" y="4114800"/>
            <a:ext cx="3291840" cy="640080"/>
          </a:xfrm>
          <a:prstGeom prst="rect">
            <a:avLst/>
          </a:prstGeom>
          <a:noFill/>
          <a:ln/>
        </p:spPr>
        <p:txBody>
          <a:bodyPr wrap="square" lIns="0" tIns="0" rIns="0" bIns="0" rtlCol="0" anchor="t"/>
          <a:lstStyle/>
          <a:p>
            <a:pPr marL="0" indent="0">
              <a:buNone/>
            </a:pPr>
            <a:r>
              <a:rPr lang="en-US" sz="1000">
                <a:solidFill>
                  <a:srgbClr val="475569"/>
                </a:solidFill>
                <a:latin typeface="Calibri" pitchFamily="34" charset="0"/>
                <a:ea typeface="Calibri" pitchFamily="34" charset="-122"/>
                <a:cs typeface="Calibri" pitchFamily="34" charset="-120"/>
              </a:rPr>
              <a:t>FIM logs expose persistence mechanisms — modified files, startup scripts, new cron jobs — with full metadata.</a:t>
            </a:r>
            <a:endParaRPr lang="en-US" sz="1000"/>
          </a:p>
        </p:txBody>
      </p:sp>
      <p:sp>
        <p:nvSpPr>
          <p:cNvPr id="29" name="Shape 23"/>
          <p:cNvSpPr/>
          <p:nvPr/>
        </p:nvSpPr>
        <p:spPr>
          <a:xfrm>
            <a:off x="4498848" y="3291840"/>
            <a:ext cx="3657600" cy="1508760"/>
          </a:xfrm>
          <a:prstGeom prst="rect">
            <a:avLst/>
          </a:prstGeom>
          <a:solidFill>
            <a:srgbClr val="FFFFFF"/>
          </a:solidFill>
          <a:ln w="12700">
            <a:solidFill>
              <a:srgbClr val="E2E8F0"/>
            </a:solidFill>
            <a:prstDash val="solid"/>
          </a:ln>
          <a:effectLst>
            <a:outerShdw blurRad="101600" dist="38100" dir="5400000" algn="bl" rotWithShape="0">
              <a:srgbClr val="000000">
                <a:alpha val="12000"/>
              </a:srgbClr>
            </a:outerShdw>
          </a:effectLst>
        </p:spPr>
        <p:txBody>
          <a:bodyPr/>
          <a:lstStyle/>
          <a:p>
            <a:endParaRPr lang="en-US"/>
          </a:p>
        </p:txBody>
      </p:sp>
      <p:sp>
        <p:nvSpPr>
          <p:cNvPr id="30" name="Shape 24"/>
          <p:cNvSpPr/>
          <p:nvPr/>
        </p:nvSpPr>
        <p:spPr>
          <a:xfrm>
            <a:off x="4498848" y="3291840"/>
            <a:ext cx="3657600" cy="73152"/>
          </a:xfrm>
          <a:prstGeom prst="rect">
            <a:avLst/>
          </a:prstGeom>
          <a:solidFill>
            <a:srgbClr val="10B981"/>
          </a:solidFill>
          <a:ln/>
        </p:spPr>
        <p:txBody>
          <a:bodyPr/>
          <a:lstStyle/>
          <a:p>
            <a:endParaRPr lang="en-US"/>
          </a:p>
        </p:txBody>
      </p:sp>
      <p:sp>
        <p:nvSpPr>
          <p:cNvPr id="31" name="Text 25"/>
          <p:cNvSpPr/>
          <p:nvPr/>
        </p:nvSpPr>
        <p:spPr>
          <a:xfrm>
            <a:off x="4681728" y="3474720"/>
            <a:ext cx="457200" cy="274320"/>
          </a:xfrm>
          <a:prstGeom prst="rect">
            <a:avLst/>
          </a:prstGeom>
          <a:noFill/>
          <a:ln/>
        </p:spPr>
        <p:txBody>
          <a:bodyPr wrap="square" lIns="0" tIns="0" rIns="0" bIns="0" rtlCol="0" anchor="ctr"/>
          <a:lstStyle/>
          <a:p>
            <a:pPr marL="0" indent="0">
              <a:buNone/>
            </a:pPr>
            <a:r>
              <a:rPr lang="en-US" sz="1000" b="1">
                <a:solidFill>
                  <a:srgbClr val="10B981"/>
                </a:solidFill>
                <a:latin typeface="Consolas" pitchFamily="34" charset="0"/>
                <a:ea typeface="Consolas" pitchFamily="34" charset="-122"/>
                <a:cs typeface="Consolas" pitchFamily="34" charset="-120"/>
              </a:rPr>
              <a:t>05</a:t>
            </a:r>
            <a:endParaRPr lang="en-US" sz="1000"/>
          </a:p>
        </p:txBody>
      </p:sp>
      <p:pic>
        <p:nvPicPr>
          <p:cNvPr id="32" name="Image 4" descr="preencoded.png"/>
          <p:cNvPicPr>
            <a:picLocks noChangeAspect="1"/>
          </p:cNvPicPr>
          <p:nvPr/>
        </p:nvPicPr>
        <p:blipFill>
          <a:blip r:embed="rId7"/>
          <a:stretch>
            <a:fillRect/>
          </a:stretch>
        </p:blipFill>
        <p:spPr>
          <a:xfrm>
            <a:off x="7562088" y="3474720"/>
            <a:ext cx="365760" cy="365760"/>
          </a:xfrm>
          <a:prstGeom prst="rect">
            <a:avLst/>
          </a:prstGeom>
        </p:spPr>
      </p:pic>
      <p:sp>
        <p:nvSpPr>
          <p:cNvPr id="33" name="Text 26"/>
          <p:cNvSpPr/>
          <p:nvPr/>
        </p:nvSpPr>
        <p:spPr>
          <a:xfrm>
            <a:off x="4681728" y="3749040"/>
            <a:ext cx="3291840" cy="365760"/>
          </a:xfrm>
          <a:prstGeom prst="rect">
            <a:avLst/>
          </a:prstGeom>
          <a:noFill/>
          <a:ln/>
        </p:spPr>
        <p:txBody>
          <a:bodyPr wrap="square" lIns="0" tIns="0" rIns="0" bIns="0" rtlCol="0" anchor="ctr"/>
          <a:lstStyle/>
          <a:p>
            <a:pPr marL="0" indent="0">
              <a:buNone/>
            </a:pPr>
            <a:r>
              <a:rPr lang="en-US" sz="1600" b="1">
                <a:solidFill>
                  <a:srgbClr val="0F172A"/>
                </a:solidFill>
                <a:latin typeface="Calibri" pitchFamily="34" charset="0"/>
                <a:ea typeface="Calibri" pitchFamily="34" charset="-122"/>
                <a:cs typeface="Calibri" pitchFamily="34" charset="-120"/>
              </a:rPr>
              <a:t>Recovery</a:t>
            </a:r>
            <a:endParaRPr lang="en-US" sz="1600"/>
          </a:p>
        </p:txBody>
      </p:sp>
      <p:sp>
        <p:nvSpPr>
          <p:cNvPr id="34" name="Text 27"/>
          <p:cNvSpPr/>
          <p:nvPr/>
        </p:nvSpPr>
        <p:spPr>
          <a:xfrm>
            <a:off x="4681728" y="4114800"/>
            <a:ext cx="3291840" cy="640080"/>
          </a:xfrm>
          <a:prstGeom prst="rect">
            <a:avLst/>
          </a:prstGeom>
          <a:noFill/>
          <a:ln/>
        </p:spPr>
        <p:txBody>
          <a:bodyPr wrap="square" lIns="0" tIns="0" rIns="0" bIns="0" rtlCol="0" anchor="t"/>
          <a:lstStyle/>
          <a:p>
            <a:pPr marL="0" indent="0">
              <a:buNone/>
            </a:pPr>
            <a:r>
              <a:rPr lang="en-US" sz="1000">
                <a:solidFill>
                  <a:srgbClr val="475569"/>
                </a:solidFill>
                <a:latin typeface="Calibri" pitchFamily="34" charset="0"/>
                <a:ea typeface="Calibri" pitchFamily="34" charset="-122"/>
                <a:cs typeface="Calibri" pitchFamily="34" charset="-120"/>
              </a:rPr>
              <a:t>Baseline patterns from before the incident compared against restored hosts to validate clean operation.</a:t>
            </a:r>
            <a:endParaRPr lang="en-US" sz="1000"/>
          </a:p>
        </p:txBody>
      </p:sp>
      <p:sp>
        <p:nvSpPr>
          <p:cNvPr id="35" name="Shape 28"/>
          <p:cNvSpPr/>
          <p:nvPr/>
        </p:nvSpPr>
        <p:spPr>
          <a:xfrm>
            <a:off x="8357616" y="3291840"/>
            <a:ext cx="3657600" cy="1508760"/>
          </a:xfrm>
          <a:prstGeom prst="rect">
            <a:avLst/>
          </a:prstGeom>
          <a:solidFill>
            <a:srgbClr val="FFFFFF"/>
          </a:solidFill>
          <a:ln w="12700">
            <a:solidFill>
              <a:srgbClr val="E2E8F0"/>
            </a:solidFill>
            <a:prstDash val="solid"/>
          </a:ln>
          <a:effectLst>
            <a:outerShdw blurRad="101600" dist="38100" dir="5400000" algn="bl" rotWithShape="0">
              <a:srgbClr val="000000">
                <a:alpha val="12000"/>
              </a:srgbClr>
            </a:outerShdw>
          </a:effectLst>
        </p:spPr>
        <p:txBody>
          <a:bodyPr/>
          <a:lstStyle/>
          <a:p>
            <a:endParaRPr lang="en-US"/>
          </a:p>
        </p:txBody>
      </p:sp>
      <p:sp>
        <p:nvSpPr>
          <p:cNvPr id="36" name="Shape 29"/>
          <p:cNvSpPr/>
          <p:nvPr/>
        </p:nvSpPr>
        <p:spPr>
          <a:xfrm>
            <a:off x="8357616" y="3291840"/>
            <a:ext cx="3657600" cy="73152"/>
          </a:xfrm>
          <a:prstGeom prst="rect">
            <a:avLst/>
          </a:prstGeom>
          <a:solidFill>
            <a:srgbClr val="0891B2"/>
          </a:solidFill>
          <a:ln/>
        </p:spPr>
        <p:txBody>
          <a:bodyPr/>
          <a:lstStyle/>
          <a:p>
            <a:endParaRPr lang="en-US"/>
          </a:p>
        </p:txBody>
      </p:sp>
      <p:sp>
        <p:nvSpPr>
          <p:cNvPr id="37" name="Text 30"/>
          <p:cNvSpPr/>
          <p:nvPr/>
        </p:nvSpPr>
        <p:spPr>
          <a:xfrm>
            <a:off x="8540496" y="3474720"/>
            <a:ext cx="457200" cy="274320"/>
          </a:xfrm>
          <a:prstGeom prst="rect">
            <a:avLst/>
          </a:prstGeom>
          <a:noFill/>
          <a:ln/>
        </p:spPr>
        <p:txBody>
          <a:bodyPr wrap="square" lIns="0" tIns="0" rIns="0" bIns="0" rtlCol="0" anchor="ctr"/>
          <a:lstStyle/>
          <a:p>
            <a:pPr marL="0" indent="0">
              <a:buNone/>
            </a:pPr>
            <a:r>
              <a:rPr lang="en-US" sz="1000" b="1">
                <a:solidFill>
                  <a:srgbClr val="0891B2"/>
                </a:solidFill>
                <a:latin typeface="Consolas" pitchFamily="34" charset="0"/>
                <a:ea typeface="Consolas" pitchFamily="34" charset="-122"/>
                <a:cs typeface="Consolas" pitchFamily="34" charset="-120"/>
              </a:rPr>
              <a:t>06</a:t>
            </a:r>
            <a:endParaRPr lang="en-US" sz="1000"/>
          </a:p>
        </p:txBody>
      </p:sp>
      <p:pic>
        <p:nvPicPr>
          <p:cNvPr id="38" name="Image 5" descr="preencoded.png"/>
          <p:cNvPicPr>
            <a:picLocks noChangeAspect="1"/>
          </p:cNvPicPr>
          <p:nvPr/>
        </p:nvPicPr>
        <p:blipFill>
          <a:blip r:embed="rId8"/>
          <a:stretch>
            <a:fillRect/>
          </a:stretch>
        </p:blipFill>
        <p:spPr>
          <a:xfrm>
            <a:off x="11420856" y="3474720"/>
            <a:ext cx="365760" cy="365760"/>
          </a:xfrm>
          <a:prstGeom prst="rect">
            <a:avLst/>
          </a:prstGeom>
        </p:spPr>
      </p:pic>
      <p:sp>
        <p:nvSpPr>
          <p:cNvPr id="39" name="Text 31"/>
          <p:cNvSpPr/>
          <p:nvPr/>
        </p:nvSpPr>
        <p:spPr>
          <a:xfrm>
            <a:off x="8540496" y="3749040"/>
            <a:ext cx="3291840" cy="365760"/>
          </a:xfrm>
          <a:prstGeom prst="rect">
            <a:avLst/>
          </a:prstGeom>
          <a:noFill/>
          <a:ln/>
        </p:spPr>
        <p:txBody>
          <a:bodyPr wrap="square" lIns="0" tIns="0" rIns="0" bIns="0" rtlCol="0" anchor="ctr"/>
          <a:lstStyle/>
          <a:p>
            <a:pPr marL="0" indent="0">
              <a:buNone/>
            </a:pPr>
            <a:r>
              <a:rPr lang="en-US" sz="1600" b="1">
                <a:solidFill>
                  <a:srgbClr val="0F172A"/>
                </a:solidFill>
                <a:latin typeface="Calibri" pitchFamily="34" charset="0"/>
                <a:ea typeface="Calibri" pitchFamily="34" charset="-122"/>
                <a:cs typeface="Calibri" pitchFamily="34" charset="-120"/>
              </a:rPr>
              <a:t>Post-Incident</a:t>
            </a:r>
            <a:endParaRPr lang="en-US" sz="1600"/>
          </a:p>
        </p:txBody>
      </p:sp>
      <p:sp>
        <p:nvSpPr>
          <p:cNvPr id="40" name="Text 32"/>
          <p:cNvSpPr/>
          <p:nvPr/>
        </p:nvSpPr>
        <p:spPr>
          <a:xfrm>
            <a:off x="8540496" y="4114800"/>
            <a:ext cx="3291840" cy="640080"/>
          </a:xfrm>
          <a:prstGeom prst="rect">
            <a:avLst/>
          </a:prstGeom>
          <a:noFill/>
          <a:ln/>
        </p:spPr>
        <p:txBody>
          <a:bodyPr wrap="square" lIns="0" tIns="0" rIns="0" bIns="0" rtlCol="0" anchor="t"/>
          <a:lstStyle/>
          <a:p>
            <a:pPr marL="0" indent="0">
              <a:buNone/>
            </a:pPr>
            <a:r>
              <a:rPr lang="en-US" sz="1000">
                <a:solidFill>
                  <a:srgbClr val="475569"/>
                </a:solidFill>
                <a:latin typeface="Calibri" pitchFamily="34" charset="0"/>
                <a:ea typeface="Calibri" pitchFamily="34" charset="-122"/>
                <a:cs typeface="Calibri" pitchFamily="34" charset="-120"/>
              </a:rPr>
              <a:t>Events retained in Elasticsearch for forensic review, detection gap analysis, and legal evidence.</a:t>
            </a:r>
            <a:endParaRPr lang="en-US" sz="1000"/>
          </a:p>
        </p:txBody>
      </p:sp>
      <p:sp>
        <p:nvSpPr>
          <p:cNvPr id="41" name="Text 33"/>
          <p:cNvSpPr/>
          <p:nvPr/>
        </p:nvSpPr>
        <p:spPr>
          <a:xfrm>
            <a:off x="640080" y="6080760"/>
            <a:ext cx="10911535" cy="274320"/>
          </a:xfrm>
          <a:prstGeom prst="rect">
            <a:avLst/>
          </a:prstGeom>
          <a:noFill/>
          <a:ln/>
        </p:spPr>
        <p:txBody>
          <a:bodyPr wrap="square" rtlCol="0" anchor="ctr"/>
          <a:lstStyle/>
          <a:p>
            <a:pPr marL="0" indent="0" algn="ctr">
              <a:buNone/>
            </a:pPr>
            <a:r>
              <a:rPr lang="en-US" sz="1000" i="1">
                <a:solidFill>
                  <a:srgbClr val="94A3B8"/>
                </a:solidFill>
                <a:latin typeface="Calibri" pitchFamily="34" charset="0"/>
                <a:ea typeface="Calibri" pitchFamily="34" charset="-122"/>
                <a:cs typeface="Calibri" pitchFamily="34" charset="-120"/>
              </a:rPr>
              <a:t>Source: NIST Special Publication 800-61 Revision 2 — Computer Security Incident Handling Guide</a:t>
            </a:r>
            <a:endParaRPr lang="en-US" sz="1000"/>
          </a:p>
        </p:txBody>
      </p:sp>
      <p:sp>
        <p:nvSpPr>
          <p:cNvPr id="42" name="Text 34"/>
          <p:cNvSpPr/>
          <p:nvPr/>
        </p:nvSpPr>
        <p:spPr>
          <a:xfrm>
            <a:off x="365760" y="6537960"/>
            <a:ext cx="4572000" cy="228600"/>
          </a:xfrm>
          <a:prstGeom prst="rect">
            <a:avLst/>
          </a:prstGeom>
          <a:noFill/>
          <a:ln/>
        </p:spPr>
        <p:txBody>
          <a:bodyPr wrap="square" lIns="0" tIns="0" rIns="0" bIns="0" rtlCol="0" anchor="ctr"/>
          <a:lstStyle/>
          <a:p>
            <a:pPr marL="0" indent="0" algn="l">
              <a:buNone/>
            </a:pPr>
            <a:r>
              <a:rPr lang="en-US" sz="900">
                <a:solidFill>
                  <a:srgbClr val="94A3B8"/>
                </a:solidFill>
                <a:latin typeface="Calibri" pitchFamily="34" charset="0"/>
                <a:ea typeface="Calibri" pitchFamily="34" charset="-122"/>
                <a:cs typeface="Calibri" pitchFamily="34" charset="-120"/>
              </a:rPr>
              <a:t>Incident Handling Lab  |  Elastic SIEM</a:t>
            </a:r>
            <a:endParaRPr lang="en-US" sz="900"/>
          </a:p>
        </p:txBody>
      </p:sp>
      <p:sp>
        <p:nvSpPr>
          <p:cNvPr id="43" name="Text 35"/>
          <p:cNvSpPr/>
          <p:nvPr/>
        </p:nvSpPr>
        <p:spPr>
          <a:xfrm>
            <a:off x="11094415" y="6537960"/>
            <a:ext cx="914400" cy="228600"/>
          </a:xfrm>
          <a:prstGeom prst="rect">
            <a:avLst/>
          </a:prstGeom>
          <a:noFill/>
          <a:ln/>
        </p:spPr>
        <p:txBody>
          <a:bodyPr wrap="square" lIns="0" tIns="0" rIns="0" bIns="0" rtlCol="0" anchor="ctr"/>
          <a:lstStyle/>
          <a:p>
            <a:pPr marL="0" indent="0" algn="r">
              <a:buNone/>
            </a:pPr>
            <a:r>
              <a:rPr lang="en-US" sz="900">
                <a:solidFill>
                  <a:srgbClr val="94A3B8"/>
                </a:solidFill>
                <a:latin typeface="Calibri" pitchFamily="34" charset="0"/>
                <a:ea typeface="Calibri" pitchFamily="34" charset="-122"/>
                <a:cs typeface="Calibri" pitchFamily="34" charset="-120"/>
              </a:rPr>
              <a:t>5 / 29</a:t>
            </a:r>
            <a:endParaRPr lang="en-US" sz="9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65760" y="457200"/>
            <a:ext cx="109728" cy="731520"/>
          </a:xfrm>
          <a:prstGeom prst="rect">
            <a:avLst/>
          </a:prstGeom>
          <a:solidFill>
            <a:srgbClr val="00D9FF"/>
          </a:solidFill>
          <a:ln/>
        </p:spPr>
        <p:txBody>
          <a:bodyPr/>
          <a:lstStyle/>
          <a:p>
            <a:endParaRPr lang="en-US"/>
          </a:p>
        </p:txBody>
      </p:sp>
      <p:sp>
        <p:nvSpPr>
          <p:cNvPr id="3" name="Text 1"/>
          <p:cNvSpPr/>
          <p:nvPr/>
        </p:nvSpPr>
        <p:spPr>
          <a:xfrm>
            <a:off x="640080" y="411480"/>
            <a:ext cx="10515600" cy="502920"/>
          </a:xfrm>
          <a:prstGeom prst="rect">
            <a:avLst/>
          </a:prstGeom>
          <a:noFill/>
          <a:ln/>
        </p:spPr>
        <p:txBody>
          <a:bodyPr wrap="square" lIns="0" tIns="0" rIns="0" bIns="0" rtlCol="0" anchor="t"/>
          <a:lstStyle/>
          <a:p>
            <a:pPr marL="0" indent="0">
              <a:buNone/>
            </a:pPr>
            <a:r>
              <a:rPr lang="en-US" sz="2800" b="1">
                <a:solidFill>
                  <a:srgbClr val="0F172A"/>
                </a:solidFill>
                <a:latin typeface="Calibri" pitchFamily="34" charset="0"/>
                <a:ea typeface="Calibri" pitchFamily="34" charset="-122"/>
                <a:cs typeface="Calibri" pitchFamily="34" charset="-120"/>
              </a:rPr>
              <a:t>Lab Architecture — The Big Picture</a:t>
            </a:r>
            <a:endParaRPr lang="en-US" sz="2800"/>
          </a:p>
        </p:txBody>
      </p:sp>
      <p:sp>
        <p:nvSpPr>
          <p:cNvPr id="4" name="Text 2"/>
          <p:cNvSpPr/>
          <p:nvPr/>
        </p:nvSpPr>
        <p:spPr>
          <a:xfrm>
            <a:off x="640080" y="868680"/>
            <a:ext cx="10515600" cy="320040"/>
          </a:xfrm>
          <a:prstGeom prst="rect">
            <a:avLst/>
          </a:prstGeom>
          <a:noFill/>
          <a:ln/>
        </p:spPr>
        <p:txBody>
          <a:bodyPr wrap="square" lIns="0" tIns="0" rIns="0" bIns="0" rtlCol="0" anchor="t"/>
          <a:lstStyle/>
          <a:p>
            <a:pPr marL="0" indent="0">
              <a:buNone/>
            </a:pPr>
            <a:r>
              <a:rPr lang="en-US" sz="1300" i="1">
                <a:solidFill>
                  <a:srgbClr val="475569"/>
                </a:solidFill>
                <a:latin typeface="Calibri" pitchFamily="34" charset="0"/>
                <a:ea typeface="Calibri" pitchFamily="34" charset="-122"/>
                <a:cs typeface="Calibri" pitchFamily="34" charset="-120"/>
              </a:rPr>
              <a:t>Four virtual machines on a private host-only network</a:t>
            </a:r>
            <a:endParaRPr lang="en-US" sz="1300"/>
          </a:p>
        </p:txBody>
      </p:sp>
      <p:pic>
        <p:nvPicPr>
          <p:cNvPr id="5" name="Image 0" descr="/home/claude/report/architecture.png"/>
          <p:cNvPicPr>
            <a:picLocks noChangeAspect="1"/>
          </p:cNvPicPr>
          <p:nvPr/>
        </p:nvPicPr>
        <p:blipFill>
          <a:blip r:embed="rId3"/>
          <a:srcRect/>
          <a:stretch/>
        </p:blipFill>
        <p:spPr>
          <a:xfrm>
            <a:off x="640080" y="1325880"/>
            <a:ext cx="10881360" cy="5029200"/>
          </a:xfrm>
          <a:prstGeom prst="rect">
            <a:avLst/>
          </a:prstGeom>
        </p:spPr>
      </p:pic>
      <p:sp>
        <p:nvSpPr>
          <p:cNvPr id="6" name="Text 3"/>
          <p:cNvSpPr/>
          <p:nvPr/>
        </p:nvSpPr>
        <p:spPr>
          <a:xfrm>
            <a:off x="365760" y="6537960"/>
            <a:ext cx="4572000" cy="228600"/>
          </a:xfrm>
          <a:prstGeom prst="rect">
            <a:avLst/>
          </a:prstGeom>
          <a:noFill/>
          <a:ln/>
        </p:spPr>
        <p:txBody>
          <a:bodyPr wrap="square" lIns="0" tIns="0" rIns="0" bIns="0" rtlCol="0" anchor="ctr"/>
          <a:lstStyle/>
          <a:p>
            <a:pPr marL="0" indent="0" algn="l">
              <a:buNone/>
            </a:pPr>
            <a:r>
              <a:rPr lang="en-US" sz="900">
                <a:solidFill>
                  <a:srgbClr val="94A3B8"/>
                </a:solidFill>
                <a:latin typeface="Calibri" pitchFamily="34" charset="0"/>
                <a:ea typeface="Calibri" pitchFamily="34" charset="-122"/>
                <a:cs typeface="Calibri" pitchFamily="34" charset="-120"/>
              </a:rPr>
              <a:t>Incident Handling Lab  |  Elastic SIEM</a:t>
            </a:r>
            <a:endParaRPr lang="en-US" sz="900"/>
          </a:p>
        </p:txBody>
      </p:sp>
      <p:sp>
        <p:nvSpPr>
          <p:cNvPr id="7" name="Text 4"/>
          <p:cNvSpPr/>
          <p:nvPr/>
        </p:nvSpPr>
        <p:spPr>
          <a:xfrm>
            <a:off x="11094415" y="6537960"/>
            <a:ext cx="914400" cy="228600"/>
          </a:xfrm>
          <a:prstGeom prst="rect">
            <a:avLst/>
          </a:prstGeom>
          <a:noFill/>
          <a:ln/>
        </p:spPr>
        <p:txBody>
          <a:bodyPr wrap="square" lIns="0" tIns="0" rIns="0" bIns="0" rtlCol="0" anchor="ctr"/>
          <a:lstStyle/>
          <a:p>
            <a:pPr marL="0" indent="0" algn="r">
              <a:buNone/>
            </a:pPr>
            <a:r>
              <a:rPr lang="en-US" sz="900">
                <a:solidFill>
                  <a:srgbClr val="94A3B8"/>
                </a:solidFill>
                <a:latin typeface="Calibri" pitchFamily="34" charset="0"/>
                <a:ea typeface="Calibri" pitchFamily="34" charset="-122"/>
                <a:cs typeface="Calibri" pitchFamily="34" charset="-120"/>
              </a:rPr>
              <a:t>6 / 29</a:t>
            </a:r>
            <a:endParaRPr lang="en-US" sz="9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65760" y="457200"/>
            <a:ext cx="109728" cy="731520"/>
          </a:xfrm>
          <a:prstGeom prst="rect">
            <a:avLst/>
          </a:prstGeom>
          <a:solidFill>
            <a:srgbClr val="00D9FF"/>
          </a:solidFill>
          <a:ln/>
        </p:spPr>
        <p:txBody>
          <a:bodyPr/>
          <a:lstStyle/>
          <a:p>
            <a:endParaRPr lang="en-US"/>
          </a:p>
        </p:txBody>
      </p:sp>
      <p:sp>
        <p:nvSpPr>
          <p:cNvPr id="3" name="Text 1"/>
          <p:cNvSpPr/>
          <p:nvPr/>
        </p:nvSpPr>
        <p:spPr>
          <a:xfrm>
            <a:off x="640080" y="411480"/>
            <a:ext cx="10515600" cy="502920"/>
          </a:xfrm>
          <a:prstGeom prst="rect">
            <a:avLst/>
          </a:prstGeom>
          <a:noFill/>
          <a:ln/>
        </p:spPr>
        <p:txBody>
          <a:bodyPr wrap="square" lIns="0" tIns="0" rIns="0" bIns="0" rtlCol="0" anchor="t"/>
          <a:lstStyle/>
          <a:p>
            <a:pPr marL="0" indent="0">
              <a:buNone/>
            </a:pPr>
            <a:r>
              <a:rPr lang="en-US" sz="2800" b="1">
                <a:solidFill>
                  <a:srgbClr val="0F172A"/>
                </a:solidFill>
                <a:latin typeface="Calibri" pitchFamily="34" charset="0"/>
                <a:ea typeface="Calibri" pitchFamily="34" charset="-122"/>
                <a:cs typeface="Calibri" pitchFamily="34" charset="-120"/>
              </a:rPr>
              <a:t>Data Pipeline — Source to Analyst</a:t>
            </a:r>
            <a:endParaRPr lang="en-US" sz="2800"/>
          </a:p>
        </p:txBody>
      </p:sp>
      <p:sp>
        <p:nvSpPr>
          <p:cNvPr id="4" name="Text 2"/>
          <p:cNvSpPr/>
          <p:nvPr/>
        </p:nvSpPr>
        <p:spPr>
          <a:xfrm>
            <a:off x="640080" y="868680"/>
            <a:ext cx="10515600" cy="320040"/>
          </a:xfrm>
          <a:prstGeom prst="rect">
            <a:avLst/>
          </a:prstGeom>
          <a:noFill/>
          <a:ln/>
        </p:spPr>
        <p:txBody>
          <a:bodyPr wrap="square" lIns="0" tIns="0" rIns="0" bIns="0" rtlCol="0" anchor="t"/>
          <a:lstStyle/>
          <a:p>
            <a:pPr marL="0" indent="0">
              <a:buNone/>
            </a:pPr>
            <a:r>
              <a:rPr lang="en-US" sz="1300" i="1">
                <a:solidFill>
                  <a:srgbClr val="475569"/>
                </a:solidFill>
                <a:latin typeface="Calibri" pitchFamily="34" charset="0"/>
                <a:ea typeface="Calibri" pitchFamily="34" charset="-122"/>
                <a:cs typeface="Calibri" pitchFamily="34" charset="-120"/>
              </a:rPr>
              <a:t>How a single endpoint event becomes a searchable alert</a:t>
            </a:r>
          </a:p>
          <a:p>
            <a:r>
              <a:rPr lang="en-US" sz="1050" i="1">
                <a:solidFill>
                  <a:srgbClr val="555555"/>
                </a:solidFill>
                <a:highlight>
                  <a:srgbClr val="FFFFFF"/>
                </a:highlight>
                <a:latin typeface="Times New Roman"/>
                <a:ea typeface="Calibri"/>
                <a:cs typeface="Times New Roman"/>
              </a:rPr>
              <a:t>Complete data pipeline from OS event generation through Elastic Agent, Fleet Server, Elasticsearch, and into Kibana with alerting to Microsoft Teams</a:t>
            </a:r>
            <a:endParaRPr lang="en-US" sz="1050">
              <a:solidFill>
                <a:srgbClr val="555555"/>
              </a:solidFill>
              <a:highlight>
                <a:srgbClr val="FFFFFF"/>
              </a:highlight>
              <a:latin typeface="Times New Roman"/>
              <a:ea typeface="Calibri"/>
              <a:cs typeface="Times New Roman"/>
            </a:endParaRPr>
          </a:p>
        </p:txBody>
      </p:sp>
      <p:pic>
        <p:nvPicPr>
          <p:cNvPr id="5" name="Image 0" descr="/home/claude/report/pipeline.png"/>
          <p:cNvPicPr>
            <a:picLocks noChangeAspect="1"/>
          </p:cNvPicPr>
          <p:nvPr/>
        </p:nvPicPr>
        <p:blipFill>
          <a:blip r:embed="rId3"/>
          <a:srcRect/>
          <a:stretch/>
        </p:blipFill>
        <p:spPr>
          <a:xfrm>
            <a:off x="821055" y="1325659"/>
            <a:ext cx="10907941" cy="3330471"/>
          </a:xfrm>
          <a:prstGeom prst="rect">
            <a:avLst/>
          </a:prstGeom>
        </p:spPr>
      </p:pic>
      <p:sp>
        <p:nvSpPr>
          <p:cNvPr id="6" name="Shape 3"/>
          <p:cNvSpPr/>
          <p:nvPr/>
        </p:nvSpPr>
        <p:spPr>
          <a:xfrm>
            <a:off x="640080" y="4663440"/>
            <a:ext cx="2176272" cy="1554480"/>
          </a:xfrm>
          <a:prstGeom prst="rect">
            <a:avLst/>
          </a:prstGeom>
          <a:solidFill>
            <a:srgbClr val="F7F9FC"/>
          </a:solidFill>
          <a:ln w="6350">
            <a:solidFill>
              <a:srgbClr val="E2E8F0"/>
            </a:solidFill>
            <a:prstDash val="solid"/>
          </a:ln>
        </p:spPr>
        <p:txBody>
          <a:bodyPr/>
          <a:lstStyle/>
          <a:p>
            <a:endParaRPr lang="en-US"/>
          </a:p>
        </p:txBody>
      </p:sp>
      <p:sp>
        <p:nvSpPr>
          <p:cNvPr id="7" name="Shape 4"/>
          <p:cNvSpPr/>
          <p:nvPr/>
        </p:nvSpPr>
        <p:spPr>
          <a:xfrm>
            <a:off x="822960" y="4846320"/>
            <a:ext cx="502920" cy="502920"/>
          </a:xfrm>
          <a:prstGeom prst="ellipse">
            <a:avLst/>
          </a:prstGeom>
          <a:solidFill>
            <a:srgbClr val="EF4444"/>
          </a:solidFill>
          <a:ln/>
        </p:spPr>
        <p:txBody>
          <a:bodyPr/>
          <a:lstStyle/>
          <a:p>
            <a:endParaRPr lang="en-US"/>
          </a:p>
        </p:txBody>
      </p:sp>
      <p:sp>
        <p:nvSpPr>
          <p:cNvPr id="8" name="Text 5"/>
          <p:cNvSpPr/>
          <p:nvPr/>
        </p:nvSpPr>
        <p:spPr>
          <a:xfrm>
            <a:off x="822960" y="4846320"/>
            <a:ext cx="502920" cy="502920"/>
          </a:xfrm>
          <a:prstGeom prst="rect">
            <a:avLst/>
          </a:prstGeom>
          <a:noFill/>
          <a:ln/>
        </p:spPr>
        <p:txBody>
          <a:bodyPr wrap="square" lIns="0" tIns="0" rIns="0" bIns="0" rtlCol="0" anchor="ctr"/>
          <a:lstStyle/>
          <a:p>
            <a:pPr marL="0" indent="0" algn="ctr">
              <a:buNone/>
            </a:pPr>
            <a:r>
              <a:rPr lang="en-US" sz="1800" b="1">
                <a:solidFill>
                  <a:srgbClr val="FFFFFF"/>
                </a:solidFill>
                <a:latin typeface="Calibri" pitchFamily="34" charset="0"/>
                <a:ea typeface="Calibri" pitchFamily="34" charset="-122"/>
                <a:cs typeface="Calibri" pitchFamily="34" charset="-120"/>
              </a:rPr>
              <a:t>1</a:t>
            </a:r>
            <a:endParaRPr lang="en-US" sz="1800"/>
          </a:p>
        </p:txBody>
      </p:sp>
      <p:sp>
        <p:nvSpPr>
          <p:cNvPr id="9" name="Text 6"/>
          <p:cNvSpPr/>
          <p:nvPr/>
        </p:nvSpPr>
        <p:spPr>
          <a:xfrm>
            <a:off x="1463040" y="4892040"/>
            <a:ext cx="1261872" cy="365760"/>
          </a:xfrm>
          <a:prstGeom prst="rect">
            <a:avLst/>
          </a:prstGeom>
          <a:noFill/>
          <a:ln/>
        </p:spPr>
        <p:txBody>
          <a:bodyPr wrap="square" lIns="0" tIns="0" rIns="0" bIns="0" rtlCol="0" anchor="ctr"/>
          <a:lstStyle/>
          <a:p>
            <a:pPr marL="0" indent="0">
              <a:buNone/>
            </a:pPr>
            <a:r>
              <a:rPr lang="en-US" sz="1150" b="1">
                <a:solidFill>
                  <a:srgbClr val="0F172A"/>
                </a:solidFill>
                <a:latin typeface="Calibri" pitchFamily="34" charset="0"/>
                <a:ea typeface="Calibri" pitchFamily="34" charset="-122"/>
                <a:cs typeface="Calibri" pitchFamily="34" charset="-120"/>
              </a:rPr>
              <a:t>OS generates</a:t>
            </a:r>
            <a:endParaRPr lang="en-US" sz="1150"/>
          </a:p>
        </p:txBody>
      </p:sp>
      <p:sp>
        <p:nvSpPr>
          <p:cNvPr id="10" name="Text 7"/>
          <p:cNvSpPr/>
          <p:nvPr/>
        </p:nvSpPr>
        <p:spPr>
          <a:xfrm>
            <a:off x="822960" y="5440680"/>
            <a:ext cx="1810512" cy="685800"/>
          </a:xfrm>
          <a:prstGeom prst="rect">
            <a:avLst/>
          </a:prstGeom>
          <a:noFill/>
          <a:ln/>
        </p:spPr>
        <p:txBody>
          <a:bodyPr wrap="square" lIns="0" tIns="0" rIns="0" bIns="0" rtlCol="0" anchor="t"/>
          <a:lstStyle/>
          <a:p>
            <a:pPr marL="0" indent="0">
              <a:buNone/>
            </a:pPr>
            <a:r>
              <a:rPr lang="en-US" sz="950">
                <a:solidFill>
                  <a:srgbClr val="475569"/>
                </a:solidFill>
                <a:latin typeface="Calibri" pitchFamily="34" charset="0"/>
                <a:ea typeface="Calibri" pitchFamily="34" charset="-122"/>
                <a:cs typeface="Calibri" pitchFamily="34" charset="-120"/>
              </a:rPr>
              <a:t>Failed SSH / Failed RDP / File modified</a:t>
            </a:r>
            <a:endParaRPr lang="en-US" sz="950"/>
          </a:p>
        </p:txBody>
      </p:sp>
      <p:sp>
        <p:nvSpPr>
          <p:cNvPr id="11" name="Shape 8"/>
          <p:cNvSpPr/>
          <p:nvPr/>
        </p:nvSpPr>
        <p:spPr>
          <a:xfrm>
            <a:off x="2926080" y="4663440"/>
            <a:ext cx="2176272" cy="1554480"/>
          </a:xfrm>
          <a:prstGeom prst="rect">
            <a:avLst/>
          </a:prstGeom>
          <a:solidFill>
            <a:srgbClr val="F7F9FC"/>
          </a:solidFill>
          <a:ln w="6350">
            <a:solidFill>
              <a:srgbClr val="E2E8F0"/>
            </a:solidFill>
            <a:prstDash val="solid"/>
          </a:ln>
        </p:spPr>
        <p:txBody>
          <a:bodyPr/>
          <a:lstStyle/>
          <a:p>
            <a:endParaRPr lang="en-US"/>
          </a:p>
        </p:txBody>
      </p:sp>
      <p:sp>
        <p:nvSpPr>
          <p:cNvPr id="12" name="Shape 9"/>
          <p:cNvSpPr/>
          <p:nvPr/>
        </p:nvSpPr>
        <p:spPr>
          <a:xfrm>
            <a:off x="3108960" y="4846320"/>
            <a:ext cx="502920" cy="502920"/>
          </a:xfrm>
          <a:prstGeom prst="ellipse">
            <a:avLst/>
          </a:prstGeom>
          <a:solidFill>
            <a:srgbClr val="00D9FF"/>
          </a:solidFill>
          <a:ln/>
        </p:spPr>
        <p:txBody>
          <a:bodyPr/>
          <a:lstStyle/>
          <a:p>
            <a:endParaRPr lang="en-US"/>
          </a:p>
        </p:txBody>
      </p:sp>
      <p:sp>
        <p:nvSpPr>
          <p:cNvPr id="13" name="Text 10"/>
          <p:cNvSpPr/>
          <p:nvPr/>
        </p:nvSpPr>
        <p:spPr>
          <a:xfrm>
            <a:off x="3108960" y="4846320"/>
            <a:ext cx="502920" cy="502920"/>
          </a:xfrm>
          <a:prstGeom prst="rect">
            <a:avLst/>
          </a:prstGeom>
          <a:noFill/>
          <a:ln/>
        </p:spPr>
        <p:txBody>
          <a:bodyPr wrap="square" lIns="0" tIns="0" rIns="0" bIns="0" rtlCol="0" anchor="ctr"/>
          <a:lstStyle/>
          <a:p>
            <a:pPr marL="0" indent="0" algn="ctr">
              <a:buNone/>
            </a:pPr>
            <a:r>
              <a:rPr lang="en-US" sz="1800" b="1">
                <a:solidFill>
                  <a:srgbClr val="FFFFFF"/>
                </a:solidFill>
                <a:latin typeface="Calibri" pitchFamily="34" charset="0"/>
                <a:ea typeface="Calibri" pitchFamily="34" charset="-122"/>
                <a:cs typeface="Calibri" pitchFamily="34" charset="-120"/>
              </a:rPr>
              <a:t>2</a:t>
            </a:r>
            <a:endParaRPr lang="en-US" sz="1800"/>
          </a:p>
        </p:txBody>
      </p:sp>
      <p:sp>
        <p:nvSpPr>
          <p:cNvPr id="14" name="Text 11"/>
          <p:cNvSpPr/>
          <p:nvPr/>
        </p:nvSpPr>
        <p:spPr>
          <a:xfrm>
            <a:off x="3749040" y="4892040"/>
            <a:ext cx="1261872" cy="365760"/>
          </a:xfrm>
          <a:prstGeom prst="rect">
            <a:avLst/>
          </a:prstGeom>
          <a:noFill/>
          <a:ln/>
        </p:spPr>
        <p:txBody>
          <a:bodyPr wrap="square" lIns="0" tIns="0" rIns="0" bIns="0" rtlCol="0" anchor="ctr"/>
          <a:lstStyle/>
          <a:p>
            <a:pPr marL="0" indent="0">
              <a:buNone/>
            </a:pPr>
            <a:r>
              <a:rPr lang="en-US" sz="1150" b="1">
                <a:solidFill>
                  <a:srgbClr val="0F172A"/>
                </a:solidFill>
                <a:latin typeface="Calibri" pitchFamily="34" charset="0"/>
                <a:ea typeface="Calibri" pitchFamily="34" charset="-122"/>
                <a:cs typeface="Calibri" pitchFamily="34" charset="-120"/>
              </a:rPr>
              <a:t>Agent collects</a:t>
            </a:r>
            <a:endParaRPr lang="en-US" sz="1150"/>
          </a:p>
        </p:txBody>
      </p:sp>
      <p:sp>
        <p:nvSpPr>
          <p:cNvPr id="15" name="Text 12"/>
          <p:cNvSpPr/>
          <p:nvPr/>
        </p:nvSpPr>
        <p:spPr>
          <a:xfrm>
            <a:off x="3108960" y="5440680"/>
            <a:ext cx="1810512" cy="685800"/>
          </a:xfrm>
          <a:prstGeom prst="rect">
            <a:avLst/>
          </a:prstGeom>
          <a:noFill/>
          <a:ln/>
        </p:spPr>
        <p:txBody>
          <a:bodyPr wrap="square" lIns="0" tIns="0" rIns="0" bIns="0" rtlCol="0" anchor="t"/>
          <a:lstStyle/>
          <a:p>
            <a:pPr marL="0" indent="0">
              <a:buNone/>
            </a:pPr>
            <a:r>
              <a:rPr lang="en-US" sz="950">
                <a:solidFill>
                  <a:srgbClr val="475569"/>
                </a:solidFill>
                <a:latin typeface="Calibri" pitchFamily="34" charset="0"/>
                <a:ea typeface="Calibri" pitchFamily="34" charset="-122"/>
                <a:cs typeface="Calibri" pitchFamily="34" charset="-120"/>
              </a:rPr>
              <a:t>Reads local logs; formats to ECS; ships over HTTPS</a:t>
            </a:r>
            <a:endParaRPr lang="en-US" sz="950"/>
          </a:p>
        </p:txBody>
      </p:sp>
      <p:sp>
        <p:nvSpPr>
          <p:cNvPr id="16" name="Shape 13"/>
          <p:cNvSpPr/>
          <p:nvPr/>
        </p:nvSpPr>
        <p:spPr>
          <a:xfrm>
            <a:off x="5212080" y="4663440"/>
            <a:ext cx="2176272" cy="1554480"/>
          </a:xfrm>
          <a:prstGeom prst="rect">
            <a:avLst/>
          </a:prstGeom>
          <a:solidFill>
            <a:srgbClr val="F7F9FC"/>
          </a:solidFill>
          <a:ln w="6350">
            <a:solidFill>
              <a:srgbClr val="E2E8F0"/>
            </a:solidFill>
            <a:prstDash val="solid"/>
          </a:ln>
        </p:spPr>
        <p:txBody>
          <a:bodyPr/>
          <a:lstStyle/>
          <a:p>
            <a:endParaRPr lang="en-US"/>
          </a:p>
        </p:txBody>
      </p:sp>
      <p:sp>
        <p:nvSpPr>
          <p:cNvPr id="17" name="Shape 14"/>
          <p:cNvSpPr/>
          <p:nvPr/>
        </p:nvSpPr>
        <p:spPr>
          <a:xfrm>
            <a:off x="5394960" y="4846320"/>
            <a:ext cx="502920" cy="502920"/>
          </a:xfrm>
          <a:prstGeom prst="ellipse">
            <a:avLst/>
          </a:prstGeom>
          <a:solidFill>
            <a:srgbClr val="A78BFA"/>
          </a:solidFill>
          <a:ln/>
        </p:spPr>
        <p:txBody>
          <a:bodyPr/>
          <a:lstStyle/>
          <a:p>
            <a:endParaRPr lang="en-US"/>
          </a:p>
        </p:txBody>
      </p:sp>
      <p:sp>
        <p:nvSpPr>
          <p:cNvPr id="18" name="Text 15"/>
          <p:cNvSpPr/>
          <p:nvPr/>
        </p:nvSpPr>
        <p:spPr>
          <a:xfrm>
            <a:off x="5394960" y="4846320"/>
            <a:ext cx="502920" cy="502920"/>
          </a:xfrm>
          <a:prstGeom prst="rect">
            <a:avLst/>
          </a:prstGeom>
          <a:noFill/>
          <a:ln/>
        </p:spPr>
        <p:txBody>
          <a:bodyPr wrap="square" lIns="0" tIns="0" rIns="0" bIns="0" rtlCol="0" anchor="ctr"/>
          <a:lstStyle/>
          <a:p>
            <a:pPr marL="0" indent="0" algn="ctr">
              <a:buNone/>
            </a:pPr>
            <a:r>
              <a:rPr lang="en-US" sz="1800" b="1">
                <a:solidFill>
                  <a:srgbClr val="FFFFFF"/>
                </a:solidFill>
                <a:latin typeface="Calibri" pitchFamily="34" charset="0"/>
                <a:ea typeface="Calibri" pitchFamily="34" charset="-122"/>
                <a:cs typeface="Calibri" pitchFamily="34" charset="-120"/>
              </a:rPr>
              <a:t>3</a:t>
            </a:r>
            <a:endParaRPr lang="en-US" sz="1800"/>
          </a:p>
        </p:txBody>
      </p:sp>
      <p:sp>
        <p:nvSpPr>
          <p:cNvPr id="19" name="Text 16"/>
          <p:cNvSpPr/>
          <p:nvPr/>
        </p:nvSpPr>
        <p:spPr>
          <a:xfrm>
            <a:off x="6035040" y="4892040"/>
            <a:ext cx="1261872" cy="365760"/>
          </a:xfrm>
          <a:prstGeom prst="rect">
            <a:avLst/>
          </a:prstGeom>
          <a:noFill/>
          <a:ln/>
        </p:spPr>
        <p:txBody>
          <a:bodyPr wrap="square" lIns="0" tIns="0" rIns="0" bIns="0" rtlCol="0" anchor="ctr"/>
          <a:lstStyle/>
          <a:p>
            <a:pPr marL="0" indent="0">
              <a:buNone/>
            </a:pPr>
            <a:r>
              <a:rPr lang="en-US" sz="1150" b="1">
                <a:solidFill>
                  <a:srgbClr val="0F172A"/>
                </a:solidFill>
                <a:latin typeface="Calibri" pitchFamily="34" charset="0"/>
                <a:ea typeface="Calibri" pitchFamily="34" charset="-122"/>
                <a:cs typeface="Calibri" pitchFamily="34" charset="-120"/>
              </a:rPr>
              <a:t>Fleet routes</a:t>
            </a:r>
            <a:endParaRPr lang="en-US" sz="1150"/>
          </a:p>
        </p:txBody>
      </p:sp>
      <p:sp>
        <p:nvSpPr>
          <p:cNvPr id="20" name="Text 17"/>
          <p:cNvSpPr/>
          <p:nvPr/>
        </p:nvSpPr>
        <p:spPr>
          <a:xfrm>
            <a:off x="5394960" y="5440680"/>
            <a:ext cx="1810512" cy="685800"/>
          </a:xfrm>
          <a:prstGeom prst="rect">
            <a:avLst/>
          </a:prstGeom>
          <a:noFill/>
          <a:ln/>
        </p:spPr>
        <p:txBody>
          <a:bodyPr wrap="square" lIns="0" tIns="0" rIns="0" bIns="0" rtlCol="0" anchor="t"/>
          <a:lstStyle/>
          <a:p>
            <a:pPr marL="0" indent="0">
              <a:buNone/>
            </a:pPr>
            <a:r>
              <a:rPr lang="en-US" sz="950">
                <a:solidFill>
                  <a:srgbClr val="475569"/>
                </a:solidFill>
                <a:latin typeface="Calibri" pitchFamily="34" charset="0"/>
                <a:ea typeface="Calibri" pitchFamily="34" charset="-122"/>
                <a:cs typeface="Calibri" pitchFamily="34" charset="-120"/>
              </a:rPr>
              <a:t>Receives from all enrolled agents; forwards to ES</a:t>
            </a:r>
            <a:endParaRPr lang="en-US" sz="950"/>
          </a:p>
        </p:txBody>
      </p:sp>
      <p:sp>
        <p:nvSpPr>
          <p:cNvPr id="21" name="Shape 18"/>
          <p:cNvSpPr/>
          <p:nvPr/>
        </p:nvSpPr>
        <p:spPr>
          <a:xfrm>
            <a:off x="7498080" y="4663440"/>
            <a:ext cx="2176272" cy="1554480"/>
          </a:xfrm>
          <a:prstGeom prst="rect">
            <a:avLst/>
          </a:prstGeom>
          <a:solidFill>
            <a:srgbClr val="F7F9FC"/>
          </a:solidFill>
          <a:ln w="6350">
            <a:solidFill>
              <a:srgbClr val="E2E8F0"/>
            </a:solidFill>
            <a:prstDash val="solid"/>
          </a:ln>
        </p:spPr>
        <p:txBody>
          <a:bodyPr/>
          <a:lstStyle/>
          <a:p>
            <a:endParaRPr lang="en-US"/>
          </a:p>
        </p:txBody>
      </p:sp>
      <p:sp>
        <p:nvSpPr>
          <p:cNvPr id="22" name="Shape 19"/>
          <p:cNvSpPr/>
          <p:nvPr/>
        </p:nvSpPr>
        <p:spPr>
          <a:xfrm>
            <a:off x="7680960" y="4846320"/>
            <a:ext cx="502920" cy="502920"/>
          </a:xfrm>
          <a:prstGeom prst="ellipse">
            <a:avLst/>
          </a:prstGeom>
          <a:solidFill>
            <a:srgbClr val="F59E0B"/>
          </a:solidFill>
          <a:ln/>
        </p:spPr>
        <p:txBody>
          <a:bodyPr/>
          <a:lstStyle/>
          <a:p>
            <a:endParaRPr lang="en-US"/>
          </a:p>
        </p:txBody>
      </p:sp>
      <p:sp>
        <p:nvSpPr>
          <p:cNvPr id="23" name="Text 20"/>
          <p:cNvSpPr/>
          <p:nvPr/>
        </p:nvSpPr>
        <p:spPr>
          <a:xfrm>
            <a:off x="7680960" y="4846320"/>
            <a:ext cx="502920" cy="502920"/>
          </a:xfrm>
          <a:prstGeom prst="rect">
            <a:avLst/>
          </a:prstGeom>
          <a:noFill/>
          <a:ln/>
        </p:spPr>
        <p:txBody>
          <a:bodyPr wrap="square" lIns="0" tIns="0" rIns="0" bIns="0" rtlCol="0" anchor="ctr"/>
          <a:lstStyle/>
          <a:p>
            <a:pPr marL="0" indent="0" algn="ctr">
              <a:buNone/>
            </a:pPr>
            <a:r>
              <a:rPr lang="en-US" sz="1800" b="1">
                <a:solidFill>
                  <a:srgbClr val="FFFFFF"/>
                </a:solidFill>
                <a:latin typeface="Calibri" pitchFamily="34" charset="0"/>
                <a:ea typeface="Calibri" pitchFamily="34" charset="-122"/>
                <a:cs typeface="Calibri" pitchFamily="34" charset="-120"/>
              </a:rPr>
              <a:t>4</a:t>
            </a:r>
            <a:endParaRPr lang="en-US" sz="1800"/>
          </a:p>
        </p:txBody>
      </p:sp>
      <p:sp>
        <p:nvSpPr>
          <p:cNvPr id="24" name="Text 21"/>
          <p:cNvSpPr/>
          <p:nvPr/>
        </p:nvSpPr>
        <p:spPr>
          <a:xfrm>
            <a:off x="8321040" y="4892040"/>
            <a:ext cx="1261872" cy="365760"/>
          </a:xfrm>
          <a:prstGeom prst="rect">
            <a:avLst/>
          </a:prstGeom>
          <a:noFill/>
          <a:ln/>
        </p:spPr>
        <p:txBody>
          <a:bodyPr wrap="square" lIns="0" tIns="0" rIns="0" bIns="0" rtlCol="0" anchor="ctr"/>
          <a:lstStyle/>
          <a:p>
            <a:pPr marL="0" indent="0">
              <a:buNone/>
            </a:pPr>
            <a:r>
              <a:rPr lang="en-US" sz="1150" b="1">
                <a:solidFill>
                  <a:srgbClr val="0F172A"/>
                </a:solidFill>
                <a:latin typeface="Calibri" pitchFamily="34" charset="0"/>
                <a:ea typeface="Calibri" pitchFamily="34" charset="-122"/>
                <a:cs typeface="Calibri" pitchFamily="34" charset="-120"/>
              </a:rPr>
              <a:t>Elasticsearch indexes</a:t>
            </a:r>
            <a:endParaRPr lang="en-US" sz="1150"/>
          </a:p>
        </p:txBody>
      </p:sp>
      <p:sp>
        <p:nvSpPr>
          <p:cNvPr id="25" name="Text 22"/>
          <p:cNvSpPr/>
          <p:nvPr/>
        </p:nvSpPr>
        <p:spPr>
          <a:xfrm>
            <a:off x="7680960" y="5440680"/>
            <a:ext cx="1810512" cy="685800"/>
          </a:xfrm>
          <a:prstGeom prst="rect">
            <a:avLst/>
          </a:prstGeom>
          <a:noFill/>
          <a:ln/>
        </p:spPr>
        <p:txBody>
          <a:bodyPr wrap="square" lIns="0" tIns="0" rIns="0" bIns="0" rtlCol="0" anchor="t"/>
          <a:lstStyle/>
          <a:p>
            <a:pPr marL="0" indent="0">
              <a:buNone/>
            </a:pPr>
            <a:r>
              <a:rPr lang="en-US" sz="950">
                <a:solidFill>
                  <a:srgbClr val="475569"/>
                </a:solidFill>
                <a:latin typeface="Calibri" pitchFamily="34" charset="0"/>
                <a:ea typeface="Calibri" pitchFamily="34" charset="-122"/>
                <a:cs typeface="Calibri" pitchFamily="34" charset="-120"/>
              </a:rPr>
              <a:t>Stores every field; searchable in milliseconds</a:t>
            </a:r>
            <a:endParaRPr lang="en-US" sz="950"/>
          </a:p>
        </p:txBody>
      </p:sp>
      <p:sp>
        <p:nvSpPr>
          <p:cNvPr id="26" name="Shape 23"/>
          <p:cNvSpPr/>
          <p:nvPr/>
        </p:nvSpPr>
        <p:spPr>
          <a:xfrm>
            <a:off x="9784080" y="4663440"/>
            <a:ext cx="2176272" cy="1554480"/>
          </a:xfrm>
          <a:prstGeom prst="rect">
            <a:avLst/>
          </a:prstGeom>
          <a:solidFill>
            <a:srgbClr val="F7F9FC"/>
          </a:solidFill>
          <a:ln w="6350">
            <a:solidFill>
              <a:srgbClr val="E2E8F0"/>
            </a:solidFill>
            <a:prstDash val="solid"/>
          </a:ln>
        </p:spPr>
        <p:txBody>
          <a:bodyPr/>
          <a:lstStyle/>
          <a:p>
            <a:endParaRPr lang="en-US"/>
          </a:p>
        </p:txBody>
      </p:sp>
      <p:sp>
        <p:nvSpPr>
          <p:cNvPr id="27" name="Shape 24"/>
          <p:cNvSpPr/>
          <p:nvPr/>
        </p:nvSpPr>
        <p:spPr>
          <a:xfrm>
            <a:off x="9966960" y="4846320"/>
            <a:ext cx="502920" cy="502920"/>
          </a:xfrm>
          <a:prstGeom prst="ellipse">
            <a:avLst/>
          </a:prstGeom>
          <a:solidFill>
            <a:srgbClr val="10B981"/>
          </a:solidFill>
          <a:ln/>
        </p:spPr>
        <p:txBody>
          <a:bodyPr/>
          <a:lstStyle/>
          <a:p>
            <a:endParaRPr lang="en-US"/>
          </a:p>
        </p:txBody>
      </p:sp>
      <p:sp>
        <p:nvSpPr>
          <p:cNvPr id="28" name="Text 25"/>
          <p:cNvSpPr/>
          <p:nvPr/>
        </p:nvSpPr>
        <p:spPr>
          <a:xfrm>
            <a:off x="9966960" y="4846320"/>
            <a:ext cx="502920" cy="502920"/>
          </a:xfrm>
          <a:prstGeom prst="rect">
            <a:avLst/>
          </a:prstGeom>
          <a:noFill/>
          <a:ln/>
        </p:spPr>
        <p:txBody>
          <a:bodyPr wrap="square" lIns="0" tIns="0" rIns="0" bIns="0" rtlCol="0" anchor="ctr"/>
          <a:lstStyle/>
          <a:p>
            <a:pPr marL="0" indent="0" algn="ctr">
              <a:buNone/>
            </a:pPr>
            <a:r>
              <a:rPr lang="en-US" sz="1800" b="1">
                <a:solidFill>
                  <a:srgbClr val="FFFFFF"/>
                </a:solidFill>
                <a:latin typeface="Calibri" pitchFamily="34" charset="0"/>
                <a:ea typeface="Calibri" pitchFamily="34" charset="-122"/>
                <a:cs typeface="Calibri" pitchFamily="34" charset="-120"/>
              </a:rPr>
              <a:t>5</a:t>
            </a:r>
            <a:endParaRPr lang="en-US" sz="1800"/>
          </a:p>
        </p:txBody>
      </p:sp>
      <p:sp>
        <p:nvSpPr>
          <p:cNvPr id="29" name="Text 26"/>
          <p:cNvSpPr/>
          <p:nvPr/>
        </p:nvSpPr>
        <p:spPr>
          <a:xfrm>
            <a:off x="10607040" y="4892040"/>
            <a:ext cx="1261872" cy="365760"/>
          </a:xfrm>
          <a:prstGeom prst="rect">
            <a:avLst/>
          </a:prstGeom>
          <a:noFill/>
          <a:ln/>
        </p:spPr>
        <p:txBody>
          <a:bodyPr wrap="square" lIns="0" tIns="0" rIns="0" bIns="0" rtlCol="0" anchor="ctr"/>
          <a:lstStyle/>
          <a:p>
            <a:pPr marL="0" indent="0">
              <a:buNone/>
            </a:pPr>
            <a:r>
              <a:rPr lang="en-US" sz="1150" b="1">
                <a:solidFill>
                  <a:srgbClr val="0F172A"/>
                </a:solidFill>
                <a:latin typeface="Calibri" pitchFamily="34" charset="0"/>
                <a:ea typeface="Calibri" pitchFamily="34" charset="-122"/>
                <a:cs typeface="Calibri" pitchFamily="34" charset="-120"/>
              </a:rPr>
              <a:t>Analyst acts</a:t>
            </a:r>
            <a:endParaRPr lang="en-US" sz="1150"/>
          </a:p>
        </p:txBody>
      </p:sp>
      <p:sp>
        <p:nvSpPr>
          <p:cNvPr id="30" name="Text 27"/>
          <p:cNvSpPr/>
          <p:nvPr/>
        </p:nvSpPr>
        <p:spPr>
          <a:xfrm>
            <a:off x="9966960" y="5440680"/>
            <a:ext cx="1810512" cy="685800"/>
          </a:xfrm>
          <a:prstGeom prst="rect">
            <a:avLst/>
          </a:prstGeom>
          <a:noFill/>
          <a:ln/>
        </p:spPr>
        <p:txBody>
          <a:bodyPr wrap="square" lIns="0" tIns="0" rIns="0" bIns="0" rtlCol="0" anchor="t"/>
          <a:lstStyle/>
          <a:p>
            <a:pPr marL="0" indent="0">
              <a:buNone/>
            </a:pPr>
            <a:r>
              <a:rPr lang="en-US" sz="950">
                <a:solidFill>
                  <a:srgbClr val="475569"/>
                </a:solidFill>
                <a:latin typeface="Calibri" pitchFamily="34" charset="0"/>
                <a:ea typeface="Calibri" pitchFamily="34" charset="-122"/>
                <a:cs typeface="Calibri" pitchFamily="34" charset="-120"/>
              </a:rPr>
              <a:t>KQL queries, dashboards, detection rules, alerts</a:t>
            </a:r>
            <a:endParaRPr lang="en-US" sz="950"/>
          </a:p>
        </p:txBody>
      </p:sp>
      <p:sp>
        <p:nvSpPr>
          <p:cNvPr id="31" name="Text 28"/>
          <p:cNvSpPr/>
          <p:nvPr/>
        </p:nvSpPr>
        <p:spPr>
          <a:xfrm>
            <a:off x="365760" y="6537960"/>
            <a:ext cx="4572000" cy="228600"/>
          </a:xfrm>
          <a:prstGeom prst="rect">
            <a:avLst/>
          </a:prstGeom>
          <a:noFill/>
          <a:ln/>
        </p:spPr>
        <p:txBody>
          <a:bodyPr wrap="square" lIns="0" tIns="0" rIns="0" bIns="0" rtlCol="0" anchor="ctr"/>
          <a:lstStyle/>
          <a:p>
            <a:pPr marL="0" indent="0" algn="l">
              <a:buNone/>
            </a:pPr>
            <a:r>
              <a:rPr lang="en-US" sz="900">
                <a:solidFill>
                  <a:srgbClr val="94A3B8"/>
                </a:solidFill>
                <a:latin typeface="Calibri" pitchFamily="34" charset="0"/>
                <a:ea typeface="Calibri" pitchFamily="34" charset="-122"/>
                <a:cs typeface="Calibri" pitchFamily="34" charset="-120"/>
              </a:rPr>
              <a:t>Incident Handling Lab  |  Elastic SIEM</a:t>
            </a:r>
            <a:endParaRPr lang="en-US" sz="900"/>
          </a:p>
        </p:txBody>
      </p:sp>
      <p:sp>
        <p:nvSpPr>
          <p:cNvPr id="32" name="Text 29"/>
          <p:cNvSpPr/>
          <p:nvPr/>
        </p:nvSpPr>
        <p:spPr>
          <a:xfrm>
            <a:off x="11094415" y="6537960"/>
            <a:ext cx="914400" cy="228600"/>
          </a:xfrm>
          <a:prstGeom prst="rect">
            <a:avLst/>
          </a:prstGeom>
          <a:noFill/>
          <a:ln/>
        </p:spPr>
        <p:txBody>
          <a:bodyPr wrap="square" lIns="0" tIns="0" rIns="0" bIns="0" rtlCol="0" anchor="ctr"/>
          <a:lstStyle/>
          <a:p>
            <a:pPr marL="0" indent="0" algn="r">
              <a:buNone/>
            </a:pPr>
            <a:r>
              <a:rPr lang="en-US" sz="900">
                <a:solidFill>
                  <a:srgbClr val="94A3B8"/>
                </a:solidFill>
                <a:latin typeface="Calibri" pitchFamily="34" charset="0"/>
                <a:ea typeface="Calibri" pitchFamily="34" charset="-122"/>
                <a:cs typeface="Calibri" pitchFamily="34" charset="-120"/>
              </a:rPr>
              <a:t>7 / 29</a:t>
            </a:r>
            <a:endParaRPr lang="en-US" sz="9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65760" y="457200"/>
            <a:ext cx="109728" cy="731520"/>
          </a:xfrm>
          <a:prstGeom prst="rect">
            <a:avLst/>
          </a:prstGeom>
          <a:solidFill>
            <a:srgbClr val="00D9FF"/>
          </a:solidFill>
          <a:ln/>
        </p:spPr>
        <p:txBody>
          <a:bodyPr/>
          <a:lstStyle/>
          <a:p>
            <a:endParaRPr lang="en-US"/>
          </a:p>
        </p:txBody>
      </p:sp>
      <p:sp>
        <p:nvSpPr>
          <p:cNvPr id="3" name="Text 1"/>
          <p:cNvSpPr/>
          <p:nvPr/>
        </p:nvSpPr>
        <p:spPr>
          <a:xfrm>
            <a:off x="640080" y="411480"/>
            <a:ext cx="10515600" cy="502920"/>
          </a:xfrm>
          <a:prstGeom prst="rect">
            <a:avLst/>
          </a:prstGeom>
          <a:noFill/>
          <a:ln/>
        </p:spPr>
        <p:txBody>
          <a:bodyPr wrap="square" lIns="0" tIns="0" rIns="0" bIns="0" rtlCol="0" anchor="t"/>
          <a:lstStyle/>
          <a:p>
            <a:pPr marL="0" indent="0">
              <a:buNone/>
            </a:pPr>
            <a:r>
              <a:rPr lang="en-US" sz="2800" b="1">
                <a:solidFill>
                  <a:srgbClr val="0F172A"/>
                </a:solidFill>
                <a:latin typeface="Calibri" pitchFamily="34" charset="0"/>
                <a:ea typeface="Calibri" pitchFamily="34" charset="-122"/>
                <a:cs typeface="Calibri" pitchFamily="34" charset="-120"/>
              </a:rPr>
              <a:t>Virtual Machine Inventory</a:t>
            </a:r>
            <a:endParaRPr lang="en-US" sz="2800"/>
          </a:p>
        </p:txBody>
      </p:sp>
      <p:sp>
        <p:nvSpPr>
          <p:cNvPr id="4" name="Text 2"/>
          <p:cNvSpPr/>
          <p:nvPr/>
        </p:nvSpPr>
        <p:spPr>
          <a:xfrm>
            <a:off x="640080" y="868680"/>
            <a:ext cx="10515600" cy="320040"/>
          </a:xfrm>
          <a:prstGeom prst="rect">
            <a:avLst/>
          </a:prstGeom>
          <a:noFill/>
          <a:ln/>
        </p:spPr>
        <p:txBody>
          <a:bodyPr wrap="square" lIns="0" tIns="0" rIns="0" bIns="0" rtlCol="0" anchor="t"/>
          <a:lstStyle/>
          <a:p>
            <a:pPr marL="0" indent="0">
              <a:buNone/>
            </a:pPr>
            <a:r>
              <a:rPr lang="en-US" sz="1300" i="1">
                <a:solidFill>
                  <a:srgbClr val="475569"/>
                </a:solidFill>
                <a:latin typeface="Calibri" pitchFamily="34" charset="0"/>
                <a:ea typeface="Calibri" pitchFamily="34" charset="-122"/>
                <a:cs typeface="Calibri" pitchFamily="34" charset="-120"/>
              </a:rPr>
              <a:t>Four VMs on host-only network 192.168.56.0/24</a:t>
            </a:r>
            <a:endParaRPr lang="en-US" sz="1300"/>
          </a:p>
        </p:txBody>
      </p:sp>
      <p:sp>
        <p:nvSpPr>
          <p:cNvPr id="5" name="Shape 3"/>
          <p:cNvSpPr/>
          <p:nvPr/>
        </p:nvSpPr>
        <p:spPr>
          <a:xfrm>
            <a:off x="640080" y="1463040"/>
            <a:ext cx="5394960" cy="2331720"/>
          </a:xfrm>
          <a:prstGeom prst="rect">
            <a:avLst/>
          </a:prstGeom>
          <a:solidFill>
            <a:srgbClr val="FFFFFF"/>
          </a:solidFill>
          <a:ln w="12700">
            <a:solidFill>
              <a:srgbClr val="E2E8F0"/>
            </a:solidFill>
            <a:prstDash val="solid"/>
          </a:ln>
          <a:effectLst>
            <a:outerShdw blurRad="101600" dist="38100" dir="5400000" algn="bl" rotWithShape="0">
              <a:srgbClr val="000000">
                <a:alpha val="12000"/>
              </a:srgbClr>
            </a:outerShdw>
          </a:effectLst>
        </p:spPr>
        <p:txBody>
          <a:bodyPr/>
          <a:lstStyle/>
          <a:p>
            <a:endParaRPr lang="en-US"/>
          </a:p>
        </p:txBody>
      </p:sp>
      <p:sp>
        <p:nvSpPr>
          <p:cNvPr id="6" name="Shape 4"/>
          <p:cNvSpPr/>
          <p:nvPr/>
        </p:nvSpPr>
        <p:spPr>
          <a:xfrm>
            <a:off x="640080" y="1463040"/>
            <a:ext cx="109728" cy="2331720"/>
          </a:xfrm>
          <a:prstGeom prst="rect">
            <a:avLst/>
          </a:prstGeom>
          <a:solidFill>
            <a:srgbClr val="A78BFA"/>
          </a:solidFill>
          <a:ln/>
        </p:spPr>
        <p:txBody>
          <a:bodyPr/>
          <a:lstStyle/>
          <a:p>
            <a:endParaRPr lang="en-US"/>
          </a:p>
        </p:txBody>
      </p:sp>
      <p:sp>
        <p:nvSpPr>
          <p:cNvPr id="7" name="Shape 5"/>
          <p:cNvSpPr/>
          <p:nvPr/>
        </p:nvSpPr>
        <p:spPr>
          <a:xfrm>
            <a:off x="960120" y="1783080"/>
            <a:ext cx="731520" cy="731520"/>
          </a:xfrm>
          <a:prstGeom prst="ellipse">
            <a:avLst/>
          </a:prstGeom>
          <a:solidFill>
            <a:srgbClr val="162B48"/>
          </a:solidFill>
          <a:ln/>
        </p:spPr>
        <p:txBody>
          <a:bodyPr/>
          <a:lstStyle/>
          <a:p>
            <a:endParaRPr lang="en-US"/>
          </a:p>
        </p:txBody>
      </p:sp>
      <p:pic>
        <p:nvPicPr>
          <p:cNvPr id="8" name="Image 0" descr="preencoded.png"/>
          <p:cNvPicPr>
            <a:picLocks noChangeAspect="1"/>
          </p:cNvPicPr>
          <p:nvPr/>
        </p:nvPicPr>
        <p:blipFill>
          <a:blip r:embed="rId3"/>
          <a:stretch>
            <a:fillRect/>
          </a:stretch>
        </p:blipFill>
        <p:spPr>
          <a:xfrm>
            <a:off x="1097280" y="1920240"/>
            <a:ext cx="457200" cy="457200"/>
          </a:xfrm>
          <a:prstGeom prst="rect">
            <a:avLst/>
          </a:prstGeom>
        </p:spPr>
      </p:pic>
      <p:sp>
        <p:nvSpPr>
          <p:cNvPr id="9" name="Text 6"/>
          <p:cNvSpPr/>
          <p:nvPr/>
        </p:nvSpPr>
        <p:spPr>
          <a:xfrm>
            <a:off x="1828800" y="1737360"/>
            <a:ext cx="4023360" cy="411480"/>
          </a:xfrm>
          <a:prstGeom prst="rect">
            <a:avLst/>
          </a:prstGeom>
          <a:noFill/>
          <a:ln/>
        </p:spPr>
        <p:txBody>
          <a:bodyPr wrap="square" lIns="0" tIns="0" rIns="0" bIns="0" rtlCol="0" anchor="ctr"/>
          <a:lstStyle/>
          <a:p>
            <a:pPr marL="0" indent="0">
              <a:buNone/>
            </a:pPr>
            <a:r>
              <a:rPr lang="en-US" sz="1700" b="1">
                <a:solidFill>
                  <a:srgbClr val="0F172A"/>
                </a:solidFill>
                <a:latin typeface="Calibri" pitchFamily="34" charset="0"/>
                <a:ea typeface="Calibri" pitchFamily="34" charset="-122"/>
                <a:cs typeface="Calibri" pitchFamily="34" charset="-120"/>
              </a:rPr>
              <a:t>Ubuntu ELK Server</a:t>
            </a:r>
            <a:endParaRPr lang="en-US" sz="1700"/>
          </a:p>
        </p:txBody>
      </p:sp>
      <p:sp>
        <p:nvSpPr>
          <p:cNvPr id="10" name="Text 7"/>
          <p:cNvSpPr/>
          <p:nvPr/>
        </p:nvSpPr>
        <p:spPr>
          <a:xfrm>
            <a:off x="1828800" y="2148840"/>
            <a:ext cx="4023360" cy="274320"/>
          </a:xfrm>
          <a:prstGeom prst="rect">
            <a:avLst/>
          </a:prstGeom>
          <a:noFill/>
          <a:ln/>
        </p:spPr>
        <p:txBody>
          <a:bodyPr wrap="square" lIns="0" tIns="0" rIns="0" bIns="0" rtlCol="0" anchor="ctr"/>
          <a:lstStyle/>
          <a:p>
            <a:pPr marL="0" indent="0">
              <a:buNone/>
            </a:pPr>
            <a:r>
              <a:rPr lang="en-US" sz="1200">
                <a:solidFill>
                  <a:srgbClr val="A78BFA"/>
                </a:solidFill>
                <a:latin typeface="Consolas" pitchFamily="34" charset="0"/>
                <a:ea typeface="Consolas" pitchFamily="34" charset="-122"/>
                <a:cs typeface="Consolas" pitchFamily="34" charset="-120"/>
              </a:rPr>
              <a:t>192.168.56.101  ·  Ubuntu 22.04</a:t>
            </a:r>
            <a:endParaRPr lang="en-US" sz="1200"/>
          </a:p>
        </p:txBody>
      </p:sp>
      <p:sp>
        <p:nvSpPr>
          <p:cNvPr id="11" name="Text 8"/>
          <p:cNvSpPr/>
          <p:nvPr/>
        </p:nvSpPr>
        <p:spPr>
          <a:xfrm>
            <a:off x="960120" y="2651760"/>
            <a:ext cx="4892040" cy="1051560"/>
          </a:xfrm>
          <a:prstGeom prst="rect">
            <a:avLst/>
          </a:prstGeom>
          <a:noFill/>
          <a:ln/>
        </p:spPr>
        <p:txBody>
          <a:bodyPr wrap="square" lIns="0" tIns="0" rIns="0" bIns="0" rtlCol="0" anchor="t"/>
          <a:lstStyle/>
          <a:p>
            <a:pPr marL="0" indent="0">
              <a:buNone/>
            </a:pPr>
            <a:r>
              <a:rPr lang="en-US" sz="1200">
                <a:solidFill>
                  <a:srgbClr val="475569"/>
                </a:solidFill>
                <a:latin typeface="Calibri" pitchFamily="34" charset="0"/>
                <a:ea typeface="Calibri" pitchFamily="34" charset="-122"/>
                <a:cs typeface="Calibri" pitchFamily="34" charset="-120"/>
              </a:rPr>
              <a:t>Elasticsearch · Kibana · Logstash — analytical core of the SIEM. Target of Task 1.</a:t>
            </a:r>
            <a:endParaRPr lang="en-US" sz="1200"/>
          </a:p>
        </p:txBody>
      </p:sp>
      <p:sp>
        <p:nvSpPr>
          <p:cNvPr id="12" name="Shape 9"/>
          <p:cNvSpPr/>
          <p:nvPr/>
        </p:nvSpPr>
        <p:spPr>
          <a:xfrm>
            <a:off x="6263640" y="1463040"/>
            <a:ext cx="5394960" cy="2331720"/>
          </a:xfrm>
          <a:prstGeom prst="rect">
            <a:avLst/>
          </a:prstGeom>
          <a:solidFill>
            <a:srgbClr val="FFFFFF"/>
          </a:solidFill>
          <a:ln w="12700">
            <a:solidFill>
              <a:srgbClr val="E2E8F0"/>
            </a:solidFill>
            <a:prstDash val="solid"/>
          </a:ln>
          <a:effectLst>
            <a:outerShdw blurRad="101600" dist="38100" dir="5400000" algn="bl" rotWithShape="0">
              <a:srgbClr val="000000">
                <a:alpha val="12000"/>
              </a:srgbClr>
            </a:outerShdw>
          </a:effectLst>
        </p:spPr>
        <p:txBody>
          <a:bodyPr/>
          <a:lstStyle/>
          <a:p>
            <a:endParaRPr lang="en-US"/>
          </a:p>
        </p:txBody>
      </p:sp>
      <p:sp>
        <p:nvSpPr>
          <p:cNvPr id="13" name="Shape 10"/>
          <p:cNvSpPr/>
          <p:nvPr/>
        </p:nvSpPr>
        <p:spPr>
          <a:xfrm>
            <a:off x="6263640" y="1463040"/>
            <a:ext cx="109728" cy="2331720"/>
          </a:xfrm>
          <a:prstGeom prst="rect">
            <a:avLst/>
          </a:prstGeom>
          <a:solidFill>
            <a:srgbClr val="00D9FF"/>
          </a:solidFill>
          <a:ln/>
        </p:spPr>
        <p:txBody>
          <a:bodyPr/>
          <a:lstStyle/>
          <a:p>
            <a:endParaRPr lang="en-US"/>
          </a:p>
        </p:txBody>
      </p:sp>
      <p:sp>
        <p:nvSpPr>
          <p:cNvPr id="14" name="Shape 11"/>
          <p:cNvSpPr/>
          <p:nvPr/>
        </p:nvSpPr>
        <p:spPr>
          <a:xfrm>
            <a:off x="6583680" y="1783080"/>
            <a:ext cx="731520" cy="731520"/>
          </a:xfrm>
          <a:prstGeom prst="ellipse">
            <a:avLst/>
          </a:prstGeom>
          <a:solidFill>
            <a:srgbClr val="162B48"/>
          </a:solidFill>
          <a:ln/>
        </p:spPr>
        <p:txBody>
          <a:bodyPr/>
          <a:lstStyle/>
          <a:p>
            <a:endParaRPr lang="en-US"/>
          </a:p>
        </p:txBody>
      </p:sp>
      <p:pic>
        <p:nvPicPr>
          <p:cNvPr id="15" name="Image 1" descr="preencoded.png"/>
          <p:cNvPicPr>
            <a:picLocks noChangeAspect="1"/>
          </p:cNvPicPr>
          <p:nvPr/>
        </p:nvPicPr>
        <p:blipFill>
          <a:blip r:embed="rId4"/>
          <a:stretch>
            <a:fillRect/>
          </a:stretch>
        </p:blipFill>
        <p:spPr>
          <a:xfrm>
            <a:off x="6720840" y="1920240"/>
            <a:ext cx="457200" cy="457200"/>
          </a:xfrm>
          <a:prstGeom prst="rect">
            <a:avLst/>
          </a:prstGeom>
        </p:spPr>
      </p:pic>
      <p:sp>
        <p:nvSpPr>
          <p:cNvPr id="16" name="Text 12"/>
          <p:cNvSpPr/>
          <p:nvPr/>
        </p:nvSpPr>
        <p:spPr>
          <a:xfrm>
            <a:off x="7452360" y="1737360"/>
            <a:ext cx="4023360" cy="411480"/>
          </a:xfrm>
          <a:prstGeom prst="rect">
            <a:avLst/>
          </a:prstGeom>
          <a:noFill/>
          <a:ln/>
        </p:spPr>
        <p:txBody>
          <a:bodyPr wrap="square" lIns="0" tIns="0" rIns="0" bIns="0" rtlCol="0" anchor="ctr"/>
          <a:lstStyle/>
          <a:p>
            <a:pPr marL="0" indent="0">
              <a:buNone/>
            </a:pPr>
            <a:r>
              <a:rPr lang="en-US" sz="1700" b="1">
                <a:solidFill>
                  <a:srgbClr val="0F172A"/>
                </a:solidFill>
                <a:latin typeface="Calibri" pitchFamily="34" charset="0"/>
                <a:ea typeface="Calibri" pitchFamily="34" charset="-122"/>
                <a:cs typeface="Calibri" pitchFamily="34" charset="-120"/>
              </a:rPr>
              <a:t>Ubuntu Fleet Server</a:t>
            </a:r>
            <a:endParaRPr lang="en-US" sz="1700"/>
          </a:p>
        </p:txBody>
      </p:sp>
      <p:sp>
        <p:nvSpPr>
          <p:cNvPr id="17" name="Text 13"/>
          <p:cNvSpPr/>
          <p:nvPr/>
        </p:nvSpPr>
        <p:spPr>
          <a:xfrm>
            <a:off x="7452360" y="2148840"/>
            <a:ext cx="4023360" cy="274320"/>
          </a:xfrm>
          <a:prstGeom prst="rect">
            <a:avLst/>
          </a:prstGeom>
          <a:noFill/>
          <a:ln/>
        </p:spPr>
        <p:txBody>
          <a:bodyPr wrap="square" lIns="0" tIns="0" rIns="0" bIns="0" rtlCol="0" anchor="ctr"/>
          <a:lstStyle/>
          <a:p>
            <a:pPr marL="0" indent="0">
              <a:buNone/>
            </a:pPr>
            <a:r>
              <a:rPr lang="en-US" sz="1200">
                <a:solidFill>
                  <a:srgbClr val="00D9FF"/>
                </a:solidFill>
                <a:latin typeface="Consolas" pitchFamily="34" charset="0"/>
                <a:ea typeface="Consolas" pitchFamily="34" charset="-122"/>
                <a:cs typeface="Consolas" pitchFamily="34" charset="-120"/>
              </a:rPr>
              <a:t>192.168.56.102  ·  Ubuntu 22.04</a:t>
            </a:r>
            <a:endParaRPr lang="en-US" sz="1200"/>
          </a:p>
        </p:txBody>
      </p:sp>
      <p:sp>
        <p:nvSpPr>
          <p:cNvPr id="18" name="Text 14"/>
          <p:cNvSpPr/>
          <p:nvPr/>
        </p:nvSpPr>
        <p:spPr>
          <a:xfrm>
            <a:off x="6583680" y="2651760"/>
            <a:ext cx="4892040" cy="1051560"/>
          </a:xfrm>
          <a:prstGeom prst="rect">
            <a:avLst/>
          </a:prstGeom>
          <a:noFill/>
          <a:ln/>
        </p:spPr>
        <p:txBody>
          <a:bodyPr wrap="square" lIns="0" tIns="0" rIns="0" bIns="0" rtlCol="0" anchor="t"/>
          <a:lstStyle/>
          <a:p>
            <a:pPr marL="0" indent="0">
              <a:buNone/>
            </a:pPr>
            <a:r>
              <a:rPr lang="en-US" sz="1200">
                <a:solidFill>
                  <a:srgbClr val="475569"/>
                </a:solidFill>
                <a:latin typeface="Calibri" pitchFamily="34" charset="0"/>
                <a:ea typeface="Calibri" pitchFamily="34" charset="-122"/>
                <a:cs typeface="Calibri" pitchFamily="34" charset="-120"/>
              </a:rPr>
              <a:t>Fleet Server on port 8220 — centralized agent management. Auditd host for Task 3.</a:t>
            </a:r>
            <a:endParaRPr lang="en-US" sz="1200"/>
          </a:p>
        </p:txBody>
      </p:sp>
      <p:sp>
        <p:nvSpPr>
          <p:cNvPr id="19" name="Shape 15"/>
          <p:cNvSpPr/>
          <p:nvPr/>
        </p:nvSpPr>
        <p:spPr>
          <a:xfrm>
            <a:off x="640080" y="4069080"/>
            <a:ext cx="5394960" cy="2331720"/>
          </a:xfrm>
          <a:prstGeom prst="rect">
            <a:avLst/>
          </a:prstGeom>
          <a:solidFill>
            <a:srgbClr val="FFFFFF"/>
          </a:solidFill>
          <a:ln w="12700">
            <a:solidFill>
              <a:srgbClr val="E2E8F0"/>
            </a:solidFill>
            <a:prstDash val="solid"/>
          </a:ln>
          <a:effectLst>
            <a:outerShdw blurRad="101600" dist="38100" dir="5400000" algn="bl" rotWithShape="0">
              <a:srgbClr val="000000">
                <a:alpha val="12000"/>
              </a:srgbClr>
            </a:outerShdw>
          </a:effectLst>
        </p:spPr>
        <p:txBody>
          <a:bodyPr/>
          <a:lstStyle/>
          <a:p>
            <a:endParaRPr lang="en-US"/>
          </a:p>
        </p:txBody>
      </p:sp>
      <p:sp>
        <p:nvSpPr>
          <p:cNvPr id="20" name="Shape 16"/>
          <p:cNvSpPr/>
          <p:nvPr/>
        </p:nvSpPr>
        <p:spPr>
          <a:xfrm>
            <a:off x="640080" y="4069080"/>
            <a:ext cx="109728" cy="2331720"/>
          </a:xfrm>
          <a:prstGeom prst="rect">
            <a:avLst/>
          </a:prstGeom>
          <a:solidFill>
            <a:srgbClr val="0891B2"/>
          </a:solidFill>
          <a:ln/>
        </p:spPr>
        <p:txBody>
          <a:bodyPr/>
          <a:lstStyle/>
          <a:p>
            <a:endParaRPr lang="en-US"/>
          </a:p>
        </p:txBody>
      </p:sp>
      <p:sp>
        <p:nvSpPr>
          <p:cNvPr id="21" name="Shape 17"/>
          <p:cNvSpPr/>
          <p:nvPr/>
        </p:nvSpPr>
        <p:spPr>
          <a:xfrm>
            <a:off x="960120" y="4389120"/>
            <a:ext cx="731520" cy="731520"/>
          </a:xfrm>
          <a:prstGeom prst="ellipse">
            <a:avLst/>
          </a:prstGeom>
          <a:solidFill>
            <a:srgbClr val="162B48"/>
          </a:solidFill>
          <a:ln/>
        </p:spPr>
        <p:txBody>
          <a:bodyPr/>
          <a:lstStyle/>
          <a:p>
            <a:endParaRPr lang="en-US"/>
          </a:p>
        </p:txBody>
      </p:sp>
      <p:pic>
        <p:nvPicPr>
          <p:cNvPr id="22" name="Image 2" descr="preencoded.png"/>
          <p:cNvPicPr>
            <a:picLocks noChangeAspect="1"/>
          </p:cNvPicPr>
          <p:nvPr/>
        </p:nvPicPr>
        <p:blipFill>
          <a:blip r:embed="rId5"/>
          <a:stretch>
            <a:fillRect/>
          </a:stretch>
        </p:blipFill>
        <p:spPr>
          <a:xfrm>
            <a:off x="1097280" y="4526280"/>
            <a:ext cx="457200" cy="457200"/>
          </a:xfrm>
          <a:prstGeom prst="rect">
            <a:avLst/>
          </a:prstGeom>
        </p:spPr>
      </p:pic>
      <p:sp>
        <p:nvSpPr>
          <p:cNvPr id="23" name="Text 18"/>
          <p:cNvSpPr/>
          <p:nvPr/>
        </p:nvSpPr>
        <p:spPr>
          <a:xfrm>
            <a:off x="1828800" y="4343400"/>
            <a:ext cx="4023360" cy="411480"/>
          </a:xfrm>
          <a:prstGeom prst="rect">
            <a:avLst/>
          </a:prstGeom>
          <a:noFill/>
          <a:ln/>
        </p:spPr>
        <p:txBody>
          <a:bodyPr wrap="square" lIns="0" tIns="0" rIns="0" bIns="0" rtlCol="0" anchor="ctr"/>
          <a:lstStyle/>
          <a:p>
            <a:pPr marL="0" indent="0">
              <a:buNone/>
            </a:pPr>
            <a:r>
              <a:rPr lang="en-US" sz="1700" b="1">
                <a:solidFill>
                  <a:srgbClr val="0F172A"/>
                </a:solidFill>
                <a:latin typeface="Calibri" pitchFamily="34" charset="0"/>
                <a:ea typeface="Calibri" pitchFamily="34" charset="-122"/>
                <a:cs typeface="Calibri" pitchFamily="34" charset="-120"/>
              </a:rPr>
              <a:t>Windows Server 2022</a:t>
            </a:r>
            <a:endParaRPr lang="en-US" sz="1700"/>
          </a:p>
        </p:txBody>
      </p:sp>
      <p:sp>
        <p:nvSpPr>
          <p:cNvPr id="24" name="Text 19"/>
          <p:cNvSpPr/>
          <p:nvPr/>
        </p:nvSpPr>
        <p:spPr>
          <a:xfrm>
            <a:off x="1828800" y="4754880"/>
            <a:ext cx="4023360" cy="274320"/>
          </a:xfrm>
          <a:prstGeom prst="rect">
            <a:avLst/>
          </a:prstGeom>
          <a:noFill/>
          <a:ln/>
        </p:spPr>
        <p:txBody>
          <a:bodyPr wrap="square" lIns="0" tIns="0" rIns="0" bIns="0" rtlCol="0" anchor="ctr"/>
          <a:lstStyle/>
          <a:p>
            <a:pPr marL="0" indent="0">
              <a:buNone/>
            </a:pPr>
            <a:r>
              <a:rPr lang="en-US" sz="1200">
                <a:solidFill>
                  <a:srgbClr val="0891B2"/>
                </a:solidFill>
                <a:latin typeface="Consolas" pitchFamily="34" charset="0"/>
                <a:ea typeface="Consolas" pitchFamily="34" charset="-122"/>
                <a:cs typeface="Consolas" pitchFamily="34" charset="-120"/>
              </a:rPr>
              <a:t>192.168.56.103  ·  Windows Server 2022</a:t>
            </a:r>
            <a:endParaRPr lang="en-US" sz="1200"/>
          </a:p>
        </p:txBody>
      </p:sp>
      <p:sp>
        <p:nvSpPr>
          <p:cNvPr id="25" name="Text 20"/>
          <p:cNvSpPr/>
          <p:nvPr/>
        </p:nvSpPr>
        <p:spPr>
          <a:xfrm>
            <a:off x="960120" y="5257800"/>
            <a:ext cx="4892040" cy="1051560"/>
          </a:xfrm>
          <a:prstGeom prst="rect">
            <a:avLst/>
          </a:prstGeom>
          <a:noFill/>
          <a:ln/>
        </p:spPr>
        <p:txBody>
          <a:bodyPr wrap="square" lIns="0" tIns="0" rIns="0" bIns="0" rtlCol="0" anchor="t"/>
          <a:lstStyle/>
          <a:p>
            <a:pPr marL="0" indent="0">
              <a:buNone/>
            </a:pPr>
            <a:r>
              <a:rPr lang="en-US" sz="1200">
                <a:solidFill>
                  <a:srgbClr val="475569"/>
                </a:solidFill>
                <a:latin typeface="Calibri" pitchFamily="34" charset="0"/>
                <a:ea typeface="Calibri" pitchFamily="34" charset="-122"/>
                <a:cs typeface="Calibri" pitchFamily="34" charset="-120"/>
              </a:rPr>
              <a:t>Enterprise Windows endpoint with Elastic Agent + Sysmon. Target of Task 2.</a:t>
            </a:r>
            <a:endParaRPr lang="en-US" sz="1200"/>
          </a:p>
        </p:txBody>
      </p:sp>
      <p:sp>
        <p:nvSpPr>
          <p:cNvPr id="26" name="Shape 21"/>
          <p:cNvSpPr/>
          <p:nvPr/>
        </p:nvSpPr>
        <p:spPr>
          <a:xfrm>
            <a:off x="6263640" y="4069080"/>
            <a:ext cx="5394960" cy="2331720"/>
          </a:xfrm>
          <a:prstGeom prst="rect">
            <a:avLst/>
          </a:prstGeom>
          <a:solidFill>
            <a:srgbClr val="FFFFFF"/>
          </a:solidFill>
          <a:ln w="12700">
            <a:solidFill>
              <a:srgbClr val="E2E8F0"/>
            </a:solidFill>
            <a:prstDash val="solid"/>
          </a:ln>
          <a:effectLst>
            <a:outerShdw blurRad="101600" dist="38100" dir="5400000" algn="bl" rotWithShape="0">
              <a:srgbClr val="000000">
                <a:alpha val="12000"/>
              </a:srgbClr>
            </a:outerShdw>
          </a:effectLst>
        </p:spPr>
        <p:txBody>
          <a:bodyPr/>
          <a:lstStyle/>
          <a:p>
            <a:endParaRPr lang="en-US"/>
          </a:p>
        </p:txBody>
      </p:sp>
      <p:sp>
        <p:nvSpPr>
          <p:cNvPr id="27" name="Shape 22"/>
          <p:cNvSpPr/>
          <p:nvPr/>
        </p:nvSpPr>
        <p:spPr>
          <a:xfrm>
            <a:off x="6263640" y="4069080"/>
            <a:ext cx="109728" cy="2331720"/>
          </a:xfrm>
          <a:prstGeom prst="rect">
            <a:avLst/>
          </a:prstGeom>
          <a:solidFill>
            <a:srgbClr val="EF4444"/>
          </a:solidFill>
          <a:ln/>
        </p:spPr>
        <p:txBody>
          <a:bodyPr/>
          <a:lstStyle/>
          <a:p>
            <a:endParaRPr lang="en-US"/>
          </a:p>
        </p:txBody>
      </p:sp>
      <p:sp>
        <p:nvSpPr>
          <p:cNvPr id="28" name="Shape 23"/>
          <p:cNvSpPr/>
          <p:nvPr/>
        </p:nvSpPr>
        <p:spPr>
          <a:xfrm>
            <a:off x="6583680" y="4389120"/>
            <a:ext cx="731520" cy="731520"/>
          </a:xfrm>
          <a:prstGeom prst="ellipse">
            <a:avLst/>
          </a:prstGeom>
          <a:solidFill>
            <a:srgbClr val="162B48"/>
          </a:solidFill>
          <a:ln/>
        </p:spPr>
        <p:txBody>
          <a:bodyPr/>
          <a:lstStyle/>
          <a:p>
            <a:endParaRPr lang="en-US"/>
          </a:p>
        </p:txBody>
      </p:sp>
      <p:pic>
        <p:nvPicPr>
          <p:cNvPr id="29" name="Image 3" descr="preencoded.png"/>
          <p:cNvPicPr>
            <a:picLocks noChangeAspect="1"/>
          </p:cNvPicPr>
          <p:nvPr/>
        </p:nvPicPr>
        <p:blipFill>
          <a:blip r:embed="rId6"/>
          <a:stretch>
            <a:fillRect/>
          </a:stretch>
        </p:blipFill>
        <p:spPr>
          <a:xfrm>
            <a:off x="6720840" y="4526280"/>
            <a:ext cx="457200" cy="457200"/>
          </a:xfrm>
          <a:prstGeom prst="rect">
            <a:avLst/>
          </a:prstGeom>
        </p:spPr>
      </p:pic>
      <p:sp>
        <p:nvSpPr>
          <p:cNvPr id="30" name="Text 24"/>
          <p:cNvSpPr/>
          <p:nvPr/>
        </p:nvSpPr>
        <p:spPr>
          <a:xfrm>
            <a:off x="7452360" y="4343400"/>
            <a:ext cx="4023360" cy="411480"/>
          </a:xfrm>
          <a:prstGeom prst="rect">
            <a:avLst/>
          </a:prstGeom>
          <a:noFill/>
          <a:ln/>
        </p:spPr>
        <p:txBody>
          <a:bodyPr wrap="square" lIns="0" tIns="0" rIns="0" bIns="0" rtlCol="0" anchor="ctr"/>
          <a:lstStyle/>
          <a:p>
            <a:pPr marL="0" indent="0">
              <a:buNone/>
            </a:pPr>
            <a:r>
              <a:rPr lang="en-US" sz="1700" b="1">
                <a:solidFill>
                  <a:srgbClr val="0F172A"/>
                </a:solidFill>
                <a:latin typeface="Calibri" pitchFamily="34" charset="0"/>
                <a:ea typeface="Calibri" pitchFamily="34" charset="-122"/>
                <a:cs typeface="Calibri" pitchFamily="34" charset="-120"/>
              </a:rPr>
              <a:t>Kali Linux</a:t>
            </a:r>
            <a:endParaRPr lang="en-US" sz="1700"/>
          </a:p>
        </p:txBody>
      </p:sp>
      <p:sp>
        <p:nvSpPr>
          <p:cNvPr id="31" name="Text 25"/>
          <p:cNvSpPr/>
          <p:nvPr/>
        </p:nvSpPr>
        <p:spPr>
          <a:xfrm>
            <a:off x="7452360" y="4754880"/>
            <a:ext cx="4023360" cy="274320"/>
          </a:xfrm>
          <a:prstGeom prst="rect">
            <a:avLst/>
          </a:prstGeom>
          <a:noFill/>
          <a:ln/>
        </p:spPr>
        <p:txBody>
          <a:bodyPr wrap="square" lIns="0" tIns="0" rIns="0" bIns="0" rtlCol="0" anchor="ctr"/>
          <a:lstStyle/>
          <a:p>
            <a:pPr marL="0" indent="0">
              <a:buNone/>
            </a:pPr>
            <a:r>
              <a:rPr lang="en-US" sz="1200">
                <a:solidFill>
                  <a:srgbClr val="EF4444"/>
                </a:solidFill>
                <a:latin typeface="Consolas" pitchFamily="34" charset="0"/>
                <a:ea typeface="Consolas" pitchFamily="34" charset="-122"/>
                <a:cs typeface="Consolas" pitchFamily="34" charset="-120"/>
              </a:rPr>
              <a:t>192.168.56.105  ·  Kali Rolling</a:t>
            </a:r>
            <a:endParaRPr lang="en-US" sz="1200"/>
          </a:p>
        </p:txBody>
      </p:sp>
      <p:sp>
        <p:nvSpPr>
          <p:cNvPr id="32" name="Text 26"/>
          <p:cNvSpPr/>
          <p:nvPr/>
        </p:nvSpPr>
        <p:spPr>
          <a:xfrm>
            <a:off x="6583680" y="5257800"/>
            <a:ext cx="4892040" cy="1051560"/>
          </a:xfrm>
          <a:prstGeom prst="rect">
            <a:avLst/>
          </a:prstGeom>
          <a:noFill/>
          <a:ln/>
        </p:spPr>
        <p:txBody>
          <a:bodyPr wrap="square" lIns="0" tIns="0" rIns="0" bIns="0" rtlCol="0" anchor="t"/>
          <a:lstStyle/>
          <a:p>
            <a:pPr marL="0" indent="0">
              <a:buNone/>
            </a:pPr>
            <a:r>
              <a:rPr lang="en-US" sz="1200">
                <a:solidFill>
                  <a:srgbClr val="475569"/>
                </a:solidFill>
                <a:latin typeface="Calibri" pitchFamily="34" charset="0"/>
                <a:ea typeface="Calibri" pitchFamily="34" charset="-122"/>
                <a:cs typeface="Calibri" pitchFamily="34" charset="-120"/>
              </a:rPr>
              <a:t>Attacker machine running Hydra for brute force against all other VMs.</a:t>
            </a:r>
            <a:endParaRPr lang="en-US" sz="1200"/>
          </a:p>
        </p:txBody>
      </p:sp>
      <p:sp>
        <p:nvSpPr>
          <p:cNvPr id="33" name="Text 27"/>
          <p:cNvSpPr/>
          <p:nvPr/>
        </p:nvSpPr>
        <p:spPr>
          <a:xfrm>
            <a:off x="365760" y="6537960"/>
            <a:ext cx="4572000" cy="228600"/>
          </a:xfrm>
          <a:prstGeom prst="rect">
            <a:avLst/>
          </a:prstGeom>
          <a:noFill/>
          <a:ln/>
        </p:spPr>
        <p:txBody>
          <a:bodyPr wrap="square" lIns="0" tIns="0" rIns="0" bIns="0" rtlCol="0" anchor="ctr"/>
          <a:lstStyle/>
          <a:p>
            <a:pPr marL="0" indent="0" algn="l">
              <a:buNone/>
            </a:pPr>
            <a:r>
              <a:rPr lang="en-US" sz="900">
                <a:solidFill>
                  <a:srgbClr val="94A3B8"/>
                </a:solidFill>
                <a:latin typeface="Calibri" pitchFamily="34" charset="0"/>
                <a:ea typeface="Calibri" pitchFamily="34" charset="-122"/>
                <a:cs typeface="Calibri" pitchFamily="34" charset="-120"/>
              </a:rPr>
              <a:t>Incident Handling Lab  |  Elastic SIEM</a:t>
            </a:r>
            <a:endParaRPr lang="en-US" sz="900"/>
          </a:p>
        </p:txBody>
      </p:sp>
      <p:sp>
        <p:nvSpPr>
          <p:cNvPr id="34" name="Text 28"/>
          <p:cNvSpPr/>
          <p:nvPr/>
        </p:nvSpPr>
        <p:spPr>
          <a:xfrm>
            <a:off x="11094415" y="6537960"/>
            <a:ext cx="914400" cy="228600"/>
          </a:xfrm>
          <a:prstGeom prst="rect">
            <a:avLst/>
          </a:prstGeom>
          <a:noFill/>
          <a:ln/>
        </p:spPr>
        <p:txBody>
          <a:bodyPr wrap="square" lIns="0" tIns="0" rIns="0" bIns="0" rtlCol="0" anchor="ctr"/>
          <a:lstStyle/>
          <a:p>
            <a:pPr marL="0" indent="0" algn="r">
              <a:buNone/>
            </a:pPr>
            <a:r>
              <a:rPr lang="en-US" sz="900">
                <a:solidFill>
                  <a:srgbClr val="94A3B8"/>
                </a:solidFill>
                <a:latin typeface="Calibri" pitchFamily="34" charset="0"/>
                <a:ea typeface="Calibri" pitchFamily="34" charset="-122"/>
                <a:cs typeface="Calibri" pitchFamily="34" charset="-120"/>
              </a:rPr>
              <a:t>8 / 29</a:t>
            </a:r>
            <a:endParaRPr lang="en-US" sz="9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65760" y="457200"/>
            <a:ext cx="109728" cy="731520"/>
          </a:xfrm>
          <a:prstGeom prst="rect">
            <a:avLst/>
          </a:prstGeom>
          <a:solidFill>
            <a:srgbClr val="00D9FF"/>
          </a:solidFill>
          <a:ln/>
        </p:spPr>
        <p:txBody>
          <a:bodyPr/>
          <a:lstStyle/>
          <a:p>
            <a:endParaRPr lang="en-US"/>
          </a:p>
        </p:txBody>
      </p:sp>
      <p:sp>
        <p:nvSpPr>
          <p:cNvPr id="3" name="Text 1"/>
          <p:cNvSpPr/>
          <p:nvPr/>
        </p:nvSpPr>
        <p:spPr>
          <a:xfrm>
            <a:off x="640080" y="411480"/>
            <a:ext cx="10515600" cy="502920"/>
          </a:xfrm>
          <a:prstGeom prst="rect">
            <a:avLst/>
          </a:prstGeom>
          <a:noFill/>
          <a:ln/>
        </p:spPr>
        <p:txBody>
          <a:bodyPr wrap="square" lIns="0" tIns="0" rIns="0" bIns="0" rtlCol="0" anchor="t"/>
          <a:lstStyle/>
          <a:p>
            <a:pPr marL="0" indent="0">
              <a:buNone/>
            </a:pPr>
            <a:r>
              <a:rPr lang="en-US" sz="2800" b="1">
                <a:solidFill>
                  <a:srgbClr val="0F172A"/>
                </a:solidFill>
                <a:latin typeface="Calibri" pitchFamily="34" charset="0"/>
                <a:ea typeface="Calibri" pitchFamily="34" charset="-122"/>
                <a:cs typeface="Calibri" pitchFamily="34" charset="-120"/>
              </a:rPr>
              <a:t>Build Phases — The Four-Step Deployment</a:t>
            </a:r>
            <a:endParaRPr lang="en-US" sz="2800"/>
          </a:p>
        </p:txBody>
      </p:sp>
      <p:sp>
        <p:nvSpPr>
          <p:cNvPr id="4" name="Text 2"/>
          <p:cNvSpPr/>
          <p:nvPr/>
        </p:nvSpPr>
        <p:spPr>
          <a:xfrm>
            <a:off x="640080" y="868680"/>
            <a:ext cx="10515600" cy="320040"/>
          </a:xfrm>
          <a:prstGeom prst="rect">
            <a:avLst/>
          </a:prstGeom>
          <a:noFill/>
          <a:ln/>
        </p:spPr>
        <p:txBody>
          <a:bodyPr wrap="square" lIns="0" tIns="0" rIns="0" bIns="0" rtlCol="0" anchor="t"/>
          <a:lstStyle/>
          <a:p>
            <a:pPr marL="0" indent="0">
              <a:buNone/>
            </a:pPr>
            <a:r>
              <a:rPr lang="en-US" sz="1300" i="1">
                <a:solidFill>
                  <a:srgbClr val="475569"/>
                </a:solidFill>
                <a:latin typeface="Calibri" pitchFamily="34" charset="0"/>
                <a:ea typeface="Calibri" pitchFamily="34" charset="-122"/>
                <a:cs typeface="Calibri" pitchFamily="34" charset="-120"/>
              </a:rPr>
              <a:t>How the lab was assembled, in order</a:t>
            </a:r>
            <a:endParaRPr lang="en-US" sz="1300"/>
          </a:p>
        </p:txBody>
      </p:sp>
      <p:sp>
        <p:nvSpPr>
          <p:cNvPr id="5" name="Shape 3"/>
          <p:cNvSpPr/>
          <p:nvPr/>
        </p:nvSpPr>
        <p:spPr>
          <a:xfrm>
            <a:off x="640080" y="1463040"/>
            <a:ext cx="2743200" cy="4389120"/>
          </a:xfrm>
          <a:prstGeom prst="rect">
            <a:avLst/>
          </a:prstGeom>
          <a:solidFill>
            <a:srgbClr val="FFFFFF"/>
          </a:solidFill>
          <a:ln w="12700">
            <a:solidFill>
              <a:srgbClr val="E2E8F0"/>
            </a:solidFill>
            <a:prstDash val="solid"/>
          </a:ln>
          <a:effectLst>
            <a:outerShdw blurRad="101600" dist="38100" dir="5400000" algn="bl" rotWithShape="0">
              <a:srgbClr val="000000">
                <a:alpha val="12000"/>
              </a:srgbClr>
            </a:outerShdw>
          </a:effectLst>
        </p:spPr>
        <p:txBody>
          <a:bodyPr/>
          <a:lstStyle/>
          <a:p>
            <a:endParaRPr lang="en-US"/>
          </a:p>
        </p:txBody>
      </p:sp>
      <p:sp>
        <p:nvSpPr>
          <p:cNvPr id="6" name="Shape 4"/>
          <p:cNvSpPr/>
          <p:nvPr/>
        </p:nvSpPr>
        <p:spPr>
          <a:xfrm>
            <a:off x="640080" y="1463040"/>
            <a:ext cx="2743200" cy="1097280"/>
          </a:xfrm>
          <a:prstGeom prst="rect">
            <a:avLst/>
          </a:prstGeom>
          <a:solidFill>
            <a:srgbClr val="A78BFA"/>
          </a:solidFill>
          <a:ln/>
        </p:spPr>
        <p:txBody>
          <a:bodyPr/>
          <a:lstStyle/>
          <a:p>
            <a:endParaRPr lang="en-US"/>
          </a:p>
        </p:txBody>
      </p:sp>
      <p:sp>
        <p:nvSpPr>
          <p:cNvPr id="7" name="Text 5"/>
          <p:cNvSpPr/>
          <p:nvPr/>
        </p:nvSpPr>
        <p:spPr>
          <a:xfrm>
            <a:off x="822960" y="1554480"/>
            <a:ext cx="2377440" cy="731520"/>
          </a:xfrm>
          <a:prstGeom prst="rect">
            <a:avLst/>
          </a:prstGeom>
          <a:noFill/>
          <a:ln/>
        </p:spPr>
        <p:txBody>
          <a:bodyPr wrap="square" lIns="0" tIns="0" rIns="0" bIns="0" rtlCol="0" anchor="ctr"/>
          <a:lstStyle/>
          <a:p>
            <a:pPr marL="0" indent="0" algn="l">
              <a:buNone/>
            </a:pPr>
            <a:r>
              <a:rPr lang="en-US" sz="4800" b="1">
                <a:solidFill>
                  <a:srgbClr val="FFFFFF"/>
                </a:solidFill>
                <a:latin typeface="Calibri" pitchFamily="34" charset="0"/>
                <a:ea typeface="Calibri" pitchFamily="34" charset="-122"/>
                <a:cs typeface="Calibri" pitchFamily="34" charset="-120"/>
              </a:rPr>
              <a:t>01</a:t>
            </a:r>
            <a:endParaRPr lang="en-US" sz="4800"/>
          </a:p>
        </p:txBody>
      </p:sp>
      <p:pic>
        <p:nvPicPr>
          <p:cNvPr id="8" name="Image 0" descr="preencoded.png"/>
          <p:cNvPicPr>
            <a:picLocks noChangeAspect="1"/>
          </p:cNvPicPr>
          <p:nvPr/>
        </p:nvPicPr>
        <p:blipFill>
          <a:blip r:embed="rId3"/>
          <a:stretch>
            <a:fillRect/>
          </a:stretch>
        </p:blipFill>
        <p:spPr>
          <a:xfrm>
            <a:off x="2560320" y="1828800"/>
            <a:ext cx="502920" cy="502920"/>
          </a:xfrm>
          <a:prstGeom prst="rect">
            <a:avLst/>
          </a:prstGeom>
        </p:spPr>
      </p:pic>
      <p:sp>
        <p:nvSpPr>
          <p:cNvPr id="9" name="Text 6"/>
          <p:cNvSpPr/>
          <p:nvPr/>
        </p:nvSpPr>
        <p:spPr>
          <a:xfrm>
            <a:off x="2468880" y="1600200"/>
            <a:ext cx="731520" cy="228600"/>
          </a:xfrm>
          <a:prstGeom prst="rect">
            <a:avLst/>
          </a:prstGeom>
          <a:noFill/>
          <a:ln/>
        </p:spPr>
        <p:txBody>
          <a:bodyPr wrap="square" lIns="0" tIns="0" rIns="0" bIns="0" rtlCol="0" anchor="ctr"/>
          <a:lstStyle/>
          <a:p>
            <a:pPr marL="0" indent="0" algn="r">
              <a:buNone/>
            </a:pPr>
            <a:r>
              <a:rPr lang="en-US" sz="900" b="1" kern="0" spc="300">
                <a:solidFill>
                  <a:srgbClr val="FFFFFF"/>
                </a:solidFill>
                <a:latin typeface="Calibri" pitchFamily="34" charset="0"/>
                <a:ea typeface="Calibri" pitchFamily="34" charset="-122"/>
                <a:cs typeface="Calibri" pitchFamily="34" charset="-120"/>
              </a:rPr>
              <a:t>PHASE</a:t>
            </a:r>
            <a:endParaRPr lang="en-US" sz="900"/>
          </a:p>
        </p:txBody>
      </p:sp>
      <p:sp>
        <p:nvSpPr>
          <p:cNvPr id="10" name="Text 7"/>
          <p:cNvSpPr/>
          <p:nvPr/>
        </p:nvSpPr>
        <p:spPr>
          <a:xfrm>
            <a:off x="914400" y="2743200"/>
            <a:ext cx="2194560" cy="822960"/>
          </a:xfrm>
          <a:prstGeom prst="rect">
            <a:avLst/>
          </a:prstGeom>
          <a:noFill/>
          <a:ln/>
        </p:spPr>
        <p:txBody>
          <a:bodyPr wrap="square" lIns="0" tIns="0" rIns="0" bIns="0" rtlCol="0" anchor="t"/>
          <a:lstStyle/>
          <a:p>
            <a:pPr marL="0" indent="0">
              <a:buNone/>
            </a:pPr>
            <a:r>
              <a:rPr lang="en-US" sz="1700" b="1">
                <a:solidFill>
                  <a:srgbClr val="0F172A"/>
                </a:solidFill>
                <a:latin typeface="Calibri" pitchFamily="34" charset="0"/>
                <a:ea typeface="Calibri" pitchFamily="34" charset="-122"/>
                <a:cs typeface="Calibri" pitchFamily="34" charset="-120"/>
              </a:rPr>
              <a:t>Install the ELK Stack</a:t>
            </a:r>
            <a:endParaRPr lang="en-US" sz="1700"/>
          </a:p>
        </p:txBody>
      </p:sp>
      <p:sp>
        <p:nvSpPr>
          <p:cNvPr id="11" name="Text 8"/>
          <p:cNvSpPr/>
          <p:nvPr/>
        </p:nvSpPr>
        <p:spPr>
          <a:xfrm>
            <a:off x="914400" y="3657600"/>
            <a:ext cx="2194560" cy="2103120"/>
          </a:xfrm>
          <a:prstGeom prst="rect">
            <a:avLst/>
          </a:prstGeom>
          <a:noFill/>
          <a:ln/>
        </p:spPr>
        <p:txBody>
          <a:bodyPr wrap="square" lIns="0" tIns="0" rIns="0" bIns="0" rtlCol="0" anchor="t"/>
          <a:lstStyle/>
          <a:p>
            <a:pPr marL="0" indent="0">
              <a:buNone/>
            </a:pPr>
            <a:r>
              <a:rPr lang="en-US" sz="1100">
                <a:solidFill>
                  <a:srgbClr val="475569"/>
                </a:solidFill>
                <a:latin typeface="Calibri" pitchFamily="34" charset="0"/>
                <a:ea typeface="Calibri" pitchFamily="34" charset="-122"/>
                <a:cs typeface="Calibri" pitchFamily="34" charset="-120"/>
              </a:rPr>
              <a:t>Elasticsearch on port 9200, Kibana on port 5601 accessed via URL, Logstash as the processing layer. All from the official Elastic APT repository.</a:t>
            </a:r>
            <a:endParaRPr lang="en-US" sz="1100"/>
          </a:p>
        </p:txBody>
      </p:sp>
      <p:sp>
        <p:nvSpPr>
          <p:cNvPr id="12" name="Shape 9"/>
          <p:cNvSpPr/>
          <p:nvPr/>
        </p:nvSpPr>
        <p:spPr>
          <a:xfrm>
            <a:off x="3547872" y="1463040"/>
            <a:ext cx="2743200" cy="4389120"/>
          </a:xfrm>
          <a:prstGeom prst="rect">
            <a:avLst/>
          </a:prstGeom>
          <a:solidFill>
            <a:srgbClr val="FFFFFF"/>
          </a:solidFill>
          <a:ln w="12700">
            <a:solidFill>
              <a:srgbClr val="E2E8F0"/>
            </a:solidFill>
            <a:prstDash val="solid"/>
          </a:ln>
          <a:effectLst>
            <a:outerShdw blurRad="101600" dist="38100" dir="5400000" algn="bl" rotWithShape="0">
              <a:srgbClr val="000000">
                <a:alpha val="12000"/>
              </a:srgbClr>
            </a:outerShdw>
          </a:effectLst>
        </p:spPr>
        <p:txBody>
          <a:bodyPr/>
          <a:lstStyle/>
          <a:p>
            <a:endParaRPr lang="en-US"/>
          </a:p>
        </p:txBody>
      </p:sp>
      <p:sp>
        <p:nvSpPr>
          <p:cNvPr id="13" name="Shape 10"/>
          <p:cNvSpPr/>
          <p:nvPr/>
        </p:nvSpPr>
        <p:spPr>
          <a:xfrm>
            <a:off x="3547872" y="1463040"/>
            <a:ext cx="2743200" cy="1097280"/>
          </a:xfrm>
          <a:prstGeom prst="rect">
            <a:avLst/>
          </a:prstGeom>
          <a:solidFill>
            <a:srgbClr val="00D9FF"/>
          </a:solidFill>
          <a:ln/>
        </p:spPr>
        <p:txBody>
          <a:bodyPr/>
          <a:lstStyle/>
          <a:p>
            <a:endParaRPr lang="en-US"/>
          </a:p>
        </p:txBody>
      </p:sp>
      <p:sp>
        <p:nvSpPr>
          <p:cNvPr id="14" name="Text 11"/>
          <p:cNvSpPr/>
          <p:nvPr/>
        </p:nvSpPr>
        <p:spPr>
          <a:xfrm>
            <a:off x="3730752" y="1554480"/>
            <a:ext cx="2377440" cy="731520"/>
          </a:xfrm>
          <a:prstGeom prst="rect">
            <a:avLst/>
          </a:prstGeom>
          <a:noFill/>
          <a:ln/>
        </p:spPr>
        <p:txBody>
          <a:bodyPr wrap="square" lIns="0" tIns="0" rIns="0" bIns="0" rtlCol="0" anchor="ctr"/>
          <a:lstStyle/>
          <a:p>
            <a:pPr marL="0" indent="0" algn="l">
              <a:buNone/>
            </a:pPr>
            <a:r>
              <a:rPr lang="en-US" sz="4800" b="1">
                <a:solidFill>
                  <a:srgbClr val="FFFFFF"/>
                </a:solidFill>
                <a:latin typeface="Calibri" pitchFamily="34" charset="0"/>
                <a:ea typeface="Calibri" pitchFamily="34" charset="-122"/>
                <a:cs typeface="Calibri" pitchFamily="34" charset="-120"/>
              </a:rPr>
              <a:t>02</a:t>
            </a:r>
            <a:endParaRPr lang="en-US" sz="4800"/>
          </a:p>
        </p:txBody>
      </p:sp>
      <p:pic>
        <p:nvPicPr>
          <p:cNvPr id="15" name="Image 1" descr="preencoded.png"/>
          <p:cNvPicPr>
            <a:picLocks noChangeAspect="1"/>
          </p:cNvPicPr>
          <p:nvPr/>
        </p:nvPicPr>
        <p:blipFill>
          <a:blip r:embed="rId4"/>
          <a:stretch>
            <a:fillRect/>
          </a:stretch>
        </p:blipFill>
        <p:spPr>
          <a:xfrm>
            <a:off x="5468112" y="1828800"/>
            <a:ext cx="502920" cy="502920"/>
          </a:xfrm>
          <a:prstGeom prst="rect">
            <a:avLst/>
          </a:prstGeom>
        </p:spPr>
      </p:pic>
      <p:sp>
        <p:nvSpPr>
          <p:cNvPr id="16" name="Text 12"/>
          <p:cNvSpPr/>
          <p:nvPr/>
        </p:nvSpPr>
        <p:spPr>
          <a:xfrm>
            <a:off x="5376672" y="1600200"/>
            <a:ext cx="731520" cy="228600"/>
          </a:xfrm>
          <a:prstGeom prst="rect">
            <a:avLst/>
          </a:prstGeom>
          <a:noFill/>
          <a:ln/>
        </p:spPr>
        <p:txBody>
          <a:bodyPr wrap="square" lIns="0" tIns="0" rIns="0" bIns="0" rtlCol="0" anchor="ctr"/>
          <a:lstStyle/>
          <a:p>
            <a:pPr marL="0" indent="0" algn="r">
              <a:buNone/>
            </a:pPr>
            <a:r>
              <a:rPr lang="en-US" sz="900" b="1" kern="0" spc="300">
                <a:solidFill>
                  <a:srgbClr val="FFFFFF"/>
                </a:solidFill>
                <a:latin typeface="Calibri" pitchFamily="34" charset="0"/>
                <a:ea typeface="Calibri" pitchFamily="34" charset="-122"/>
                <a:cs typeface="Calibri" pitchFamily="34" charset="-120"/>
              </a:rPr>
              <a:t>PHASE</a:t>
            </a:r>
            <a:endParaRPr lang="en-US" sz="900"/>
          </a:p>
        </p:txBody>
      </p:sp>
      <p:sp>
        <p:nvSpPr>
          <p:cNvPr id="17" name="Text 13"/>
          <p:cNvSpPr/>
          <p:nvPr/>
        </p:nvSpPr>
        <p:spPr>
          <a:xfrm>
            <a:off x="3822192" y="2743200"/>
            <a:ext cx="2194560" cy="822960"/>
          </a:xfrm>
          <a:prstGeom prst="rect">
            <a:avLst/>
          </a:prstGeom>
          <a:noFill/>
          <a:ln/>
        </p:spPr>
        <p:txBody>
          <a:bodyPr wrap="square" lIns="0" tIns="0" rIns="0" bIns="0" rtlCol="0" anchor="t"/>
          <a:lstStyle/>
          <a:p>
            <a:pPr marL="0" indent="0">
              <a:buNone/>
            </a:pPr>
            <a:r>
              <a:rPr lang="en-US" sz="1700" b="1">
                <a:solidFill>
                  <a:srgbClr val="0F172A"/>
                </a:solidFill>
                <a:latin typeface="Calibri" pitchFamily="34" charset="0"/>
                <a:ea typeface="Calibri" pitchFamily="34" charset="-122"/>
                <a:cs typeface="Calibri" pitchFamily="34" charset="-120"/>
              </a:rPr>
              <a:t>Set up the Fleet Server</a:t>
            </a:r>
            <a:endParaRPr lang="en-US" sz="1700"/>
          </a:p>
        </p:txBody>
      </p:sp>
      <p:sp>
        <p:nvSpPr>
          <p:cNvPr id="18" name="Text 14"/>
          <p:cNvSpPr/>
          <p:nvPr/>
        </p:nvSpPr>
        <p:spPr>
          <a:xfrm>
            <a:off x="3822192" y="3657600"/>
            <a:ext cx="2194560" cy="2103120"/>
          </a:xfrm>
          <a:prstGeom prst="rect">
            <a:avLst/>
          </a:prstGeom>
          <a:noFill/>
          <a:ln/>
        </p:spPr>
        <p:txBody>
          <a:bodyPr wrap="square" lIns="0" tIns="0" rIns="0" bIns="0" rtlCol="0" anchor="t"/>
          <a:lstStyle/>
          <a:p>
            <a:pPr marL="0" indent="0">
              <a:buNone/>
            </a:pPr>
            <a:r>
              <a:rPr lang="en-US" sz="1100">
                <a:solidFill>
                  <a:srgbClr val="475569"/>
                </a:solidFill>
                <a:latin typeface="Calibri" pitchFamily="34" charset="0"/>
                <a:ea typeface="Calibri" pitchFamily="34" charset="-122"/>
                <a:cs typeface="Calibri" pitchFamily="34" charset="-120"/>
              </a:rPr>
              <a:t>Dedicated Ubuntu VM running Fleet on port 8220. Generates installation commands and authenticates every agent that enrolls.</a:t>
            </a:r>
            <a:endParaRPr lang="en-US" sz="1100"/>
          </a:p>
        </p:txBody>
      </p:sp>
      <p:sp>
        <p:nvSpPr>
          <p:cNvPr id="19" name="Shape 15"/>
          <p:cNvSpPr/>
          <p:nvPr/>
        </p:nvSpPr>
        <p:spPr>
          <a:xfrm>
            <a:off x="6455664" y="1463040"/>
            <a:ext cx="2743200" cy="4389120"/>
          </a:xfrm>
          <a:prstGeom prst="rect">
            <a:avLst/>
          </a:prstGeom>
          <a:solidFill>
            <a:srgbClr val="FFFFFF"/>
          </a:solidFill>
          <a:ln w="12700">
            <a:solidFill>
              <a:srgbClr val="E2E8F0"/>
            </a:solidFill>
            <a:prstDash val="solid"/>
          </a:ln>
          <a:effectLst>
            <a:outerShdw blurRad="101600" dist="38100" dir="5400000" algn="bl" rotWithShape="0">
              <a:srgbClr val="000000">
                <a:alpha val="12000"/>
              </a:srgbClr>
            </a:outerShdw>
          </a:effectLst>
        </p:spPr>
        <p:txBody>
          <a:bodyPr/>
          <a:lstStyle/>
          <a:p>
            <a:endParaRPr lang="en-US"/>
          </a:p>
        </p:txBody>
      </p:sp>
      <p:sp>
        <p:nvSpPr>
          <p:cNvPr id="20" name="Shape 16"/>
          <p:cNvSpPr/>
          <p:nvPr/>
        </p:nvSpPr>
        <p:spPr>
          <a:xfrm>
            <a:off x="6455664" y="1463040"/>
            <a:ext cx="2743200" cy="1097280"/>
          </a:xfrm>
          <a:prstGeom prst="rect">
            <a:avLst/>
          </a:prstGeom>
          <a:solidFill>
            <a:srgbClr val="0891B2"/>
          </a:solidFill>
          <a:ln/>
        </p:spPr>
        <p:txBody>
          <a:bodyPr/>
          <a:lstStyle/>
          <a:p>
            <a:endParaRPr lang="en-US"/>
          </a:p>
        </p:txBody>
      </p:sp>
      <p:sp>
        <p:nvSpPr>
          <p:cNvPr id="21" name="Text 17"/>
          <p:cNvSpPr/>
          <p:nvPr/>
        </p:nvSpPr>
        <p:spPr>
          <a:xfrm>
            <a:off x="6638544" y="1554480"/>
            <a:ext cx="2377440" cy="731520"/>
          </a:xfrm>
          <a:prstGeom prst="rect">
            <a:avLst/>
          </a:prstGeom>
          <a:noFill/>
          <a:ln/>
        </p:spPr>
        <p:txBody>
          <a:bodyPr wrap="square" lIns="0" tIns="0" rIns="0" bIns="0" rtlCol="0" anchor="ctr"/>
          <a:lstStyle/>
          <a:p>
            <a:pPr marL="0" indent="0" algn="l">
              <a:buNone/>
            </a:pPr>
            <a:r>
              <a:rPr lang="en-US" sz="4800" b="1">
                <a:solidFill>
                  <a:srgbClr val="FFFFFF"/>
                </a:solidFill>
                <a:latin typeface="Calibri" pitchFamily="34" charset="0"/>
                <a:ea typeface="Calibri" pitchFamily="34" charset="-122"/>
                <a:cs typeface="Calibri" pitchFamily="34" charset="-120"/>
              </a:rPr>
              <a:t>03</a:t>
            </a:r>
            <a:endParaRPr lang="en-US" sz="4800"/>
          </a:p>
        </p:txBody>
      </p:sp>
      <p:pic>
        <p:nvPicPr>
          <p:cNvPr id="22" name="Image 2" descr="preencoded.png"/>
          <p:cNvPicPr>
            <a:picLocks noChangeAspect="1"/>
          </p:cNvPicPr>
          <p:nvPr/>
        </p:nvPicPr>
        <p:blipFill>
          <a:blip r:embed="rId5"/>
          <a:stretch>
            <a:fillRect/>
          </a:stretch>
        </p:blipFill>
        <p:spPr>
          <a:xfrm>
            <a:off x="8375904" y="1828800"/>
            <a:ext cx="502920" cy="502920"/>
          </a:xfrm>
          <a:prstGeom prst="rect">
            <a:avLst/>
          </a:prstGeom>
        </p:spPr>
      </p:pic>
      <p:sp>
        <p:nvSpPr>
          <p:cNvPr id="23" name="Text 18"/>
          <p:cNvSpPr/>
          <p:nvPr/>
        </p:nvSpPr>
        <p:spPr>
          <a:xfrm>
            <a:off x="8284464" y="1600200"/>
            <a:ext cx="731520" cy="228600"/>
          </a:xfrm>
          <a:prstGeom prst="rect">
            <a:avLst/>
          </a:prstGeom>
          <a:noFill/>
          <a:ln/>
        </p:spPr>
        <p:txBody>
          <a:bodyPr wrap="square" lIns="0" tIns="0" rIns="0" bIns="0" rtlCol="0" anchor="ctr"/>
          <a:lstStyle/>
          <a:p>
            <a:pPr marL="0" indent="0" algn="r">
              <a:buNone/>
            </a:pPr>
            <a:r>
              <a:rPr lang="en-US" sz="900" b="1" kern="0" spc="300">
                <a:solidFill>
                  <a:srgbClr val="FFFFFF"/>
                </a:solidFill>
                <a:latin typeface="Calibri" pitchFamily="34" charset="0"/>
                <a:ea typeface="Calibri" pitchFamily="34" charset="-122"/>
                <a:cs typeface="Calibri" pitchFamily="34" charset="-120"/>
              </a:rPr>
              <a:t>PHASE</a:t>
            </a:r>
            <a:endParaRPr lang="en-US" sz="900"/>
          </a:p>
        </p:txBody>
      </p:sp>
      <p:sp>
        <p:nvSpPr>
          <p:cNvPr id="24" name="Text 19"/>
          <p:cNvSpPr/>
          <p:nvPr/>
        </p:nvSpPr>
        <p:spPr>
          <a:xfrm>
            <a:off x="6729984" y="2743200"/>
            <a:ext cx="2194560" cy="822960"/>
          </a:xfrm>
          <a:prstGeom prst="rect">
            <a:avLst/>
          </a:prstGeom>
          <a:noFill/>
          <a:ln/>
        </p:spPr>
        <p:txBody>
          <a:bodyPr wrap="square" lIns="0" tIns="0" rIns="0" bIns="0" rtlCol="0" anchor="t"/>
          <a:lstStyle/>
          <a:p>
            <a:pPr marL="0" indent="0">
              <a:buNone/>
            </a:pPr>
            <a:r>
              <a:rPr lang="en-US" sz="1700" b="1">
                <a:solidFill>
                  <a:srgbClr val="0F172A"/>
                </a:solidFill>
                <a:latin typeface="Calibri" pitchFamily="34" charset="0"/>
                <a:ea typeface="Calibri" pitchFamily="34" charset="-122"/>
                <a:cs typeface="Calibri" pitchFamily="34" charset="-120"/>
              </a:rPr>
              <a:t>Deploy Elastic Agents</a:t>
            </a:r>
            <a:endParaRPr lang="en-US" sz="1700"/>
          </a:p>
        </p:txBody>
      </p:sp>
      <p:sp>
        <p:nvSpPr>
          <p:cNvPr id="25" name="Text 20"/>
          <p:cNvSpPr/>
          <p:nvPr/>
        </p:nvSpPr>
        <p:spPr>
          <a:xfrm>
            <a:off x="6729984" y="3657600"/>
            <a:ext cx="2194560" cy="2103120"/>
          </a:xfrm>
          <a:prstGeom prst="rect">
            <a:avLst/>
          </a:prstGeom>
          <a:noFill/>
          <a:ln/>
        </p:spPr>
        <p:txBody>
          <a:bodyPr wrap="square" lIns="0" tIns="0" rIns="0" bIns="0" rtlCol="0" anchor="t"/>
          <a:lstStyle/>
          <a:p>
            <a:pPr marL="0" indent="0">
              <a:buNone/>
            </a:pPr>
            <a:r>
              <a:rPr lang="en-US" sz="1100">
                <a:solidFill>
                  <a:srgbClr val="475569"/>
                </a:solidFill>
                <a:latin typeface="Calibri" pitchFamily="34" charset="0"/>
                <a:ea typeface="Calibri" pitchFamily="34" charset="-122"/>
                <a:cs typeface="Calibri" pitchFamily="34" charset="-120"/>
              </a:rPr>
              <a:t>One on Windows Server (PowerShell), one on the ELK server, one on the Fleet host. Each agent receives a unique enrollment token from Kibana.</a:t>
            </a:r>
            <a:endParaRPr lang="en-US" sz="1100"/>
          </a:p>
        </p:txBody>
      </p:sp>
      <p:sp>
        <p:nvSpPr>
          <p:cNvPr id="26" name="Shape 21"/>
          <p:cNvSpPr/>
          <p:nvPr/>
        </p:nvSpPr>
        <p:spPr>
          <a:xfrm>
            <a:off x="9363456" y="1463040"/>
            <a:ext cx="2743200" cy="4389120"/>
          </a:xfrm>
          <a:prstGeom prst="rect">
            <a:avLst/>
          </a:prstGeom>
          <a:solidFill>
            <a:srgbClr val="FFFFFF"/>
          </a:solidFill>
          <a:ln w="12700">
            <a:solidFill>
              <a:srgbClr val="E2E8F0"/>
            </a:solidFill>
            <a:prstDash val="solid"/>
          </a:ln>
          <a:effectLst>
            <a:outerShdw blurRad="101600" dist="38100" dir="5400000" algn="bl" rotWithShape="0">
              <a:srgbClr val="000000">
                <a:alpha val="12000"/>
              </a:srgbClr>
            </a:outerShdw>
          </a:effectLst>
        </p:spPr>
        <p:txBody>
          <a:bodyPr/>
          <a:lstStyle/>
          <a:p>
            <a:endParaRPr lang="en-US"/>
          </a:p>
        </p:txBody>
      </p:sp>
      <p:sp>
        <p:nvSpPr>
          <p:cNvPr id="27" name="Shape 22"/>
          <p:cNvSpPr/>
          <p:nvPr/>
        </p:nvSpPr>
        <p:spPr>
          <a:xfrm>
            <a:off x="9363456" y="1463040"/>
            <a:ext cx="2743200" cy="1097280"/>
          </a:xfrm>
          <a:prstGeom prst="rect">
            <a:avLst/>
          </a:prstGeom>
          <a:solidFill>
            <a:srgbClr val="F59E0B"/>
          </a:solidFill>
          <a:ln/>
        </p:spPr>
        <p:txBody>
          <a:bodyPr/>
          <a:lstStyle/>
          <a:p>
            <a:endParaRPr lang="en-US"/>
          </a:p>
        </p:txBody>
      </p:sp>
      <p:sp>
        <p:nvSpPr>
          <p:cNvPr id="28" name="Text 23"/>
          <p:cNvSpPr/>
          <p:nvPr/>
        </p:nvSpPr>
        <p:spPr>
          <a:xfrm>
            <a:off x="9546336" y="1554480"/>
            <a:ext cx="2377440" cy="731520"/>
          </a:xfrm>
          <a:prstGeom prst="rect">
            <a:avLst/>
          </a:prstGeom>
          <a:noFill/>
          <a:ln/>
        </p:spPr>
        <p:txBody>
          <a:bodyPr wrap="square" lIns="0" tIns="0" rIns="0" bIns="0" rtlCol="0" anchor="ctr"/>
          <a:lstStyle/>
          <a:p>
            <a:pPr marL="0" indent="0" algn="l">
              <a:buNone/>
            </a:pPr>
            <a:r>
              <a:rPr lang="en-US" sz="4800" b="1">
                <a:solidFill>
                  <a:srgbClr val="FFFFFF"/>
                </a:solidFill>
                <a:latin typeface="Calibri" pitchFamily="34" charset="0"/>
                <a:ea typeface="Calibri" pitchFamily="34" charset="-122"/>
                <a:cs typeface="Calibri" pitchFamily="34" charset="-120"/>
              </a:rPr>
              <a:t>04</a:t>
            </a:r>
            <a:endParaRPr lang="en-US" sz="4800"/>
          </a:p>
        </p:txBody>
      </p:sp>
      <p:pic>
        <p:nvPicPr>
          <p:cNvPr id="29" name="Image 3" descr="preencoded.png"/>
          <p:cNvPicPr>
            <a:picLocks noChangeAspect="1"/>
          </p:cNvPicPr>
          <p:nvPr/>
        </p:nvPicPr>
        <p:blipFill>
          <a:blip r:embed="rId6"/>
          <a:stretch>
            <a:fillRect/>
          </a:stretch>
        </p:blipFill>
        <p:spPr>
          <a:xfrm>
            <a:off x="11283696" y="1828800"/>
            <a:ext cx="502920" cy="502920"/>
          </a:xfrm>
          <a:prstGeom prst="rect">
            <a:avLst/>
          </a:prstGeom>
        </p:spPr>
      </p:pic>
      <p:sp>
        <p:nvSpPr>
          <p:cNvPr id="30" name="Text 24"/>
          <p:cNvSpPr/>
          <p:nvPr/>
        </p:nvSpPr>
        <p:spPr>
          <a:xfrm>
            <a:off x="11192256" y="1600200"/>
            <a:ext cx="731520" cy="228600"/>
          </a:xfrm>
          <a:prstGeom prst="rect">
            <a:avLst/>
          </a:prstGeom>
          <a:noFill/>
          <a:ln/>
        </p:spPr>
        <p:txBody>
          <a:bodyPr wrap="square" lIns="0" tIns="0" rIns="0" bIns="0" rtlCol="0" anchor="ctr"/>
          <a:lstStyle/>
          <a:p>
            <a:pPr marL="0" indent="0" algn="r">
              <a:buNone/>
            </a:pPr>
            <a:r>
              <a:rPr lang="en-US" sz="900" b="1" kern="0" spc="300">
                <a:solidFill>
                  <a:srgbClr val="FFFFFF"/>
                </a:solidFill>
                <a:latin typeface="Calibri" pitchFamily="34" charset="0"/>
                <a:ea typeface="Calibri" pitchFamily="34" charset="-122"/>
                <a:cs typeface="Calibri" pitchFamily="34" charset="-120"/>
              </a:rPr>
              <a:t>PHASE</a:t>
            </a:r>
            <a:endParaRPr lang="en-US" sz="900"/>
          </a:p>
        </p:txBody>
      </p:sp>
      <p:sp>
        <p:nvSpPr>
          <p:cNvPr id="31" name="Text 25"/>
          <p:cNvSpPr/>
          <p:nvPr/>
        </p:nvSpPr>
        <p:spPr>
          <a:xfrm>
            <a:off x="9637776" y="2743200"/>
            <a:ext cx="2194560" cy="822960"/>
          </a:xfrm>
          <a:prstGeom prst="rect">
            <a:avLst/>
          </a:prstGeom>
          <a:noFill/>
          <a:ln/>
        </p:spPr>
        <p:txBody>
          <a:bodyPr wrap="square" lIns="0" tIns="0" rIns="0" bIns="0" rtlCol="0" anchor="t"/>
          <a:lstStyle/>
          <a:p>
            <a:pPr marL="0" indent="0">
              <a:buNone/>
            </a:pPr>
            <a:r>
              <a:rPr lang="en-US" sz="1700" b="1">
                <a:solidFill>
                  <a:srgbClr val="0F172A"/>
                </a:solidFill>
                <a:latin typeface="Calibri" pitchFamily="34" charset="0"/>
                <a:ea typeface="Calibri" pitchFamily="34" charset="-122"/>
                <a:cs typeface="Calibri" pitchFamily="34" charset="-120"/>
              </a:rPr>
              <a:t>Add the Windows Integration</a:t>
            </a:r>
            <a:endParaRPr lang="en-US" sz="1700"/>
          </a:p>
        </p:txBody>
      </p:sp>
      <p:sp>
        <p:nvSpPr>
          <p:cNvPr id="32" name="Text 26"/>
          <p:cNvSpPr/>
          <p:nvPr/>
        </p:nvSpPr>
        <p:spPr>
          <a:xfrm>
            <a:off x="9637776" y="3657600"/>
            <a:ext cx="2194560" cy="2103120"/>
          </a:xfrm>
          <a:prstGeom prst="rect">
            <a:avLst/>
          </a:prstGeom>
          <a:noFill/>
          <a:ln/>
        </p:spPr>
        <p:txBody>
          <a:bodyPr wrap="square" lIns="0" tIns="0" rIns="0" bIns="0" rtlCol="0" anchor="t"/>
          <a:lstStyle/>
          <a:p>
            <a:pPr marL="0" indent="0">
              <a:buNone/>
            </a:pPr>
            <a:r>
              <a:rPr lang="en-US" sz="1100">
                <a:solidFill>
                  <a:srgbClr val="475569"/>
                </a:solidFill>
                <a:latin typeface="Calibri" pitchFamily="34" charset="0"/>
                <a:ea typeface="Calibri" pitchFamily="34" charset="-122"/>
                <a:cs typeface="Calibri" pitchFamily="34" charset="-120"/>
              </a:rPr>
              <a:t>Enables Security events, Sysmon telemetry, and PowerShell logs. Pushed automatically from Kibana to every enrolled agent.</a:t>
            </a:r>
            <a:endParaRPr lang="en-US" sz="1100"/>
          </a:p>
        </p:txBody>
      </p:sp>
      <p:sp>
        <p:nvSpPr>
          <p:cNvPr id="33" name="Shape 27"/>
          <p:cNvSpPr/>
          <p:nvPr/>
        </p:nvSpPr>
        <p:spPr>
          <a:xfrm>
            <a:off x="640080" y="6035040"/>
            <a:ext cx="10911535" cy="365760"/>
          </a:xfrm>
          <a:prstGeom prst="rect">
            <a:avLst/>
          </a:prstGeom>
          <a:solidFill>
            <a:srgbClr val="0F1E38"/>
          </a:solidFill>
          <a:ln/>
        </p:spPr>
        <p:txBody>
          <a:bodyPr/>
          <a:lstStyle/>
          <a:p>
            <a:endParaRPr lang="en-US"/>
          </a:p>
        </p:txBody>
      </p:sp>
      <p:pic>
        <p:nvPicPr>
          <p:cNvPr id="34" name="Image 4" descr="preencoded.png"/>
          <p:cNvPicPr>
            <a:picLocks noChangeAspect="1"/>
          </p:cNvPicPr>
          <p:nvPr/>
        </p:nvPicPr>
        <p:blipFill>
          <a:blip r:embed="rId7"/>
          <a:stretch>
            <a:fillRect/>
          </a:stretch>
        </p:blipFill>
        <p:spPr>
          <a:xfrm>
            <a:off x="822960" y="6099048"/>
            <a:ext cx="256032" cy="256032"/>
          </a:xfrm>
          <a:prstGeom prst="rect">
            <a:avLst/>
          </a:prstGeom>
        </p:spPr>
      </p:pic>
      <p:sp>
        <p:nvSpPr>
          <p:cNvPr id="35" name="Text 28"/>
          <p:cNvSpPr/>
          <p:nvPr/>
        </p:nvSpPr>
        <p:spPr>
          <a:xfrm>
            <a:off x="1143000" y="6035040"/>
            <a:ext cx="10362895" cy="365760"/>
          </a:xfrm>
          <a:prstGeom prst="rect">
            <a:avLst/>
          </a:prstGeom>
          <a:noFill/>
          <a:ln/>
        </p:spPr>
        <p:txBody>
          <a:bodyPr wrap="square" lIns="0" tIns="0" rIns="0" bIns="0" rtlCol="0" anchor="ctr"/>
          <a:lstStyle/>
          <a:p>
            <a:pPr marL="0" indent="0">
              <a:buNone/>
            </a:pPr>
            <a:r>
              <a:rPr lang="en-US" sz="1200" i="1">
                <a:solidFill>
                  <a:srgbClr val="FFFFFF"/>
                </a:solidFill>
                <a:latin typeface="Calibri" pitchFamily="34" charset="0"/>
                <a:ea typeface="Calibri" pitchFamily="34" charset="-122"/>
                <a:cs typeface="Calibri" pitchFamily="34" charset="-120"/>
              </a:rPr>
              <a:t>Outcome:  all agents registered as Healthy in Kibana Fleet, ready for attack simulation</a:t>
            </a:r>
            <a:endParaRPr lang="en-US" sz="1200"/>
          </a:p>
        </p:txBody>
      </p:sp>
      <p:sp>
        <p:nvSpPr>
          <p:cNvPr id="36" name="Text 29"/>
          <p:cNvSpPr/>
          <p:nvPr/>
        </p:nvSpPr>
        <p:spPr>
          <a:xfrm>
            <a:off x="365760" y="6537960"/>
            <a:ext cx="4572000" cy="228600"/>
          </a:xfrm>
          <a:prstGeom prst="rect">
            <a:avLst/>
          </a:prstGeom>
          <a:noFill/>
          <a:ln/>
        </p:spPr>
        <p:txBody>
          <a:bodyPr wrap="square" lIns="0" tIns="0" rIns="0" bIns="0" rtlCol="0" anchor="ctr"/>
          <a:lstStyle/>
          <a:p>
            <a:pPr marL="0" indent="0" algn="l">
              <a:buNone/>
            </a:pPr>
            <a:r>
              <a:rPr lang="en-US" sz="900">
                <a:solidFill>
                  <a:srgbClr val="94A3B8"/>
                </a:solidFill>
                <a:latin typeface="Calibri" pitchFamily="34" charset="0"/>
                <a:ea typeface="Calibri" pitchFamily="34" charset="-122"/>
                <a:cs typeface="Calibri" pitchFamily="34" charset="-120"/>
              </a:rPr>
              <a:t>Incident Handling Lab  |  Elastic SIEM</a:t>
            </a:r>
            <a:endParaRPr lang="en-US" sz="900"/>
          </a:p>
        </p:txBody>
      </p:sp>
      <p:sp>
        <p:nvSpPr>
          <p:cNvPr id="37" name="Text 30"/>
          <p:cNvSpPr/>
          <p:nvPr/>
        </p:nvSpPr>
        <p:spPr>
          <a:xfrm>
            <a:off x="11094415" y="6537960"/>
            <a:ext cx="914400" cy="228600"/>
          </a:xfrm>
          <a:prstGeom prst="rect">
            <a:avLst/>
          </a:prstGeom>
          <a:noFill/>
          <a:ln/>
        </p:spPr>
        <p:txBody>
          <a:bodyPr wrap="square" lIns="0" tIns="0" rIns="0" bIns="0" rtlCol="0" anchor="ctr"/>
          <a:lstStyle/>
          <a:p>
            <a:pPr marL="0" indent="0" algn="r">
              <a:buNone/>
            </a:pPr>
            <a:r>
              <a:rPr lang="en-US" sz="900">
                <a:solidFill>
                  <a:srgbClr val="94A3B8"/>
                </a:solidFill>
                <a:latin typeface="Calibri" pitchFamily="34" charset="0"/>
                <a:ea typeface="Calibri" pitchFamily="34" charset="-122"/>
                <a:cs typeface="Calibri" pitchFamily="34" charset="-120"/>
              </a:rPr>
              <a:t>9 / 29</a:t>
            </a:r>
            <a:endParaRPr lang="en-US" sz="9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1828800" y="5029200"/>
            <a:ext cx="5486400" cy="5486400"/>
          </a:xfrm>
          <a:prstGeom prst="ellipse">
            <a:avLst/>
          </a:prstGeom>
          <a:solidFill>
            <a:srgbClr val="EF4444">
              <a:alpha val="8000"/>
            </a:srgbClr>
          </a:solidFill>
          <a:ln/>
        </p:spPr>
        <p:txBody>
          <a:bodyPr/>
          <a:lstStyle/>
          <a:p>
            <a:endParaRPr lang="en-US"/>
          </a:p>
        </p:txBody>
      </p:sp>
      <p:sp>
        <p:nvSpPr>
          <p:cNvPr id="3" name="Text 1"/>
          <p:cNvSpPr/>
          <p:nvPr/>
        </p:nvSpPr>
        <p:spPr>
          <a:xfrm>
            <a:off x="640080" y="1645920"/>
            <a:ext cx="10911535" cy="365760"/>
          </a:xfrm>
          <a:prstGeom prst="rect">
            <a:avLst/>
          </a:prstGeom>
          <a:noFill/>
          <a:ln/>
        </p:spPr>
        <p:txBody>
          <a:bodyPr wrap="square" rtlCol="0" anchor="ctr"/>
          <a:lstStyle/>
          <a:p>
            <a:pPr marL="0" indent="0" algn="ctr">
              <a:buNone/>
            </a:pPr>
            <a:r>
              <a:rPr lang="en-US" sz="1400" b="1" kern="0" spc="800">
                <a:solidFill>
                  <a:srgbClr val="00D9FF"/>
                </a:solidFill>
                <a:latin typeface="Calibri" pitchFamily="34" charset="0"/>
                <a:ea typeface="Calibri" pitchFamily="34" charset="-122"/>
                <a:cs typeface="Calibri" pitchFamily="34" charset="-120"/>
              </a:rPr>
              <a:t>PART II</a:t>
            </a:r>
            <a:endParaRPr lang="en-US" sz="1400"/>
          </a:p>
        </p:txBody>
      </p:sp>
      <p:sp>
        <p:nvSpPr>
          <p:cNvPr id="4" name="Text 2"/>
          <p:cNvSpPr/>
          <p:nvPr/>
        </p:nvSpPr>
        <p:spPr>
          <a:xfrm>
            <a:off x="640080" y="2103120"/>
            <a:ext cx="10911535" cy="1097280"/>
          </a:xfrm>
          <a:prstGeom prst="rect">
            <a:avLst/>
          </a:prstGeom>
          <a:noFill/>
          <a:ln/>
        </p:spPr>
        <p:txBody>
          <a:bodyPr wrap="square" rtlCol="0" anchor="ctr"/>
          <a:lstStyle/>
          <a:p>
            <a:pPr marL="0" indent="0" algn="ctr">
              <a:buNone/>
            </a:pPr>
            <a:r>
              <a:rPr lang="en-US" sz="6400" b="1">
                <a:solidFill>
                  <a:srgbClr val="FFFFFF"/>
                </a:solidFill>
                <a:latin typeface="Calibri" pitchFamily="34" charset="0"/>
                <a:ea typeface="Calibri" pitchFamily="34" charset="-122"/>
                <a:cs typeface="Calibri" pitchFamily="34" charset="-120"/>
              </a:rPr>
              <a:t>Attack Simulations</a:t>
            </a:r>
            <a:endParaRPr lang="en-US" sz="6400"/>
          </a:p>
        </p:txBody>
      </p:sp>
      <p:sp>
        <p:nvSpPr>
          <p:cNvPr id="5" name="Text 3"/>
          <p:cNvSpPr/>
          <p:nvPr/>
        </p:nvSpPr>
        <p:spPr>
          <a:xfrm>
            <a:off x="640080" y="3291840"/>
            <a:ext cx="10911535" cy="457200"/>
          </a:xfrm>
          <a:prstGeom prst="rect">
            <a:avLst/>
          </a:prstGeom>
          <a:noFill/>
          <a:ln/>
        </p:spPr>
        <p:txBody>
          <a:bodyPr wrap="square" rtlCol="0" anchor="ctr"/>
          <a:lstStyle/>
          <a:p>
            <a:pPr marL="0" indent="0" algn="ctr">
              <a:buNone/>
            </a:pPr>
            <a:r>
              <a:rPr lang="en-US" sz="2000" i="1">
                <a:solidFill>
                  <a:srgbClr val="E2E8F0"/>
                </a:solidFill>
                <a:latin typeface="Calibri" pitchFamily="34" charset="0"/>
                <a:ea typeface="Calibri" pitchFamily="34" charset="-122"/>
                <a:cs typeface="Calibri" pitchFamily="34" charset="-120"/>
              </a:rPr>
              <a:t>Real attacks, from a real Kali box, detected with real telemetry</a:t>
            </a:r>
            <a:endParaRPr lang="en-US" sz="2000"/>
          </a:p>
        </p:txBody>
      </p:sp>
      <p:sp>
        <p:nvSpPr>
          <p:cNvPr id="6" name="Shape 4"/>
          <p:cNvSpPr/>
          <p:nvPr/>
        </p:nvSpPr>
        <p:spPr>
          <a:xfrm>
            <a:off x="655168" y="4297680"/>
            <a:ext cx="3474720" cy="1828800"/>
          </a:xfrm>
          <a:prstGeom prst="rect">
            <a:avLst/>
          </a:prstGeom>
          <a:solidFill>
            <a:srgbClr val="0F1E38"/>
          </a:solidFill>
          <a:ln w="12700">
            <a:solidFill>
              <a:srgbClr val="00D9FF"/>
            </a:solidFill>
            <a:prstDash val="solid"/>
          </a:ln>
        </p:spPr>
        <p:txBody>
          <a:bodyPr/>
          <a:lstStyle/>
          <a:p>
            <a:endParaRPr lang="en-US"/>
          </a:p>
        </p:txBody>
      </p:sp>
      <p:pic>
        <p:nvPicPr>
          <p:cNvPr id="7" name="Image 0" descr="preencoded.png"/>
          <p:cNvPicPr>
            <a:picLocks noChangeAspect="1"/>
          </p:cNvPicPr>
          <p:nvPr/>
        </p:nvPicPr>
        <p:blipFill>
          <a:blip r:embed="rId3"/>
          <a:stretch>
            <a:fillRect/>
          </a:stretch>
        </p:blipFill>
        <p:spPr>
          <a:xfrm>
            <a:off x="929488" y="4617720"/>
            <a:ext cx="502920" cy="502920"/>
          </a:xfrm>
          <a:prstGeom prst="rect">
            <a:avLst/>
          </a:prstGeom>
        </p:spPr>
      </p:pic>
      <p:sp>
        <p:nvSpPr>
          <p:cNvPr id="8" name="Text 5"/>
          <p:cNvSpPr/>
          <p:nvPr/>
        </p:nvSpPr>
        <p:spPr>
          <a:xfrm>
            <a:off x="1569568" y="4572000"/>
            <a:ext cx="2377440" cy="274320"/>
          </a:xfrm>
          <a:prstGeom prst="rect">
            <a:avLst/>
          </a:prstGeom>
          <a:noFill/>
          <a:ln/>
        </p:spPr>
        <p:txBody>
          <a:bodyPr wrap="square" lIns="0" tIns="0" rIns="0" bIns="0" rtlCol="0" anchor="ctr"/>
          <a:lstStyle/>
          <a:p>
            <a:pPr marL="0" indent="0">
              <a:buNone/>
            </a:pPr>
            <a:r>
              <a:rPr lang="en-US" sz="1100" b="1" kern="0" spc="400">
                <a:solidFill>
                  <a:srgbClr val="00D9FF"/>
                </a:solidFill>
                <a:latin typeface="Calibri" pitchFamily="34" charset="0"/>
                <a:ea typeface="Calibri" pitchFamily="34" charset="-122"/>
                <a:cs typeface="Calibri" pitchFamily="34" charset="-120"/>
              </a:rPr>
              <a:t>TASK 1</a:t>
            </a:r>
            <a:endParaRPr lang="en-US" sz="1100"/>
          </a:p>
        </p:txBody>
      </p:sp>
      <p:sp>
        <p:nvSpPr>
          <p:cNvPr id="9" name="Text 6"/>
          <p:cNvSpPr/>
          <p:nvPr/>
        </p:nvSpPr>
        <p:spPr>
          <a:xfrm>
            <a:off x="1569568" y="4846320"/>
            <a:ext cx="2377440" cy="457200"/>
          </a:xfrm>
          <a:prstGeom prst="rect">
            <a:avLst/>
          </a:prstGeom>
          <a:noFill/>
          <a:ln/>
        </p:spPr>
        <p:txBody>
          <a:bodyPr wrap="square" lIns="0" tIns="0" rIns="0" bIns="0" rtlCol="0" anchor="ctr"/>
          <a:lstStyle/>
          <a:p>
            <a:pPr marL="0" indent="0">
              <a:buNone/>
            </a:pPr>
            <a:r>
              <a:rPr lang="en-US" sz="1800" b="1">
                <a:solidFill>
                  <a:srgbClr val="FFFFFF"/>
                </a:solidFill>
                <a:latin typeface="Calibri" pitchFamily="34" charset="0"/>
                <a:ea typeface="Calibri" pitchFamily="34" charset="-122"/>
                <a:cs typeface="Calibri" pitchFamily="34" charset="-120"/>
              </a:rPr>
              <a:t>SSH Brute Force</a:t>
            </a:r>
            <a:endParaRPr lang="en-US" sz="1800"/>
          </a:p>
        </p:txBody>
      </p:sp>
      <p:sp>
        <p:nvSpPr>
          <p:cNvPr id="10" name="Text 7"/>
          <p:cNvSpPr/>
          <p:nvPr/>
        </p:nvSpPr>
        <p:spPr>
          <a:xfrm>
            <a:off x="929488" y="5486400"/>
            <a:ext cx="2926080" cy="594360"/>
          </a:xfrm>
          <a:prstGeom prst="rect">
            <a:avLst/>
          </a:prstGeom>
          <a:noFill/>
          <a:ln/>
        </p:spPr>
        <p:txBody>
          <a:bodyPr wrap="square" lIns="0" tIns="0" rIns="0" bIns="0" rtlCol="0" anchor="ctr"/>
          <a:lstStyle/>
          <a:p>
            <a:pPr marL="0" indent="0">
              <a:buNone/>
            </a:pPr>
            <a:r>
              <a:rPr lang="en-US" sz="1200">
                <a:solidFill>
                  <a:srgbClr val="E2E8F0"/>
                </a:solidFill>
                <a:latin typeface="Consolas" pitchFamily="34" charset="0"/>
                <a:ea typeface="Consolas" pitchFamily="34" charset="-122"/>
                <a:cs typeface="Consolas" pitchFamily="34" charset="-120"/>
              </a:rPr>
              <a:t>Hydra → port 22 → Ubuntu ELK</a:t>
            </a:r>
            <a:endParaRPr lang="en-US" sz="1200"/>
          </a:p>
        </p:txBody>
      </p:sp>
      <p:sp>
        <p:nvSpPr>
          <p:cNvPr id="11" name="Shape 8"/>
          <p:cNvSpPr/>
          <p:nvPr/>
        </p:nvSpPr>
        <p:spPr>
          <a:xfrm>
            <a:off x="4358488" y="4297680"/>
            <a:ext cx="3474720" cy="1828800"/>
          </a:xfrm>
          <a:prstGeom prst="rect">
            <a:avLst/>
          </a:prstGeom>
          <a:solidFill>
            <a:srgbClr val="0F1E38"/>
          </a:solidFill>
          <a:ln w="12700">
            <a:solidFill>
              <a:srgbClr val="A78BFA"/>
            </a:solidFill>
            <a:prstDash val="solid"/>
          </a:ln>
        </p:spPr>
        <p:txBody>
          <a:bodyPr/>
          <a:lstStyle/>
          <a:p>
            <a:endParaRPr lang="en-US"/>
          </a:p>
        </p:txBody>
      </p:sp>
      <p:pic>
        <p:nvPicPr>
          <p:cNvPr id="12" name="Image 1" descr="preencoded.png"/>
          <p:cNvPicPr>
            <a:picLocks noChangeAspect="1"/>
          </p:cNvPicPr>
          <p:nvPr/>
        </p:nvPicPr>
        <p:blipFill>
          <a:blip r:embed="rId4"/>
          <a:stretch>
            <a:fillRect/>
          </a:stretch>
        </p:blipFill>
        <p:spPr>
          <a:xfrm>
            <a:off x="4632808" y="4617720"/>
            <a:ext cx="502920" cy="502920"/>
          </a:xfrm>
          <a:prstGeom prst="rect">
            <a:avLst/>
          </a:prstGeom>
        </p:spPr>
      </p:pic>
      <p:sp>
        <p:nvSpPr>
          <p:cNvPr id="13" name="Text 9"/>
          <p:cNvSpPr/>
          <p:nvPr/>
        </p:nvSpPr>
        <p:spPr>
          <a:xfrm>
            <a:off x="5272888" y="4572000"/>
            <a:ext cx="2377440" cy="274320"/>
          </a:xfrm>
          <a:prstGeom prst="rect">
            <a:avLst/>
          </a:prstGeom>
          <a:noFill/>
          <a:ln/>
        </p:spPr>
        <p:txBody>
          <a:bodyPr wrap="square" lIns="0" tIns="0" rIns="0" bIns="0" rtlCol="0" anchor="ctr"/>
          <a:lstStyle/>
          <a:p>
            <a:pPr marL="0" indent="0">
              <a:buNone/>
            </a:pPr>
            <a:r>
              <a:rPr lang="en-US" sz="1100" b="1" kern="0" spc="400">
                <a:solidFill>
                  <a:srgbClr val="A78BFA"/>
                </a:solidFill>
                <a:latin typeface="Calibri" pitchFamily="34" charset="0"/>
                <a:ea typeface="Calibri" pitchFamily="34" charset="-122"/>
                <a:cs typeface="Calibri" pitchFamily="34" charset="-120"/>
              </a:rPr>
              <a:t>TASK 2</a:t>
            </a:r>
            <a:endParaRPr lang="en-US" sz="1100"/>
          </a:p>
        </p:txBody>
      </p:sp>
      <p:sp>
        <p:nvSpPr>
          <p:cNvPr id="14" name="Text 10"/>
          <p:cNvSpPr/>
          <p:nvPr/>
        </p:nvSpPr>
        <p:spPr>
          <a:xfrm>
            <a:off x="5272888" y="4846320"/>
            <a:ext cx="2377440" cy="457200"/>
          </a:xfrm>
          <a:prstGeom prst="rect">
            <a:avLst/>
          </a:prstGeom>
          <a:noFill/>
          <a:ln/>
        </p:spPr>
        <p:txBody>
          <a:bodyPr wrap="square" lIns="0" tIns="0" rIns="0" bIns="0" rtlCol="0" anchor="ctr"/>
          <a:lstStyle/>
          <a:p>
            <a:pPr marL="0" indent="0">
              <a:buNone/>
            </a:pPr>
            <a:r>
              <a:rPr lang="en-US" sz="1800" b="1">
                <a:solidFill>
                  <a:srgbClr val="FFFFFF"/>
                </a:solidFill>
                <a:latin typeface="Calibri" pitchFamily="34" charset="0"/>
                <a:ea typeface="Calibri" pitchFamily="34" charset="-122"/>
                <a:cs typeface="Calibri" pitchFamily="34" charset="-120"/>
              </a:rPr>
              <a:t>RDP Brute Force</a:t>
            </a:r>
            <a:endParaRPr lang="en-US" sz="1800"/>
          </a:p>
        </p:txBody>
      </p:sp>
      <p:sp>
        <p:nvSpPr>
          <p:cNvPr id="15" name="Text 11"/>
          <p:cNvSpPr/>
          <p:nvPr/>
        </p:nvSpPr>
        <p:spPr>
          <a:xfrm>
            <a:off x="4632808" y="5486400"/>
            <a:ext cx="2926080" cy="594360"/>
          </a:xfrm>
          <a:prstGeom prst="rect">
            <a:avLst/>
          </a:prstGeom>
          <a:noFill/>
          <a:ln/>
        </p:spPr>
        <p:txBody>
          <a:bodyPr wrap="square" lIns="0" tIns="0" rIns="0" bIns="0" rtlCol="0" anchor="ctr"/>
          <a:lstStyle/>
          <a:p>
            <a:pPr marL="0" indent="0">
              <a:buNone/>
            </a:pPr>
            <a:r>
              <a:rPr lang="en-US" sz="1200">
                <a:solidFill>
                  <a:srgbClr val="E2E8F0"/>
                </a:solidFill>
                <a:latin typeface="Consolas" pitchFamily="34" charset="0"/>
                <a:ea typeface="Consolas" pitchFamily="34" charset="-122"/>
                <a:cs typeface="Consolas" pitchFamily="34" charset="-120"/>
              </a:rPr>
              <a:t>Hydra → port 3389 → Windows</a:t>
            </a:r>
            <a:endParaRPr lang="en-US" sz="1200"/>
          </a:p>
        </p:txBody>
      </p:sp>
      <p:sp>
        <p:nvSpPr>
          <p:cNvPr id="16" name="Shape 12"/>
          <p:cNvSpPr/>
          <p:nvPr/>
        </p:nvSpPr>
        <p:spPr>
          <a:xfrm>
            <a:off x="8061808" y="4297680"/>
            <a:ext cx="3474720" cy="1828800"/>
          </a:xfrm>
          <a:prstGeom prst="rect">
            <a:avLst/>
          </a:prstGeom>
          <a:solidFill>
            <a:srgbClr val="0F1E38"/>
          </a:solidFill>
          <a:ln w="12700">
            <a:solidFill>
              <a:srgbClr val="F59E0B"/>
            </a:solidFill>
            <a:prstDash val="solid"/>
          </a:ln>
        </p:spPr>
        <p:txBody>
          <a:bodyPr/>
          <a:lstStyle/>
          <a:p>
            <a:endParaRPr lang="en-US"/>
          </a:p>
        </p:txBody>
      </p:sp>
      <p:pic>
        <p:nvPicPr>
          <p:cNvPr id="17" name="Image 2" descr="preencoded.png"/>
          <p:cNvPicPr>
            <a:picLocks noChangeAspect="1"/>
          </p:cNvPicPr>
          <p:nvPr/>
        </p:nvPicPr>
        <p:blipFill>
          <a:blip r:embed="rId5"/>
          <a:stretch>
            <a:fillRect/>
          </a:stretch>
        </p:blipFill>
        <p:spPr>
          <a:xfrm>
            <a:off x="8336128" y="4617720"/>
            <a:ext cx="502920" cy="502920"/>
          </a:xfrm>
          <a:prstGeom prst="rect">
            <a:avLst/>
          </a:prstGeom>
        </p:spPr>
      </p:pic>
      <p:sp>
        <p:nvSpPr>
          <p:cNvPr id="18" name="Text 13"/>
          <p:cNvSpPr/>
          <p:nvPr/>
        </p:nvSpPr>
        <p:spPr>
          <a:xfrm>
            <a:off x="8976208" y="4572000"/>
            <a:ext cx="2377440" cy="274320"/>
          </a:xfrm>
          <a:prstGeom prst="rect">
            <a:avLst/>
          </a:prstGeom>
          <a:noFill/>
          <a:ln/>
        </p:spPr>
        <p:txBody>
          <a:bodyPr wrap="square" lIns="0" tIns="0" rIns="0" bIns="0" rtlCol="0" anchor="ctr"/>
          <a:lstStyle/>
          <a:p>
            <a:pPr marL="0" indent="0">
              <a:buNone/>
            </a:pPr>
            <a:r>
              <a:rPr lang="en-US" sz="1100" b="1" kern="0" spc="400">
                <a:solidFill>
                  <a:srgbClr val="F59E0B"/>
                </a:solidFill>
                <a:latin typeface="Calibri" pitchFamily="34" charset="0"/>
                <a:ea typeface="Calibri" pitchFamily="34" charset="-122"/>
                <a:cs typeface="Calibri" pitchFamily="34" charset="-120"/>
              </a:rPr>
              <a:t>TASK 3</a:t>
            </a:r>
            <a:endParaRPr lang="en-US" sz="1100"/>
          </a:p>
        </p:txBody>
      </p:sp>
      <p:sp>
        <p:nvSpPr>
          <p:cNvPr id="19" name="Text 14"/>
          <p:cNvSpPr/>
          <p:nvPr/>
        </p:nvSpPr>
        <p:spPr>
          <a:xfrm>
            <a:off x="8976208" y="4846320"/>
            <a:ext cx="2377440" cy="457200"/>
          </a:xfrm>
          <a:prstGeom prst="rect">
            <a:avLst/>
          </a:prstGeom>
          <a:noFill/>
          <a:ln/>
        </p:spPr>
        <p:txBody>
          <a:bodyPr wrap="square" lIns="0" tIns="0" rIns="0" bIns="0" rtlCol="0" anchor="ctr"/>
          <a:lstStyle/>
          <a:p>
            <a:pPr marL="0" indent="0">
              <a:buNone/>
            </a:pPr>
            <a:r>
              <a:rPr lang="en-US" sz="1800" b="1">
                <a:solidFill>
                  <a:srgbClr val="FFFFFF"/>
                </a:solidFill>
                <a:latin typeface="Calibri" pitchFamily="34" charset="0"/>
                <a:ea typeface="Calibri" pitchFamily="34" charset="-122"/>
                <a:cs typeface="Calibri" pitchFamily="34" charset="-120"/>
              </a:rPr>
              <a:t>File Integrity</a:t>
            </a:r>
            <a:endParaRPr lang="en-US" sz="1800"/>
          </a:p>
        </p:txBody>
      </p:sp>
      <p:sp>
        <p:nvSpPr>
          <p:cNvPr id="20" name="Text 15"/>
          <p:cNvSpPr/>
          <p:nvPr/>
        </p:nvSpPr>
        <p:spPr>
          <a:xfrm>
            <a:off x="8336128" y="5486400"/>
            <a:ext cx="2926080" cy="594360"/>
          </a:xfrm>
          <a:prstGeom prst="rect">
            <a:avLst/>
          </a:prstGeom>
          <a:noFill/>
          <a:ln/>
        </p:spPr>
        <p:txBody>
          <a:bodyPr wrap="square" lIns="0" tIns="0" rIns="0" bIns="0" rtlCol="0" anchor="ctr"/>
          <a:lstStyle/>
          <a:p>
            <a:pPr marL="0" indent="0">
              <a:buNone/>
            </a:pPr>
            <a:r>
              <a:rPr lang="en-US" sz="1200">
                <a:solidFill>
                  <a:srgbClr val="E2E8F0"/>
                </a:solidFill>
                <a:latin typeface="Consolas" pitchFamily="34" charset="0"/>
                <a:ea typeface="Consolas" pitchFamily="34" charset="-122"/>
                <a:cs typeface="Consolas" pitchFamily="34" charset="-120"/>
              </a:rPr>
              <a:t>Auditd on Ubuntu Fleet</a:t>
            </a:r>
            <a:endParaRPr lang="en-US" sz="12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65760" y="457200"/>
            <a:ext cx="109728" cy="731520"/>
          </a:xfrm>
          <a:prstGeom prst="rect">
            <a:avLst/>
          </a:prstGeom>
          <a:solidFill>
            <a:srgbClr val="00D9FF"/>
          </a:solidFill>
          <a:ln/>
        </p:spPr>
        <p:txBody>
          <a:bodyPr/>
          <a:lstStyle/>
          <a:p>
            <a:endParaRPr lang="en-US"/>
          </a:p>
        </p:txBody>
      </p:sp>
      <p:sp>
        <p:nvSpPr>
          <p:cNvPr id="3" name="Text 1"/>
          <p:cNvSpPr/>
          <p:nvPr/>
        </p:nvSpPr>
        <p:spPr>
          <a:xfrm>
            <a:off x="640080" y="411480"/>
            <a:ext cx="10515600" cy="502920"/>
          </a:xfrm>
          <a:prstGeom prst="rect">
            <a:avLst/>
          </a:prstGeom>
          <a:noFill/>
          <a:ln/>
        </p:spPr>
        <p:txBody>
          <a:bodyPr wrap="square" lIns="0" tIns="0" rIns="0" bIns="0" rtlCol="0" anchor="t"/>
          <a:lstStyle/>
          <a:p>
            <a:pPr marL="0" indent="0">
              <a:buNone/>
            </a:pPr>
            <a:r>
              <a:rPr lang="en-US" sz="2800" b="1">
                <a:solidFill>
                  <a:srgbClr val="0F172A"/>
                </a:solidFill>
                <a:latin typeface="Calibri" pitchFamily="34" charset="0"/>
                <a:ea typeface="Calibri" pitchFamily="34" charset="-122"/>
                <a:cs typeface="Calibri" pitchFamily="34" charset="-120"/>
              </a:rPr>
              <a:t>Task 1 — SSH Brute Force Attack</a:t>
            </a:r>
            <a:endParaRPr lang="en-US" sz="2800"/>
          </a:p>
        </p:txBody>
      </p:sp>
      <p:sp>
        <p:nvSpPr>
          <p:cNvPr id="4" name="Text 2"/>
          <p:cNvSpPr/>
          <p:nvPr/>
        </p:nvSpPr>
        <p:spPr>
          <a:xfrm>
            <a:off x="640080" y="868680"/>
            <a:ext cx="10515600" cy="320040"/>
          </a:xfrm>
          <a:prstGeom prst="rect">
            <a:avLst/>
          </a:prstGeom>
          <a:noFill/>
          <a:ln/>
        </p:spPr>
        <p:txBody>
          <a:bodyPr wrap="square" lIns="0" tIns="0" rIns="0" bIns="0" rtlCol="0" anchor="t"/>
          <a:lstStyle/>
          <a:p>
            <a:pPr marL="0" indent="0">
              <a:buNone/>
            </a:pPr>
            <a:r>
              <a:rPr lang="en-US" sz="1300" i="1">
                <a:solidFill>
                  <a:srgbClr val="475569"/>
                </a:solidFill>
                <a:latin typeface="Calibri" pitchFamily="34" charset="0"/>
                <a:ea typeface="Calibri" pitchFamily="34" charset="-122"/>
                <a:cs typeface="Calibri" pitchFamily="34" charset="-120"/>
              </a:rPr>
              <a:t>Rapid-fire credential guessing against port 22</a:t>
            </a:r>
            <a:endParaRPr lang="en-US" sz="1300"/>
          </a:p>
        </p:txBody>
      </p:sp>
      <p:sp>
        <p:nvSpPr>
          <p:cNvPr id="5" name="Shape 3"/>
          <p:cNvSpPr/>
          <p:nvPr/>
        </p:nvSpPr>
        <p:spPr>
          <a:xfrm>
            <a:off x="640080" y="1417320"/>
            <a:ext cx="5394960" cy="4846320"/>
          </a:xfrm>
          <a:prstGeom prst="rect">
            <a:avLst/>
          </a:prstGeom>
          <a:solidFill>
            <a:srgbClr val="F7F9FC"/>
          </a:solidFill>
          <a:ln w="12700">
            <a:solidFill>
              <a:srgbClr val="E2E8F0"/>
            </a:solidFill>
            <a:prstDash val="solid"/>
          </a:ln>
        </p:spPr>
        <p:txBody>
          <a:bodyPr/>
          <a:lstStyle/>
          <a:p>
            <a:endParaRPr lang="en-US"/>
          </a:p>
        </p:txBody>
      </p:sp>
      <p:sp>
        <p:nvSpPr>
          <p:cNvPr id="6" name="Text 4"/>
          <p:cNvSpPr/>
          <p:nvPr/>
        </p:nvSpPr>
        <p:spPr>
          <a:xfrm>
            <a:off x="822960" y="1600200"/>
            <a:ext cx="5029200" cy="274320"/>
          </a:xfrm>
          <a:prstGeom prst="rect">
            <a:avLst/>
          </a:prstGeom>
          <a:noFill/>
          <a:ln/>
        </p:spPr>
        <p:txBody>
          <a:bodyPr wrap="square" lIns="0" tIns="0" rIns="0" bIns="0" rtlCol="0" anchor="ctr"/>
          <a:lstStyle/>
          <a:p>
            <a:pPr marL="0" indent="0">
              <a:buNone/>
            </a:pPr>
            <a:r>
              <a:rPr lang="en-US" sz="1000" b="1" kern="0" spc="400">
                <a:solidFill>
                  <a:srgbClr val="0891B2"/>
                </a:solidFill>
                <a:latin typeface="Calibri" pitchFamily="34" charset="0"/>
                <a:ea typeface="Calibri" pitchFamily="34" charset="-122"/>
                <a:cs typeface="Calibri" pitchFamily="34" charset="-120"/>
              </a:rPr>
              <a:t>WHAT IS IT?</a:t>
            </a:r>
            <a:endParaRPr lang="en-US" sz="1000"/>
          </a:p>
        </p:txBody>
      </p:sp>
      <p:sp>
        <p:nvSpPr>
          <p:cNvPr id="7" name="Text 5"/>
          <p:cNvSpPr/>
          <p:nvPr/>
        </p:nvSpPr>
        <p:spPr>
          <a:xfrm>
            <a:off x="822960" y="1874520"/>
            <a:ext cx="5029200" cy="457200"/>
          </a:xfrm>
          <a:prstGeom prst="rect">
            <a:avLst/>
          </a:prstGeom>
          <a:noFill/>
          <a:ln/>
        </p:spPr>
        <p:txBody>
          <a:bodyPr wrap="square" lIns="0" tIns="0" rIns="0" bIns="0" rtlCol="0" anchor="ctr"/>
          <a:lstStyle/>
          <a:p>
            <a:pPr marL="0" indent="0">
              <a:buNone/>
            </a:pPr>
            <a:r>
              <a:rPr lang="en-US" sz="2400" b="1">
                <a:solidFill>
                  <a:srgbClr val="0F172A"/>
                </a:solidFill>
                <a:latin typeface="Calibri" pitchFamily="34" charset="0"/>
                <a:ea typeface="Calibri" pitchFamily="34" charset="-122"/>
                <a:cs typeface="Calibri" pitchFamily="34" charset="-120"/>
              </a:rPr>
              <a:t>SSH Brute Force</a:t>
            </a:r>
            <a:endParaRPr lang="en-US" sz="2400"/>
          </a:p>
        </p:txBody>
      </p:sp>
      <p:sp>
        <p:nvSpPr>
          <p:cNvPr id="8" name="Text 6"/>
          <p:cNvSpPr/>
          <p:nvPr/>
        </p:nvSpPr>
        <p:spPr>
          <a:xfrm>
            <a:off x="822960" y="2423160"/>
            <a:ext cx="5029200" cy="2286000"/>
          </a:xfrm>
          <a:prstGeom prst="rect">
            <a:avLst/>
          </a:prstGeom>
          <a:noFill/>
          <a:ln/>
        </p:spPr>
        <p:txBody>
          <a:bodyPr wrap="square" lIns="0" tIns="0" rIns="0" bIns="0" rtlCol="0" anchor="t"/>
          <a:lstStyle/>
          <a:p>
            <a:pPr marL="0" indent="0">
              <a:buNone/>
            </a:pPr>
            <a:r>
              <a:rPr lang="en-US" sz="1300">
                <a:solidFill>
                  <a:srgbClr val="475569"/>
                </a:solidFill>
                <a:latin typeface="Calibri" pitchFamily="34" charset="0"/>
                <a:ea typeface="Calibri" pitchFamily="34" charset="-122"/>
                <a:cs typeface="Calibri" pitchFamily="34" charset="-120"/>
              </a:rPr>
              <a:t>SSH (Secure Shell) is the standard protocol for remote Linux access on port 22. Because nearly every Linux server exposes it, SSH is one of the most frequently targeted services on the internet.</a:t>
            </a:r>
            <a:endParaRPr lang="en-US" sz="1300"/>
          </a:p>
          <a:p>
            <a:pPr marL="0" indent="0">
              <a:buNone/>
            </a:pPr>
            <a:r>
              <a:rPr lang="en-US" sz="800">
                <a:solidFill>
                  <a:srgbClr val="000000"/>
                </a:solidFill>
              </a:rPr>
              <a:t> </a:t>
            </a:r>
            <a:endParaRPr lang="en-US" sz="1300"/>
          </a:p>
          <a:p>
            <a:pPr marL="0" indent="0">
              <a:buNone/>
            </a:pPr>
            <a:r>
              <a:rPr lang="en-US" sz="1300">
                <a:solidFill>
                  <a:srgbClr val="475569"/>
                </a:solidFill>
                <a:latin typeface="Calibri" pitchFamily="34" charset="0"/>
                <a:ea typeface="Calibri" pitchFamily="34" charset="-122"/>
                <a:cs typeface="Calibri" pitchFamily="34" charset="-120"/>
              </a:rPr>
              <a:t>Brute force tools like Hydra try thousands of username-password combinations per minute using common password wordlists, hoping to find one valid combination before defenses detect the attempt.</a:t>
            </a:r>
            <a:endParaRPr lang="en-US" sz="1300"/>
          </a:p>
        </p:txBody>
      </p:sp>
      <p:sp>
        <p:nvSpPr>
          <p:cNvPr id="9" name="Shape 7"/>
          <p:cNvSpPr/>
          <p:nvPr/>
        </p:nvSpPr>
        <p:spPr>
          <a:xfrm>
            <a:off x="822960" y="4846320"/>
            <a:ext cx="5029200" cy="1188720"/>
          </a:xfrm>
          <a:prstGeom prst="rect">
            <a:avLst/>
          </a:prstGeom>
          <a:solidFill>
            <a:srgbClr val="FFFFFF"/>
          </a:solidFill>
          <a:ln w="12700">
            <a:solidFill>
              <a:srgbClr val="10B981"/>
            </a:solidFill>
            <a:prstDash val="solid"/>
          </a:ln>
        </p:spPr>
        <p:txBody>
          <a:bodyPr/>
          <a:lstStyle/>
          <a:p>
            <a:endParaRPr lang="en-US"/>
          </a:p>
        </p:txBody>
      </p:sp>
      <p:pic>
        <p:nvPicPr>
          <p:cNvPr id="10" name="Image 0" descr="preencoded.png"/>
          <p:cNvPicPr>
            <a:picLocks noChangeAspect="1"/>
          </p:cNvPicPr>
          <p:nvPr/>
        </p:nvPicPr>
        <p:blipFill>
          <a:blip r:embed="rId3"/>
          <a:stretch>
            <a:fillRect/>
          </a:stretch>
        </p:blipFill>
        <p:spPr>
          <a:xfrm>
            <a:off x="960120" y="4983480"/>
            <a:ext cx="320040" cy="320040"/>
          </a:xfrm>
          <a:prstGeom prst="rect">
            <a:avLst/>
          </a:prstGeom>
        </p:spPr>
      </p:pic>
      <p:sp>
        <p:nvSpPr>
          <p:cNvPr id="11" name="Text 8"/>
          <p:cNvSpPr/>
          <p:nvPr/>
        </p:nvSpPr>
        <p:spPr>
          <a:xfrm>
            <a:off x="1371600" y="4937760"/>
            <a:ext cx="4297680" cy="228600"/>
          </a:xfrm>
          <a:prstGeom prst="rect">
            <a:avLst/>
          </a:prstGeom>
          <a:noFill/>
          <a:ln/>
        </p:spPr>
        <p:txBody>
          <a:bodyPr wrap="square" lIns="0" tIns="0" rIns="0" bIns="0" rtlCol="0" anchor="ctr"/>
          <a:lstStyle/>
          <a:p>
            <a:pPr marL="0" indent="0">
              <a:buNone/>
            </a:pPr>
            <a:r>
              <a:rPr lang="en-US" sz="1000" b="1" kern="0" spc="200">
                <a:solidFill>
                  <a:srgbClr val="10B981"/>
                </a:solidFill>
                <a:latin typeface="Calibri" pitchFamily="34" charset="0"/>
                <a:ea typeface="Calibri" pitchFamily="34" charset="-122"/>
                <a:cs typeface="Calibri" pitchFamily="34" charset="-120"/>
              </a:rPr>
              <a:t>DEFENDER'S ADVANTAGE</a:t>
            </a:r>
            <a:endParaRPr lang="en-US" sz="1000"/>
          </a:p>
        </p:txBody>
      </p:sp>
      <p:sp>
        <p:nvSpPr>
          <p:cNvPr id="12" name="Text 9"/>
          <p:cNvSpPr/>
          <p:nvPr/>
        </p:nvSpPr>
        <p:spPr>
          <a:xfrm>
            <a:off x="960120" y="5212080"/>
            <a:ext cx="4754880" cy="777240"/>
          </a:xfrm>
          <a:prstGeom prst="rect">
            <a:avLst/>
          </a:prstGeom>
          <a:noFill/>
          <a:ln/>
        </p:spPr>
        <p:txBody>
          <a:bodyPr wrap="square" lIns="0" tIns="0" rIns="0" bIns="0" rtlCol="0" anchor="t"/>
          <a:lstStyle/>
          <a:p>
            <a:pPr marL="0" indent="0">
              <a:buNone/>
            </a:pPr>
            <a:r>
              <a:rPr lang="en-US" sz="1150">
                <a:solidFill>
                  <a:srgbClr val="0F172A"/>
                </a:solidFill>
                <a:latin typeface="Calibri" pitchFamily="34" charset="0"/>
                <a:ea typeface="Calibri" pitchFamily="34" charset="-122"/>
                <a:cs typeface="Calibri" pitchFamily="34" charset="-120"/>
              </a:rPr>
              <a:t>Dozens of failure events from one source IP in seconds — a distinctive, easy-to-detect pattern</a:t>
            </a:r>
            <a:endParaRPr lang="en-US" sz="1150"/>
          </a:p>
        </p:txBody>
      </p:sp>
      <p:sp>
        <p:nvSpPr>
          <p:cNvPr id="13" name="Shape 10"/>
          <p:cNvSpPr/>
          <p:nvPr/>
        </p:nvSpPr>
        <p:spPr>
          <a:xfrm>
            <a:off x="6309360" y="1417320"/>
            <a:ext cx="5212080" cy="4846320"/>
          </a:xfrm>
          <a:prstGeom prst="rect">
            <a:avLst/>
          </a:prstGeom>
          <a:solidFill>
            <a:srgbClr val="0A1628"/>
          </a:solidFill>
          <a:ln/>
        </p:spPr>
        <p:txBody>
          <a:bodyPr/>
          <a:lstStyle/>
          <a:p>
            <a:endParaRPr lang="en-US"/>
          </a:p>
        </p:txBody>
      </p:sp>
      <p:sp>
        <p:nvSpPr>
          <p:cNvPr id="14" name="Text 11"/>
          <p:cNvSpPr/>
          <p:nvPr/>
        </p:nvSpPr>
        <p:spPr>
          <a:xfrm>
            <a:off x="6583680" y="1645920"/>
            <a:ext cx="4663440" cy="274320"/>
          </a:xfrm>
          <a:prstGeom prst="rect">
            <a:avLst/>
          </a:prstGeom>
          <a:noFill/>
          <a:ln/>
        </p:spPr>
        <p:txBody>
          <a:bodyPr wrap="square" lIns="0" tIns="0" rIns="0" bIns="0" rtlCol="0" anchor="ctr"/>
          <a:lstStyle/>
          <a:p>
            <a:pPr marL="0" indent="0">
              <a:buNone/>
            </a:pPr>
            <a:r>
              <a:rPr lang="en-US" sz="1000" b="1" kern="0" spc="300">
                <a:solidFill>
                  <a:srgbClr val="00D9FF"/>
                </a:solidFill>
                <a:latin typeface="Calibri" pitchFamily="34" charset="0"/>
                <a:ea typeface="Calibri" pitchFamily="34" charset="-122"/>
                <a:cs typeface="Calibri" pitchFamily="34" charset="-120"/>
              </a:rPr>
              <a:t>ATTACK FLOW</a:t>
            </a:r>
            <a:endParaRPr lang="en-US" sz="1000"/>
          </a:p>
        </p:txBody>
      </p:sp>
      <p:sp>
        <p:nvSpPr>
          <p:cNvPr id="15" name="Shape 12"/>
          <p:cNvSpPr/>
          <p:nvPr/>
        </p:nvSpPr>
        <p:spPr>
          <a:xfrm>
            <a:off x="6675120" y="2103120"/>
            <a:ext cx="2011680" cy="1097280"/>
          </a:xfrm>
          <a:prstGeom prst="rect">
            <a:avLst/>
          </a:prstGeom>
          <a:solidFill>
            <a:srgbClr val="0F1E38"/>
          </a:solidFill>
          <a:ln w="12700">
            <a:solidFill>
              <a:srgbClr val="EF4444"/>
            </a:solidFill>
            <a:prstDash val="solid"/>
          </a:ln>
        </p:spPr>
        <p:txBody>
          <a:bodyPr/>
          <a:lstStyle/>
          <a:p>
            <a:endParaRPr lang="en-US"/>
          </a:p>
        </p:txBody>
      </p:sp>
      <p:pic>
        <p:nvPicPr>
          <p:cNvPr id="16" name="Image 1" descr="preencoded.png"/>
          <p:cNvPicPr>
            <a:picLocks noChangeAspect="1"/>
          </p:cNvPicPr>
          <p:nvPr/>
        </p:nvPicPr>
        <p:blipFill>
          <a:blip r:embed="rId4"/>
          <a:stretch>
            <a:fillRect/>
          </a:stretch>
        </p:blipFill>
        <p:spPr>
          <a:xfrm>
            <a:off x="6858000" y="2240280"/>
            <a:ext cx="457200" cy="457200"/>
          </a:xfrm>
          <a:prstGeom prst="rect">
            <a:avLst/>
          </a:prstGeom>
        </p:spPr>
      </p:pic>
      <p:sp>
        <p:nvSpPr>
          <p:cNvPr id="17" name="Text 13"/>
          <p:cNvSpPr/>
          <p:nvPr/>
        </p:nvSpPr>
        <p:spPr>
          <a:xfrm>
            <a:off x="7406640" y="2194560"/>
            <a:ext cx="1188720" cy="274320"/>
          </a:xfrm>
          <a:prstGeom prst="rect">
            <a:avLst/>
          </a:prstGeom>
          <a:noFill/>
          <a:ln/>
        </p:spPr>
        <p:txBody>
          <a:bodyPr wrap="square" lIns="0" tIns="0" rIns="0" bIns="0" rtlCol="0" anchor="ctr"/>
          <a:lstStyle/>
          <a:p>
            <a:pPr marL="0" indent="0">
              <a:buNone/>
            </a:pPr>
            <a:r>
              <a:rPr lang="en-US" sz="1200" b="1">
                <a:solidFill>
                  <a:srgbClr val="FFFFFF"/>
                </a:solidFill>
                <a:latin typeface="Calibri" pitchFamily="34" charset="0"/>
                <a:ea typeface="Calibri" pitchFamily="34" charset="-122"/>
                <a:cs typeface="Calibri" pitchFamily="34" charset="-120"/>
              </a:rPr>
              <a:t>Kali Linux</a:t>
            </a:r>
            <a:endParaRPr lang="en-US" sz="1200"/>
          </a:p>
        </p:txBody>
      </p:sp>
      <p:sp>
        <p:nvSpPr>
          <p:cNvPr id="18" name="Text 14"/>
          <p:cNvSpPr/>
          <p:nvPr/>
        </p:nvSpPr>
        <p:spPr>
          <a:xfrm>
            <a:off x="7406640" y="2468880"/>
            <a:ext cx="1188720" cy="274320"/>
          </a:xfrm>
          <a:prstGeom prst="rect">
            <a:avLst/>
          </a:prstGeom>
          <a:noFill/>
          <a:ln/>
        </p:spPr>
        <p:txBody>
          <a:bodyPr wrap="square" lIns="0" tIns="0" rIns="0" bIns="0" rtlCol="0" anchor="ctr"/>
          <a:lstStyle/>
          <a:p>
            <a:pPr marL="0" indent="0">
              <a:buNone/>
            </a:pPr>
            <a:r>
              <a:rPr lang="en-US" sz="1000">
                <a:solidFill>
                  <a:srgbClr val="E2E8F0"/>
                </a:solidFill>
                <a:latin typeface="Consolas" pitchFamily="34" charset="0"/>
                <a:ea typeface="Consolas" pitchFamily="34" charset="-122"/>
                <a:cs typeface="Consolas" pitchFamily="34" charset="-120"/>
              </a:rPr>
              <a:t>192.168.56.105</a:t>
            </a:r>
            <a:endParaRPr lang="en-US" sz="1000"/>
          </a:p>
        </p:txBody>
      </p:sp>
      <p:sp>
        <p:nvSpPr>
          <p:cNvPr id="19" name="Text 15"/>
          <p:cNvSpPr/>
          <p:nvPr/>
        </p:nvSpPr>
        <p:spPr>
          <a:xfrm>
            <a:off x="6675120" y="2834640"/>
            <a:ext cx="2011680" cy="274320"/>
          </a:xfrm>
          <a:prstGeom prst="rect">
            <a:avLst/>
          </a:prstGeom>
          <a:noFill/>
          <a:ln/>
        </p:spPr>
        <p:txBody>
          <a:bodyPr wrap="square" lIns="0" tIns="0" rIns="0" bIns="0" rtlCol="0" anchor="ctr"/>
          <a:lstStyle/>
          <a:p>
            <a:pPr marL="0" indent="0" algn="ctr">
              <a:buNone/>
            </a:pPr>
            <a:r>
              <a:rPr lang="en-US" sz="1000" i="1">
                <a:solidFill>
                  <a:srgbClr val="EF4444"/>
                </a:solidFill>
                <a:latin typeface="Calibri" pitchFamily="34" charset="0"/>
                <a:ea typeface="Calibri" pitchFamily="34" charset="-122"/>
                <a:cs typeface="Calibri" pitchFamily="34" charset="-120"/>
              </a:rPr>
              <a:t>Hydra + wordlist</a:t>
            </a:r>
            <a:endParaRPr lang="en-US" sz="1000"/>
          </a:p>
        </p:txBody>
      </p:sp>
      <p:sp>
        <p:nvSpPr>
          <p:cNvPr id="20" name="Shape 16"/>
          <p:cNvSpPr/>
          <p:nvPr/>
        </p:nvSpPr>
        <p:spPr>
          <a:xfrm>
            <a:off x="8778240" y="2651760"/>
            <a:ext cx="457200" cy="0"/>
          </a:xfrm>
          <a:prstGeom prst="line">
            <a:avLst/>
          </a:prstGeom>
          <a:noFill/>
          <a:ln w="38100">
            <a:solidFill>
              <a:srgbClr val="EF4444"/>
            </a:solidFill>
            <a:prstDash val="solid"/>
            <a:tailEnd type="triangle"/>
          </a:ln>
        </p:spPr>
        <p:txBody>
          <a:bodyPr/>
          <a:lstStyle/>
          <a:p>
            <a:endParaRPr lang="en-US"/>
          </a:p>
        </p:txBody>
      </p:sp>
      <p:sp>
        <p:nvSpPr>
          <p:cNvPr id="21" name="Text 17"/>
          <p:cNvSpPr/>
          <p:nvPr/>
        </p:nvSpPr>
        <p:spPr>
          <a:xfrm>
            <a:off x="8778240" y="2194560"/>
            <a:ext cx="502920" cy="274320"/>
          </a:xfrm>
          <a:prstGeom prst="rect">
            <a:avLst/>
          </a:prstGeom>
          <a:noFill/>
          <a:ln/>
        </p:spPr>
        <p:txBody>
          <a:bodyPr wrap="square" lIns="0" tIns="0" rIns="0" bIns="0" rtlCol="0" anchor="ctr"/>
          <a:lstStyle/>
          <a:p>
            <a:pPr marL="0" indent="0" algn="ctr">
              <a:buNone/>
            </a:pPr>
            <a:r>
              <a:rPr lang="en-US" sz="900" b="1">
                <a:solidFill>
                  <a:srgbClr val="EF4444"/>
                </a:solidFill>
                <a:latin typeface="Consolas" pitchFamily="34" charset="0"/>
                <a:ea typeface="Consolas" pitchFamily="34" charset="-122"/>
                <a:cs typeface="Consolas" pitchFamily="34" charset="-120"/>
              </a:rPr>
              <a:t>SSH :22</a:t>
            </a:r>
            <a:endParaRPr lang="en-US" sz="900"/>
          </a:p>
        </p:txBody>
      </p:sp>
      <p:sp>
        <p:nvSpPr>
          <p:cNvPr id="22" name="Text 18"/>
          <p:cNvSpPr/>
          <p:nvPr/>
        </p:nvSpPr>
        <p:spPr>
          <a:xfrm>
            <a:off x="8686800" y="2880360"/>
            <a:ext cx="640080" cy="274320"/>
          </a:xfrm>
          <a:prstGeom prst="rect">
            <a:avLst/>
          </a:prstGeom>
          <a:noFill/>
          <a:ln/>
        </p:spPr>
        <p:txBody>
          <a:bodyPr wrap="square" lIns="0" tIns="0" rIns="0" bIns="0" rtlCol="0" anchor="ctr"/>
          <a:lstStyle/>
          <a:p>
            <a:pPr marL="0" indent="0" algn="ctr">
              <a:buNone/>
            </a:pPr>
            <a:r>
              <a:rPr lang="en-US" sz="800" i="1">
                <a:solidFill>
                  <a:srgbClr val="E2E8F0"/>
                </a:solidFill>
                <a:latin typeface="Calibri" pitchFamily="34" charset="0"/>
                <a:ea typeface="Calibri" pitchFamily="34" charset="-122"/>
                <a:cs typeface="Calibri" pitchFamily="34" charset="-120"/>
              </a:rPr>
              <a:t>Brute force</a:t>
            </a:r>
            <a:endParaRPr lang="en-US" sz="800"/>
          </a:p>
        </p:txBody>
      </p:sp>
      <p:sp>
        <p:nvSpPr>
          <p:cNvPr id="23" name="Shape 19"/>
          <p:cNvSpPr/>
          <p:nvPr/>
        </p:nvSpPr>
        <p:spPr>
          <a:xfrm>
            <a:off x="9281160" y="2103120"/>
            <a:ext cx="2011680" cy="1097280"/>
          </a:xfrm>
          <a:prstGeom prst="rect">
            <a:avLst/>
          </a:prstGeom>
          <a:solidFill>
            <a:srgbClr val="0F1E38"/>
          </a:solidFill>
          <a:ln w="12700">
            <a:solidFill>
              <a:srgbClr val="10B981"/>
            </a:solidFill>
            <a:prstDash val="solid"/>
          </a:ln>
        </p:spPr>
        <p:txBody>
          <a:bodyPr/>
          <a:lstStyle/>
          <a:p>
            <a:endParaRPr lang="en-US"/>
          </a:p>
        </p:txBody>
      </p:sp>
      <p:pic>
        <p:nvPicPr>
          <p:cNvPr id="24" name="Image 2" descr="preencoded.png"/>
          <p:cNvPicPr>
            <a:picLocks noChangeAspect="1"/>
          </p:cNvPicPr>
          <p:nvPr/>
        </p:nvPicPr>
        <p:blipFill>
          <a:blip r:embed="rId5"/>
          <a:stretch>
            <a:fillRect/>
          </a:stretch>
        </p:blipFill>
        <p:spPr>
          <a:xfrm>
            <a:off x="9418320" y="2240280"/>
            <a:ext cx="457200" cy="457200"/>
          </a:xfrm>
          <a:prstGeom prst="rect">
            <a:avLst/>
          </a:prstGeom>
        </p:spPr>
      </p:pic>
      <p:sp>
        <p:nvSpPr>
          <p:cNvPr id="25" name="Text 20"/>
          <p:cNvSpPr/>
          <p:nvPr/>
        </p:nvSpPr>
        <p:spPr>
          <a:xfrm>
            <a:off x="9966960" y="2194560"/>
            <a:ext cx="1280160" cy="274320"/>
          </a:xfrm>
          <a:prstGeom prst="rect">
            <a:avLst/>
          </a:prstGeom>
          <a:noFill/>
          <a:ln/>
        </p:spPr>
        <p:txBody>
          <a:bodyPr wrap="square" lIns="0" tIns="0" rIns="0" bIns="0" rtlCol="0" anchor="ctr"/>
          <a:lstStyle/>
          <a:p>
            <a:pPr marL="0" indent="0">
              <a:buNone/>
            </a:pPr>
            <a:r>
              <a:rPr lang="en-US" sz="1200" b="1">
                <a:solidFill>
                  <a:srgbClr val="FFFFFF"/>
                </a:solidFill>
                <a:latin typeface="Calibri" pitchFamily="34" charset="0"/>
                <a:ea typeface="Calibri" pitchFamily="34" charset="-122"/>
                <a:cs typeface="Calibri" pitchFamily="34" charset="-120"/>
              </a:rPr>
              <a:t>Ubuntu ELK</a:t>
            </a:r>
            <a:endParaRPr lang="en-US" sz="1200"/>
          </a:p>
        </p:txBody>
      </p:sp>
      <p:sp>
        <p:nvSpPr>
          <p:cNvPr id="26" name="Text 21"/>
          <p:cNvSpPr/>
          <p:nvPr/>
        </p:nvSpPr>
        <p:spPr>
          <a:xfrm>
            <a:off x="9966960" y="2468880"/>
            <a:ext cx="1280160" cy="274320"/>
          </a:xfrm>
          <a:prstGeom prst="rect">
            <a:avLst/>
          </a:prstGeom>
          <a:noFill/>
          <a:ln/>
        </p:spPr>
        <p:txBody>
          <a:bodyPr wrap="square" lIns="0" tIns="0" rIns="0" bIns="0" rtlCol="0" anchor="ctr"/>
          <a:lstStyle/>
          <a:p>
            <a:pPr marL="0" indent="0">
              <a:buNone/>
            </a:pPr>
            <a:r>
              <a:rPr lang="en-US" sz="1000">
                <a:solidFill>
                  <a:srgbClr val="E2E8F0"/>
                </a:solidFill>
                <a:latin typeface="Consolas" pitchFamily="34" charset="0"/>
                <a:ea typeface="Consolas" pitchFamily="34" charset="-122"/>
                <a:cs typeface="Consolas" pitchFamily="34" charset="-120"/>
              </a:rPr>
              <a:t>192.168.56.101</a:t>
            </a:r>
            <a:endParaRPr lang="en-US" sz="1000"/>
          </a:p>
        </p:txBody>
      </p:sp>
      <p:sp>
        <p:nvSpPr>
          <p:cNvPr id="27" name="Text 22"/>
          <p:cNvSpPr/>
          <p:nvPr/>
        </p:nvSpPr>
        <p:spPr>
          <a:xfrm>
            <a:off x="9281160" y="2834640"/>
            <a:ext cx="2011680" cy="274320"/>
          </a:xfrm>
          <a:prstGeom prst="rect">
            <a:avLst/>
          </a:prstGeom>
          <a:noFill/>
          <a:ln/>
        </p:spPr>
        <p:txBody>
          <a:bodyPr wrap="square" lIns="0" tIns="0" rIns="0" bIns="0" rtlCol="0" anchor="ctr"/>
          <a:lstStyle/>
          <a:p>
            <a:pPr marL="0" indent="0" algn="ctr">
              <a:buNone/>
            </a:pPr>
            <a:r>
              <a:rPr lang="en-US" sz="1000" i="1">
                <a:solidFill>
                  <a:srgbClr val="10B981"/>
                </a:solidFill>
                <a:latin typeface="Calibri" pitchFamily="34" charset="0"/>
                <a:ea typeface="Calibri" pitchFamily="34" charset="-122"/>
                <a:cs typeface="Calibri" pitchFamily="34" charset="-120"/>
              </a:rPr>
              <a:t>sshd + Elastic Agent</a:t>
            </a:r>
            <a:endParaRPr lang="en-US" sz="1000"/>
          </a:p>
        </p:txBody>
      </p:sp>
      <p:sp>
        <p:nvSpPr>
          <p:cNvPr id="28" name="Shape 23"/>
          <p:cNvSpPr/>
          <p:nvPr/>
        </p:nvSpPr>
        <p:spPr>
          <a:xfrm>
            <a:off x="6675120" y="3611880"/>
            <a:ext cx="4572000" cy="2377440"/>
          </a:xfrm>
          <a:prstGeom prst="rect">
            <a:avLst/>
          </a:prstGeom>
          <a:solidFill>
            <a:srgbClr val="0F1E38"/>
          </a:solidFill>
          <a:ln w="12700">
            <a:solidFill>
              <a:srgbClr val="00D9FF"/>
            </a:solidFill>
            <a:prstDash val="solid"/>
          </a:ln>
        </p:spPr>
        <p:txBody>
          <a:bodyPr/>
          <a:lstStyle/>
          <a:p>
            <a:endParaRPr lang="en-US"/>
          </a:p>
        </p:txBody>
      </p:sp>
      <p:sp>
        <p:nvSpPr>
          <p:cNvPr id="29" name="Text 24"/>
          <p:cNvSpPr/>
          <p:nvPr/>
        </p:nvSpPr>
        <p:spPr>
          <a:xfrm>
            <a:off x="6812280" y="3749040"/>
            <a:ext cx="4297680" cy="274320"/>
          </a:xfrm>
          <a:prstGeom prst="rect">
            <a:avLst/>
          </a:prstGeom>
          <a:noFill/>
          <a:ln/>
        </p:spPr>
        <p:txBody>
          <a:bodyPr wrap="square" lIns="0" tIns="0" rIns="0" bIns="0" rtlCol="0" anchor="ctr"/>
          <a:lstStyle/>
          <a:p>
            <a:pPr marL="0" indent="0">
              <a:buNone/>
            </a:pPr>
            <a:r>
              <a:rPr lang="en-US" sz="1000" b="1" kern="0" spc="300">
                <a:solidFill>
                  <a:srgbClr val="00D9FF"/>
                </a:solidFill>
                <a:latin typeface="Calibri" pitchFamily="34" charset="0"/>
                <a:ea typeface="Calibri" pitchFamily="34" charset="-122"/>
                <a:cs typeface="Calibri" pitchFamily="34" charset="-120"/>
              </a:rPr>
              <a:t>EVIDENCE CAPTURED</a:t>
            </a:r>
            <a:endParaRPr lang="en-US" sz="1000"/>
          </a:p>
        </p:txBody>
      </p:sp>
      <p:sp>
        <p:nvSpPr>
          <p:cNvPr id="30" name="Shape 25"/>
          <p:cNvSpPr/>
          <p:nvPr/>
        </p:nvSpPr>
        <p:spPr>
          <a:xfrm>
            <a:off x="6812280" y="4114800"/>
            <a:ext cx="137160" cy="137160"/>
          </a:xfrm>
          <a:prstGeom prst="rect">
            <a:avLst/>
          </a:prstGeom>
          <a:solidFill>
            <a:srgbClr val="00D9FF"/>
          </a:solidFill>
          <a:ln/>
        </p:spPr>
        <p:txBody>
          <a:bodyPr/>
          <a:lstStyle/>
          <a:p>
            <a:endParaRPr lang="en-US"/>
          </a:p>
        </p:txBody>
      </p:sp>
      <p:sp>
        <p:nvSpPr>
          <p:cNvPr id="31" name="Text 26"/>
          <p:cNvSpPr/>
          <p:nvPr/>
        </p:nvSpPr>
        <p:spPr>
          <a:xfrm>
            <a:off x="7040880" y="4023360"/>
            <a:ext cx="4114800" cy="320040"/>
          </a:xfrm>
          <a:prstGeom prst="rect">
            <a:avLst/>
          </a:prstGeom>
          <a:noFill/>
          <a:ln/>
        </p:spPr>
        <p:txBody>
          <a:bodyPr wrap="square" lIns="0" tIns="0" rIns="0" bIns="0" rtlCol="0" anchor="ctr"/>
          <a:lstStyle/>
          <a:p>
            <a:pPr marL="0" indent="0">
              <a:buNone/>
            </a:pPr>
            <a:r>
              <a:rPr lang="en-US" sz="1150">
                <a:solidFill>
                  <a:srgbClr val="E2E8F0"/>
                </a:solidFill>
                <a:latin typeface="Calibri" pitchFamily="34" charset="0"/>
                <a:ea typeface="Calibri" pitchFamily="34" charset="-122"/>
                <a:cs typeface="Calibri" pitchFamily="34" charset="-120"/>
              </a:rPr>
              <a:t>Every failed attempt → /var/log/auth.log entry</a:t>
            </a:r>
            <a:endParaRPr lang="en-US" sz="1150"/>
          </a:p>
        </p:txBody>
      </p:sp>
      <p:sp>
        <p:nvSpPr>
          <p:cNvPr id="32" name="Shape 27"/>
          <p:cNvSpPr/>
          <p:nvPr/>
        </p:nvSpPr>
        <p:spPr>
          <a:xfrm>
            <a:off x="6812280" y="4526280"/>
            <a:ext cx="137160" cy="137160"/>
          </a:xfrm>
          <a:prstGeom prst="rect">
            <a:avLst/>
          </a:prstGeom>
          <a:solidFill>
            <a:srgbClr val="00D9FF"/>
          </a:solidFill>
          <a:ln/>
        </p:spPr>
        <p:txBody>
          <a:bodyPr/>
          <a:lstStyle/>
          <a:p>
            <a:endParaRPr lang="en-US"/>
          </a:p>
        </p:txBody>
      </p:sp>
      <p:sp>
        <p:nvSpPr>
          <p:cNvPr id="33" name="Text 28"/>
          <p:cNvSpPr/>
          <p:nvPr/>
        </p:nvSpPr>
        <p:spPr>
          <a:xfrm>
            <a:off x="7040880" y="4434840"/>
            <a:ext cx="4114800" cy="320040"/>
          </a:xfrm>
          <a:prstGeom prst="rect">
            <a:avLst/>
          </a:prstGeom>
          <a:noFill/>
          <a:ln/>
        </p:spPr>
        <p:txBody>
          <a:bodyPr wrap="square" lIns="0" tIns="0" rIns="0" bIns="0" rtlCol="0" anchor="ctr"/>
          <a:lstStyle/>
          <a:p>
            <a:pPr marL="0" indent="0">
              <a:buNone/>
            </a:pPr>
            <a:r>
              <a:rPr lang="en-US" sz="1150">
                <a:solidFill>
                  <a:srgbClr val="E2E8F0"/>
                </a:solidFill>
                <a:latin typeface="Calibri" pitchFamily="34" charset="0"/>
                <a:ea typeface="Calibri" pitchFamily="34" charset="-122"/>
                <a:cs typeface="Calibri" pitchFamily="34" charset="-120"/>
              </a:rPr>
              <a:t>Elastic Agent ships to Fleet Server</a:t>
            </a:r>
            <a:endParaRPr lang="en-US" sz="1150"/>
          </a:p>
        </p:txBody>
      </p:sp>
      <p:sp>
        <p:nvSpPr>
          <p:cNvPr id="34" name="Shape 29"/>
          <p:cNvSpPr/>
          <p:nvPr/>
        </p:nvSpPr>
        <p:spPr>
          <a:xfrm>
            <a:off x="6812280" y="4937760"/>
            <a:ext cx="137160" cy="137160"/>
          </a:xfrm>
          <a:prstGeom prst="rect">
            <a:avLst/>
          </a:prstGeom>
          <a:solidFill>
            <a:srgbClr val="00D9FF"/>
          </a:solidFill>
          <a:ln/>
        </p:spPr>
        <p:txBody>
          <a:bodyPr/>
          <a:lstStyle/>
          <a:p>
            <a:endParaRPr lang="en-US"/>
          </a:p>
        </p:txBody>
      </p:sp>
      <p:sp>
        <p:nvSpPr>
          <p:cNvPr id="35" name="Text 30"/>
          <p:cNvSpPr/>
          <p:nvPr/>
        </p:nvSpPr>
        <p:spPr>
          <a:xfrm>
            <a:off x="7040880" y="4846320"/>
            <a:ext cx="4114800" cy="320040"/>
          </a:xfrm>
          <a:prstGeom prst="rect">
            <a:avLst/>
          </a:prstGeom>
          <a:noFill/>
          <a:ln/>
        </p:spPr>
        <p:txBody>
          <a:bodyPr wrap="square" lIns="0" tIns="0" rIns="0" bIns="0" rtlCol="0" anchor="ctr"/>
          <a:lstStyle/>
          <a:p>
            <a:pPr marL="0" indent="0">
              <a:buNone/>
            </a:pPr>
            <a:r>
              <a:rPr lang="en-US" sz="1150">
                <a:solidFill>
                  <a:srgbClr val="E2E8F0"/>
                </a:solidFill>
                <a:latin typeface="Calibri" pitchFamily="34" charset="0"/>
                <a:ea typeface="Calibri" pitchFamily="34" charset="-122"/>
                <a:cs typeface="Calibri" pitchFamily="34" charset="-120"/>
              </a:rPr>
              <a:t>Fleet forwards to Elasticsearch (port 9200)</a:t>
            </a:r>
            <a:endParaRPr lang="en-US" sz="1150"/>
          </a:p>
        </p:txBody>
      </p:sp>
      <p:sp>
        <p:nvSpPr>
          <p:cNvPr id="36" name="Shape 31"/>
          <p:cNvSpPr/>
          <p:nvPr/>
        </p:nvSpPr>
        <p:spPr>
          <a:xfrm>
            <a:off x="6812280" y="5349240"/>
            <a:ext cx="137160" cy="137160"/>
          </a:xfrm>
          <a:prstGeom prst="rect">
            <a:avLst/>
          </a:prstGeom>
          <a:solidFill>
            <a:srgbClr val="00D9FF"/>
          </a:solidFill>
          <a:ln/>
        </p:spPr>
        <p:txBody>
          <a:bodyPr/>
          <a:lstStyle/>
          <a:p>
            <a:endParaRPr lang="en-US"/>
          </a:p>
        </p:txBody>
      </p:sp>
      <p:sp>
        <p:nvSpPr>
          <p:cNvPr id="37" name="Text 32"/>
          <p:cNvSpPr/>
          <p:nvPr/>
        </p:nvSpPr>
        <p:spPr>
          <a:xfrm>
            <a:off x="7040880" y="5257800"/>
            <a:ext cx="4114800" cy="320040"/>
          </a:xfrm>
          <a:prstGeom prst="rect">
            <a:avLst/>
          </a:prstGeom>
          <a:noFill/>
          <a:ln/>
        </p:spPr>
        <p:txBody>
          <a:bodyPr wrap="square" lIns="0" tIns="0" rIns="0" bIns="0" rtlCol="0" anchor="ctr"/>
          <a:lstStyle/>
          <a:p>
            <a:pPr marL="0" indent="0">
              <a:buNone/>
            </a:pPr>
            <a:r>
              <a:rPr lang="en-US" sz="1150">
                <a:solidFill>
                  <a:srgbClr val="E2E8F0"/>
                </a:solidFill>
                <a:latin typeface="Calibri" pitchFamily="34" charset="0"/>
                <a:ea typeface="Calibri" pitchFamily="34" charset="-122"/>
                <a:cs typeface="Calibri" pitchFamily="34" charset="-120"/>
              </a:rPr>
              <a:t>Event visible in Kibana Discover in seconds</a:t>
            </a:r>
            <a:endParaRPr lang="en-US" sz="1150"/>
          </a:p>
        </p:txBody>
      </p:sp>
      <p:sp>
        <p:nvSpPr>
          <p:cNvPr id="38" name="Text 33"/>
          <p:cNvSpPr/>
          <p:nvPr/>
        </p:nvSpPr>
        <p:spPr>
          <a:xfrm>
            <a:off x="365760" y="6537960"/>
            <a:ext cx="4572000" cy="228600"/>
          </a:xfrm>
          <a:prstGeom prst="rect">
            <a:avLst/>
          </a:prstGeom>
          <a:noFill/>
          <a:ln/>
        </p:spPr>
        <p:txBody>
          <a:bodyPr wrap="square" lIns="0" tIns="0" rIns="0" bIns="0" rtlCol="0" anchor="ctr"/>
          <a:lstStyle/>
          <a:p>
            <a:pPr marL="0" indent="0" algn="l">
              <a:buNone/>
            </a:pPr>
            <a:r>
              <a:rPr lang="en-US" sz="900">
                <a:solidFill>
                  <a:srgbClr val="94A3B8"/>
                </a:solidFill>
                <a:latin typeface="Calibri" pitchFamily="34" charset="0"/>
                <a:ea typeface="Calibri" pitchFamily="34" charset="-122"/>
                <a:cs typeface="Calibri" pitchFamily="34" charset="-120"/>
              </a:rPr>
              <a:t>Incident Handling Lab  |  Elastic SIEM</a:t>
            </a:r>
            <a:endParaRPr lang="en-US" sz="900"/>
          </a:p>
        </p:txBody>
      </p:sp>
      <p:sp>
        <p:nvSpPr>
          <p:cNvPr id="39" name="Text 34"/>
          <p:cNvSpPr/>
          <p:nvPr/>
        </p:nvSpPr>
        <p:spPr>
          <a:xfrm>
            <a:off x="11094415" y="6537960"/>
            <a:ext cx="914400" cy="228600"/>
          </a:xfrm>
          <a:prstGeom prst="rect">
            <a:avLst/>
          </a:prstGeom>
          <a:noFill/>
          <a:ln/>
        </p:spPr>
        <p:txBody>
          <a:bodyPr wrap="square" lIns="0" tIns="0" rIns="0" bIns="0" rtlCol="0" anchor="ctr"/>
          <a:lstStyle/>
          <a:p>
            <a:pPr marL="0" indent="0" algn="r">
              <a:buNone/>
            </a:pPr>
            <a:r>
              <a:rPr lang="en-US" sz="900">
                <a:solidFill>
                  <a:srgbClr val="94A3B8"/>
                </a:solidFill>
                <a:latin typeface="Calibri" pitchFamily="34" charset="0"/>
                <a:ea typeface="Calibri" pitchFamily="34" charset="-122"/>
                <a:cs typeface="Calibri" pitchFamily="34" charset="-120"/>
              </a:rPr>
              <a:t>11 / 29</a:t>
            </a:r>
            <a:endParaRPr lang="en-US" sz="9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65760" y="457200"/>
            <a:ext cx="109728" cy="731520"/>
          </a:xfrm>
          <a:prstGeom prst="rect">
            <a:avLst/>
          </a:prstGeom>
          <a:solidFill>
            <a:srgbClr val="00D9FF"/>
          </a:solidFill>
          <a:ln/>
        </p:spPr>
        <p:txBody>
          <a:bodyPr/>
          <a:lstStyle/>
          <a:p>
            <a:endParaRPr lang="en-US"/>
          </a:p>
        </p:txBody>
      </p:sp>
      <p:sp>
        <p:nvSpPr>
          <p:cNvPr id="3" name="Text 1"/>
          <p:cNvSpPr/>
          <p:nvPr/>
        </p:nvSpPr>
        <p:spPr>
          <a:xfrm>
            <a:off x="640080" y="411480"/>
            <a:ext cx="10515600" cy="502920"/>
          </a:xfrm>
          <a:prstGeom prst="rect">
            <a:avLst/>
          </a:prstGeom>
          <a:noFill/>
          <a:ln/>
        </p:spPr>
        <p:txBody>
          <a:bodyPr wrap="square" lIns="0" tIns="0" rIns="0" bIns="0" rtlCol="0" anchor="t"/>
          <a:lstStyle/>
          <a:p>
            <a:pPr marL="0" indent="0">
              <a:buNone/>
            </a:pPr>
            <a:r>
              <a:rPr lang="en-US" sz="2800" b="1">
                <a:solidFill>
                  <a:srgbClr val="0F172A"/>
                </a:solidFill>
                <a:latin typeface="Calibri" pitchFamily="34" charset="0"/>
                <a:ea typeface="Calibri" pitchFamily="34" charset="-122"/>
                <a:cs typeface="Calibri" pitchFamily="34" charset="-120"/>
              </a:rPr>
              <a:t>Task 1 — Launching the Attack with Hydra</a:t>
            </a:r>
            <a:endParaRPr lang="en-US" sz="2800"/>
          </a:p>
        </p:txBody>
      </p:sp>
      <p:sp>
        <p:nvSpPr>
          <p:cNvPr id="4" name="Text 2"/>
          <p:cNvSpPr/>
          <p:nvPr/>
        </p:nvSpPr>
        <p:spPr>
          <a:xfrm>
            <a:off x="640080" y="868680"/>
            <a:ext cx="10515600" cy="320040"/>
          </a:xfrm>
          <a:prstGeom prst="rect">
            <a:avLst/>
          </a:prstGeom>
          <a:noFill/>
          <a:ln/>
        </p:spPr>
        <p:txBody>
          <a:bodyPr wrap="square" lIns="0" tIns="0" rIns="0" bIns="0" rtlCol="0" anchor="t"/>
          <a:lstStyle/>
          <a:p>
            <a:pPr marL="0" indent="0">
              <a:buNone/>
            </a:pPr>
            <a:r>
              <a:rPr lang="en-US" sz="1300" i="1">
                <a:solidFill>
                  <a:srgbClr val="475569"/>
                </a:solidFill>
                <a:latin typeface="Calibri" pitchFamily="34" charset="0"/>
                <a:ea typeface="Calibri" pitchFamily="34" charset="-122"/>
                <a:cs typeface="Calibri" pitchFamily="34" charset="-120"/>
              </a:rPr>
              <a:t>Kali Linux → SSH service on 192.168.56.101</a:t>
            </a:r>
            <a:endParaRPr lang="en-US" sz="1300"/>
          </a:p>
        </p:txBody>
      </p:sp>
      <p:pic>
        <p:nvPicPr>
          <p:cNvPr id="5" name="Image 0" descr="/home/claude/report/screenshots/fig_hydra_ssh_attack.png"/>
          <p:cNvPicPr>
            <a:picLocks noChangeAspect="1"/>
          </p:cNvPicPr>
          <p:nvPr/>
        </p:nvPicPr>
        <p:blipFill>
          <a:blip r:embed="rId3"/>
          <a:srcRect/>
          <a:stretch/>
        </p:blipFill>
        <p:spPr>
          <a:xfrm>
            <a:off x="640080" y="1417320"/>
            <a:ext cx="7589520" cy="3017520"/>
          </a:xfrm>
          <a:prstGeom prst="rect">
            <a:avLst/>
          </a:prstGeom>
        </p:spPr>
      </p:pic>
      <p:sp>
        <p:nvSpPr>
          <p:cNvPr id="6" name="Shape 3"/>
          <p:cNvSpPr/>
          <p:nvPr/>
        </p:nvSpPr>
        <p:spPr>
          <a:xfrm>
            <a:off x="8503920" y="1417320"/>
            <a:ext cx="3017520" cy="3017520"/>
          </a:xfrm>
          <a:prstGeom prst="rect">
            <a:avLst/>
          </a:prstGeom>
          <a:solidFill>
            <a:srgbClr val="F7F9FC"/>
          </a:solidFill>
          <a:ln w="12700">
            <a:solidFill>
              <a:srgbClr val="E2E8F0"/>
            </a:solidFill>
            <a:prstDash val="solid"/>
          </a:ln>
        </p:spPr>
        <p:txBody>
          <a:bodyPr/>
          <a:lstStyle/>
          <a:p>
            <a:endParaRPr lang="en-US"/>
          </a:p>
        </p:txBody>
      </p:sp>
      <p:sp>
        <p:nvSpPr>
          <p:cNvPr id="7" name="Text 4"/>
          <p:cNvSpPr/>
          <p:nvPr/>
        </p:nvSpPr>
        <p:spPr>
          <a:xfrm>
            <a:off x="8686800" y="1600200"/>
            <a:ext cx="2743200" cy="274320"/>
          </a:xfrm>
          <a:prstGeom prst="rect">
            <a:avLst/>
          </a:prstGeom>
          <a:noFill/>
          <a:ln/>
        </p:spPr>
        <p:txBody>
          <a:bodyPr wrap="square" lIns="0" tIns="0" rIns="0" bIns="0" rtlCol="0" anchor="ctr"/>
          <a:lstStyle/>
          <a:p>
            <a:pPr marL="0" indent="0">
              <a:buNone/>
            </a:pPr>
            <a:r>
              <a:rPr lang="en-US" sz="1100" b="1" kern="0" spc="300">
                <a:solidFill>
                  <a:srgbClr val="0891B2"/>
                </a:solidFill>
                <a:latin typeface="Calibri" pitchFamily="34" charset="0"/>
                <a:ea typeface="Calibri" pitchFamily="34" charset="-122"/>
                <a:cs typeface="Calibri" pitchFamily="34" charset="-120"/>
              </a:rPr>
              <a:t>KEY FLAGS</a:t>
            </a:r>
            <a:endParaRPr lang="en-US" sz="1100"/>
          </a:p>
        </p:txBody>
      </p:sp>
      <p:sp>
        <p:nvSpPr>
          <p:cNvPr id="8" name="Text 5"/>
          <p:cNvSpPr/>
          <p:nvPr/>
        </p:nvSpPr>
        <p:spPr>
          <a:xfrm>
            <a:off x="8686800" y="1965960"/>
            <a:ext cx="2743200" cy="274320"/>
          </a:xfrm>
          <a:prstGeom prst="rect">
            <a:avLst/>
          </a:prstGeom>
          <a:noFill/>
          <a:ln/>
        </p:spPr>
        <p:txBody>
          <a:bodyPr wrap="square" lIns="0" tIns="0" rIns="0" bIns="0" rtlCol="0" anchor="ctr"/>
          <a:lstStyle/>
          <a:p>
            <a:pPr marL="0" indent="0">
              <a:buNone/>
            </a:pPr>
            <a:r>
              <a:rPr lang="en-US" sz="1300" b="1">
                <a:solidFill>
                  <a:srgbClr val="0F172A"/>
                </a:solidFill>
                <a:latin typeface="Consolas" pitchFamily="34" charset="0"/>
                <a:ea typeface="Consolas" pitchFamily="34" charset="-122"/>
                <a:cs typeface="Consolas" pitchFamily="34" charset="-120"/>
              </a:rPr>
              <a:t>-l aashish</a:t>
            </a:r>
            <a:endParaRPr lang="en-US" sz="1300"/>
          </a:p>
        </p:txBody>
      </p:sp>
      <p:sp>
        <p:nvSpPr>
          <p:cNvPr id="9" name="Text 6"/>
          <p:cNvSpPr/>
          <p:nvPr/>
        </p:nvSpPr>
        <p:spPr>
          <a:xfrm>
            <a:off x="8686800" y="2240280"/>
            <a:ext cx="2743200" cy="274320"/>
          </a:xfrm>
          <a:prstGeom prst="rect">
            <a:avLst/>
          </a:prstGeom>
          <a:noFill/>
          <a:ln/>
        </p:spPr>
        <p:txBody>
          <a:bodyPr wrap="square" lIns="0" tIns="0" rIns="0" bIns="0" rtlCol="0" anchor="ctr"/>
          <a:lstStyle/>
          <a:p>
            <a:pPr marL="0" indent="0">
              <a:buNone/>
            </a:pPr>
            <a:r>
              <a:rPr lang="en-US" sz="1100" i="1">
                <a:solidFill>
                  <a:srgbClr val="475569"/>
                </a:solidFill>
                <a:latin typeface="Calibri" pitchFamily="34" charset="0"/>
                <a:ea typeface="Calibri" pitchFamily="34" charset="-122"/>
                <a:cs typeface="Calibri" pitchFamily="34" charset="-120"/>
              </a:rPr>
              <a:t>single username</a:t>
            </a:r>
            <a:endParaRPr lang="en-US" sz="1100"/>
          </a:p>
        </p:txBody>
      </p:sp>
      <p:sp>
        <p:nvSpPr>
          <p:cNvPr id="10" name="Text 7"/>
          <p:cNvSpPr/>
          <p:nvPr/>
        </p:nvSpPr>
        <p:spPr>
          <a:xfrm>
            <a:off x="8686800" y="2743200"/>
            <a:ext cx="2743200" cy="274320"/>
          </a:xfrm>
          <a:prstGeom prst="rect">
            <a:avLst/>
          </a:prstGeom>
          <a:noFill/>
          <a:ln/>
        </p:spPr>
        <p:txBody>
          <a:bodyPr wrap="square" lIns="0" tIns="0" rIns="0" bIns="0" rtlCol="0" anchor="ctr"/>
          <a:lstStyle/>
          <a:p>
            <a:pPr marL="0" indent="0">
              <a:buNone/>
            </a:pPr>
            <a:r>
              <a:rPr lang="en-US" sz="1300" b="1">
                <a:solidFill>
                  <a:srgbClr val="0F172A"/>
                </a:solidFill>
                <a:latin typeface="Consolas" pitchFamily="34" charset="0"/>
                <a:ea typeface="Consolas" pitchFamily="34" charset="-122"/>
                <a:cs typeface="Consolas" pitchFamily="34" charset="-120"/>
              </a:rPr>
              <a:t>-P /dev/stdin</a:t>
            </a:r>
            <a:endParaRPr lang="en-US" sz="1300"/>
          </a:p>
        </p:txBody>
      </p:sp>
      <p:sp>
        <p:nvSpPr>
          <p:cNvPr id="11" name="Text 8"/>
          <p:cNvSpPr/>
          <p:nvPr/>
        </p:nvSpPr>
        <p:spPr>
          <a:xfrm>
            <a:off x="8686800" y="3017520"/>
            <a:ext cx="2743200" cy="274320"/>
          </a:xfrm>
          <a:prstGeom prst="rect">
            <a:avLst/>
          </a:prstGeom>
          <a:noFill/>
          <a:ln/>
        </p:spPr>
        <p:txBody>
          <a:bodyPr wrap="square" lIns="0" tIns="0" rIns="0" bIns="0" rtlCol="0" anchor="ctr"/>
          <a:lstStyle/>
          <a:p>
            <a:pPr marL="0" indent="0">
              <a:buNone/>
            </a:pPr>
            <a:r>
              <a:rPr lang="en-US" sz="1100" i="1">
                <a:solidFill>
                  <a:srgbClr val="475569"/>
                </a:solidFill>
                <a:latin typeface="Calibri" pitchFamily="34" charset="0"/>
                <a:ea typeface="Calibri" pitchFamily="34" charset="-122"/>
                <a:cs typeface="Calibri" pitchFamily="34" charset="-120"/>
              </a:rPr>
              <a:t>piped password list</a:t>
            </a:r>
            <a:endParaRPr lang="en-US" sz="1100"/>
          </a:p>
        </p:txBody>
      </p:sp>
      <p:sp>
        <p:nvSpPr>
          <p:cNvPr id="12" name="Text 9"/>
          <p:cNvSpPr/>
          <p:nvPr/>
        </p:nvSpPr>
        <p:spPr>
          <a:xfrm>
            <a:off x="8686800" y="3520440"/>
            <a:ext cx="2743200" cy="274320"/>
          </a:xfrm>
          <a:prstGeom prst="rect">
            <a:avLst/>
          </a:prstGeom>
          <a:noFill/>
          <a:ln/>
        </p:spPr>
        <p:txBody>
          <a:bodyPr wrap="square" lIns="0" tIns="0" rIns="0" bIns="0" rtlCol="0" anchor="ctr"/>
          <a:lstStyle/>
          <a:p>
            <a:pPr marL="0" indent="0">
              <a:buNone/>
            </a:pPr>
            <a:r>
              <a:rPr lang="en-US" sz="1300" b="1">
                <a:solidFill>
                  <a:srgbClr val="0F172A"/>
                </a:solidFill>
                <a:latin typeface="Consolas" pitchFamily="34" charset="0"/>
                <a:ea typeface="Consolas" pitchFamily="34" charset="-122"/>
                <a:cs typeface="Consolas" pitchFamily="34" charset="-120"/>
              </a:rPr>
              <a:t>ssh://...:101</a:t>
            </a:r>
            <a:endParaRPr lang="en-US" sz="1300"/>
          </a:p>
        </p:txBody>
      </p:sp>
      <p:sp>
        <p:nvSpPr>
          <p:cNvPr id="13" name="Text 10"/>
          <p:cNvSpPr/>
          <p:nvPr/>
        </p:nvSpPr>
        <p:spPr>
          <a:xfrm>
            <a:off x="8686800" y="3794760"/>
            <a:ext cx="2743200" cy="274320"/>
          </a:xfrm>
          <a:prstGeom prst="rect">
            <a:avLst/>
          </a:prstGeom>
          <a:noFill/>
          <a:ln/>
        </p:spPr>
        <p:txBody>
          <a:bodyPr wrap="square" lIns="0" tIns="0" rIns="0" bIns="0" rtlCol="0" anchor="ctr"/>
          <a:lstStyle/>
          <a:p>
            <a:pPr marL="0" indent="0">
              <a:buNone/>
            </a:pPr>
            <a:r>
              <a:rPr lang="en-US" sz="1100" i="1">
                <a:solidFill>
                  <a:srgbClr val="475569"/>
                </a:solidFill>
                <a:latin typeface="Calibri" pitchFamily="34" charset="0"/>
                <a:ea typeface="Calibri" pitchFamily="34" charset="-122"/>
                <a:cs typeface="Calibri" pitchFamily="34" charset="-120"/>
              </a:rPr>
              <a:t>target protocol + IP</a:t>
            </a:r>
            <a:endParaRPr lang="en-US" sz="1100"/>
          </a:p>
        </p:txBody>
      </p:sp>
      <p:sp>
        <p:nvSpPr>
          <p:cNvPr id="14" name="Shape 11"/>
          <p:cNvSpPr/>
          <p:nvPr/>
        </p:nvSpPr>
        <p:spPr>
          <a:xfrm>
            <a:off x="640080" y="4663440"/>
            <a:ext cx="10911535" cy="1645920"/>
          </a:xfrm>
          <a:prstGeom prst="rect">
            <a:avLst/>
          </a:prstGeom>
          <a:solidFill>
            <a:srgbClr val="0A1628"/>
          </a:solidFill>
          <a:ln/>
        </p:spPr>
        <p:txBody>
          <a:bodyPr/>
          <a:lstStyle/>
          <a:p>
            <a:endParaRPr lang="en-US"/>
          </a:p>
        </p:txBody>
      </p:sp>
      <p:pic>
        <p:nvPicPr>
          <p:cNvPr id="15" name="Image 1" descr="preencoded.png"/>
          <p:cNvPicPr>
            <a:picLocks noChangeAspect="1"/>
          </p:cNvPicPr>
          <p:nvPr/>
        </p:nvPicPr>
        <p:blipFill>
          <a:blip r:embed="rId4"/>
          <a:stretch>
            <a:fillRect/>
          </a:stretch>
        </p:blipFill>
        <p:spPr>
          <a:xfrm>
            <a:off x="914400" y="4892040"/>
            <a:ext cx="457200" cy="457200"/>
          </a:xfrm>
          <a:prstGeom prst="rect">
            <a:avLst/>
          </a:prstGeom>
        </p:spPr>
      </p:pic>
      <p:sp>
        <p:nvSpPr>
          <p:cNvPr id="16" name="Text 12"/>
          <p:cNvSpPr/>
          <p:nvPr/>
        </p:nvSpPr>
        <p:spPr>
          <a:xfrm>
            <a:off x="1463040" y="4846320"/>
            <a:ext cx="1828800" cy="274320"/>
          </a:xfrm>
          <a:prstGeom prst="rect">
            <a:avLst/>
          </a:prstGeom>
          <a:noFill/>
          <a:ln/>
        </p:spPr>
        <p:txBody>
          <a:bodyPr wrap="square" lIns="0" tIns="0" rIns="0" bIns="0" rtlCol="0" anchor="ctr"/>
          <a:lstStyle/>
          <a:p>
            <a:pPr marL="0" indent="0">
              <a:buNone/>
            </a:pPr>
            <a:r>
              <a:rPr lang="en-US" sz="1000" b="1" kern="0" spc="300">
                <a:solidFill>
                  <a:srgbClr val="00D9FF"/>
                </a:solidFill>
                <a:latin typeface="Calibri" pitchFamily="34" charset="0"/>
                <a:ea typeface="Calibri" pitchFamily="34" charset="-122"/>
                <a:cs typeface="Calibri" pitchFamily="34" charset="-120"/>
              </a:rPr>
              <a:t>RESULT</a:t>
            </a:r>
            <a:endParaRPr lang="en-US" sz="1000"/>
          </a:p>
        </p:txBody>
      </p:sp>
      <p:sp>
        <p:nvSpPr>
          <p:cNvPr id="17" name="Text 13"/>
          <p:cNvSpPr/>
          <p:nvPr/>
        </p:nvSpPr>
        <p:spPr>
          <a:xfrm>
            <a:off x="1463040" y="5120640"/>
            <a:ext cx="8229600" cy="365760"/>
          </a:xfrm>
          <a:prstGeom prst="rect">
            <a:avLst/>
          </a:prstGeom>
          <a:noFill/>
          <a:ln/>
        </p:spPr>
        <p:txBody>
          <a:bodyPr wrap="square" lIns="0" tIns="0" rIns="0" bIns="0" rtlCol="0" anchor="ctr"/>
          <a:lstStyle/>
          <a:p>
            <a:pPr marL="0" indent="0">
              <a:buNone/>
            </a:pPr>
            <a:r>
              <a:rPr lang="en-US" sz="1700" b="1">
                <a:solidFill>
                  <a:srgbClr val="FFFFFF"/>
                </a:solidFill>
                <a:latin typeface="Consolas" pitchFamily="34" charset="0"/>
                <a:ea typeface="Consolas" pitchFamily="34" charset="-122"/>
                <a:cs typeface="Consolas" pitchFamily="34" charset="-120"/>
              </a:rPr>
              <a:t>1 of 1 target completed, 0 valid password found</a:t>
            </a:r>
            <a:endParaRPr lang="en-US" sz="1700"/>
          </a:p>
        </p:txBody>
      </p:sp>
      <p:sp>
        <p:nvSpPr>
          <p:cNvPr id="18" name="Text 14"/>
          <p:cNvSpPr/>
          <p:nvPr/>
        </p:nvSpPr>
        <p:spPr>
          <a:xfrm>
            <a:off x="914400" y="5532120"/>
            <a:ext cx="10362895" cy="731520"/>
          </a:xfrm>
          <a:prstGeom prst="rect">
            <a:avLst/>
          </a:prstGeom>
          <a:noFill/>
          <a:ln/>
        </p:spPr>
        <p:txBody>
          <a:bodyPr wrap="square" lIns="0" tIns="0" rIns="0" bIns="0" rtlCol="0" anchor="t"/>
          <a:lstStyle/>
          <a:p>
            <a:pPr marL="0" indent="0">
              <a:buNone/>
            </a:pPr>
            <a:r>
              <a:rPr lang="en-US" sz="1200" i="1">
                <a:solidFill>
                  <a:srgbClr val="E2E8F0"/>
                </a:solidFill>
                <a:latin typeface="Calibri" pitchFamily="34" charset="0"/>
                <a:ea typeface="Calibri" pitchFamily="34" charset="-122"/>
                <a:cs typeface="Calibri" pitchFamily="34" charset="-120"/>
              </a:rPr>
              <a:t>Every guess failed — by design. The lab's value is not whether the attack succeeded but whether the telemetry captured every attempt with enough forensic detail for an analyst to reconstruct the sequence.</a:t>
            </a:r>
            <a:endParaRPr lang="en-US" sz="1200"/>
          </a:p>
        </p:txBody>
      </p:sp>
      <p:sp>
        <p:nvSpPr>
          <p:cNvPr id="19" name="Text 15"/>
          <p:cNvSpPr/>
          <p:nvPr/>
        </p:nvSpPr>
        <p:spPr>
          <a:xfrm>
            <a:off x="365760" y="6537960"/>
            <a:ext cx="4572000" cy="228600"/>
          </a:xfrm>
          <a:prstGeom prst="rect">
            <a:avLst/>
          </a:prstGeom>
          <a:noFill/>
          <a:ln/>
        </p:spPr>
        <p:txBody>
          <a:bodyPr wrap="square" lIns="0" tIns="0" rIns="0" bIns="0" rtlCol="0" anchor="ctr"/>
          <a:lstStyle/>
          <a:p>
            <a:pPr marL="0" indent="0" algn="l">
              <a:buNone/>
            </a:pPr>
            <a:r>
              <a:rPr lang="en-US" sz="900">
                <a:solidFill>
                  <a:srgbClr val="94A3B8"/>
                </a:solidFill>
                <a:latin typeface="Calibri" pitchFamily="34" charset="0"/>
                <a:ea typeface="Calibri" pitchFamily="34" charset="-122"/>
                <a:cs typeface="Calibri" pitchFamily="34" charset="-120"/>
              </a:rPr>
              <a:t>Incident Handling Lab  |  Elastic SIEM</a:t>
            </a:r>
            <a:endParaRPr lang="en-US" sz="900"/>
          </a:p>
        </p:txBody>
      </p:sp>
      <p:sp>
        <p:nvSpPr>
          <p:cNvPr id="20" name="Text 16"/>
          <p:cNvSpPr/>
          <p:nvPr/>
        </p:nvSpPr>
        <p:spPr>
          <a:xfrm>
            <a:off x="11094415" y="6537960"/>
            <a:ext cx="914400" cy="228600"/>
          </a:xfrm>
          <a:prstGeom prst="rect">
            <a:avLst/>
          </a:prstGeom>
          <a:noFill/>
          <a:ln/>
        </p:spPr>
        <p:txBody>
          <a:bodyPr wrap="square" lIns="0" tIns="0" rIns="0" bIns="0" rtlCol="0" anchor="ctr"/>
          <a:lstStyle/>
          <a:p>
            <a:pPr marL="0" indent="0" algn="r">
              <a:buNone/>
            </a:pPr>
            <a:r>
              <a:rPr lang="en-US" sz="900">
                <a:solidFill>
                  <a:srgbClr val="94A3B8"/>
                </a:solidFill>
                <a:latin typeface="Calibri" pitchFamily="34" charset="0"/>
                <a:ea typeface="Calibri" pitchFamily="34" charset="-122"/>
                <a:cs typeface="Calibri" pitchFamily="34" charset="-120"/>
              </a:rPr>
              <a:t>12 / 29</a:t>
            </a:r>
            <a:endParaRPr lang="en-US" sz="9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65760" y="457200"/>
            <a:ext cx="109728" cy="731520"/>
          </a:xfrm>
          <a:prstGeom prst="rect">
            <a:avLst/>
          </a:prstGeom>
          <a:solidFill>
            <a:srgbClr val="00D9FF"/>
          </a:solidFill>
          <a:ln/>
        </p:spPr>
        <p:txBody>
          <a:bodyPr/>
          <a:lstStyle/>
          <a:p>
            <a:endParaRPr lang="en-US"/>
          </a:p>
        </p:txBody>
      </p:sp>
      <p:sp>
        <p:nvSpPr>
          <p:cNvPr id="3" name="Text 1"/>
          <p:cNvSpPr/>
          <p:nvPr/>
        </p:nvSpPr>
        <p:spPr>
          <a:xfrm>
            <a:off x="640080" y="411480"/>
            <a:ext cx="10515600" cy="502920"/>
          </a:xfrm>
          <a:prstGeom prst="rect">
            <a:avLst/>
          </a:prstGeom>
          <a:noFill/>
          <a:ln/>
        </p:spPr>
        <p:txBody>
          <a:bodyPr wrap="square" lIns="0" tIns="0" rIns="0" bIns="0" rtlCol="0" anchor="t"/>
          <a:lstStyle/>
          <a:p>
            <a:pPr marL="0" indent="0">
              <a:buNone/>
            </a:pPr>
            <a:r>
              <a:rPr lang="en-US" sz="2800" b="1">
                <a:solidFill>
                  <a:srgbClr val="0F172A"/>
                </a:solidFill>
                <a:latin typeface="Calibri" pitchFamily="34" charset="0"/>
                <a:ea typeface="Calibri" pitchFamily="34" charset="-122"/>
                <a:cs typeface="Calibri" pitchFamily="34" charset="-120"/>
              </a:rPr>
              <a:t>Task 1 — Evidence in /var/log/auth.log</a:t>
            </a:r>
            <a:endParaRPr lang="en-US" sz="2800"/>
          </a:p>
        </p:txBody>
      </p:sp>
      <p:sp>
        <p:nvSpPr>
          <p:cNvPr id="4" name="Text 2"/>
          <p:cNvSpPr/>
          <p:nvPr/>
        </p:nvSpPr>
        <p:spPr>
          <a:xfrm>
            <a:off x="640080" y="868680"/>
            <a:ext cx="10515600" cy="320040"/>
          </a:xfrm>
          <a:prstGeom prst="rect">
            <a:avLst/>
          </a:prstGeom>
          <a:noFill/>
          <a:ln/>
        </p:spPr>
        <p:txBody>
          <a:bodyPr wrap="square" lIns="0" tIns="0" rIns="0" bIns="0" rtlCol="0" anchor="t"/>
          <a:lstStyle/>
          <a:p>
            <a:pPr marL="0" indent="0">
              <a:buNone/>
            </a:pPr>
            <a:r>
              <a:rPr lang="en-US" sz="1300" i="1">
                <a:solidFill>
                  <a:srgbClr val="475569"/>
                </a:solidFill>
                <a:latin typeface="Calibri" pitchFamily="34" charset="0"/>
                <a:ea typeface="Calibri" pitchFamily="34" charset="-122"/>
                <a:cs typeface="Calibri" pitchFamily="34" charset="-120"/>
              </a:rPr>
              <a:t>Every failed SSH attempt is logged at the OS level</a:t>
            </a:r>
            <a:endParaRPr lang="en-US" sz="1300"/>
          </a:p>
        </p:txBody>
      </p:sp>
      <p:pic>
        <p:nvPicPr>
          <p:cNvPr id="5" name="Image 0" descr="/home/claude/report/screenshots/fig_ssh_auth_log.png"/>
          <p:cNvPicPr>
            <a:picLocks noChangeAspect="1"/>
          </p:cNvPicPr>
          <p:nvPr/>
        </p:nvPicPr>
        <p:blipFill>
          <a:blip r:embed="rId3"/>
          <a:srcRect/>
          <a:stretch/>
        </p:blipFill>
        <p:spPr>
          <a:xfrm>
            <a:off x="640080" y="1417320"/>
            <a:ext cx="7772400" cy="4114800"/>
          </a:xfrm>
          <a:prstGeom prst="rect">
            <a:avLst/>
          </a:prstGeom>
        </p:spPr>
      </p:pic>
      <p:sp>
        <p:nvSpPr>
          <p:cNvPr id="6" name="Shape 3"/>
          <p:cNvSpPr/>
          <p:nvPr/>
        </p:nvSpPr>
        <p:spPr>
          <a:xfrm>
            <a:off x="8686800" y="1417320"/>
            <a:ext cx="2834640" cy="914400"/>
          </a:xfrm>
          <a:prstGeom prst="rect">
            <a:avLst/>
          </a:prstGeom>
          <a:solidFill>
            <a:srgbClr val="FFFFFF"/>
          </a:solidFill>
          <a:ln w="12700">
            <a:solidFill>
              <a:srgbClr val="E2E8F0"/>
            </a:solidFill>
            <a:prstDash val="solid"/>
          </a:ln>
        </p:spPr>
        <p:txBody>
          <a:bodyPr/>
          <a:lstStyle/>
          <a:p>
            <a:endParaRPr lang="en-US"/>
          </a:p>
        </p:txBody>
      </p:sp>
      <p:sp>
        <p:nvSpPr>
          <p:cNvPr id="7" name="Shape 4"/>
          <p:cNvSpPr/>
          <p:nvPr/>
        </p:nvSpPr>
        <p:spPr>
          <a:xfrm>
            <a:off x="8686800" y="1417320"/>
            <a:ext cx="91440" cy="914400"/>
          </a:xfrm>
          <a:prstGeom prst="rect">
            <a:avLst/>
          </a:prstGeom>
          <a:solidFill>
            <a:srgbClr val="F59E0B"/>
          </a:solidFill>
          <a:ln/>
        </p:spPr>
        <p:txBody>
          <a:bodyPr/>
          <a:lstStyle/>
          <a:p>
            <a:endParaRPr lang="en-US"/>
          </a:p>
        </p:txBody>
      </p:sp>
      <p:pic>
        <p:nvPicPr>
          <p:cNvPr id="8" name="Image 1" descr="preencoded.png"/>
          <p:cNvPicPr>
            <a:picLocks noChangeAspect="1"/>
          </p:cNvPicPr>
          <p:nvPr/>
        </p:nvPicPr>
        <p:blipFill>
          <a:blip r:embed="rId4"/>
          <a:stretch>
            <a:fillRect/>
          </a:stretch>
        </p:blipFill>
        <p:spPr>
          <a:xfrm>
            <a:off x="8915400" y="1691640"/>
            <a:ext cx="365760" cy="365760"/>
          </a:xfrm>
          <a:prstGeom prst="rect">
            <a:avLst/>
          </a:prstGeom>
        </p:spPr>
      </p:pic>
      <p:sp>
        <p:nvSpPr>
          <p:cNvPr id="9" name="Text 5"/>
          <p:cNvSpPr/>
          <p:nvPr/>
        </p:nvSpPr>
        <p:spPr>
          <a:xfrm>
            <a:off x="9372600" y="1554480"/>
            <a:ext cx="2103120" cy="320040"/>
          </a:xfrm>
          <a:prstGeom prst="rect">
            <a:avLst/>
          </a:prstGeom>
          <a:noFill/>
          <a:ln/>
        </p:spPr>
        <p:txBody>
          <a:bodyPr wrap="square" lIns="0" tIns="0" rIns="0" bIns="0" rtlCol="0" anchor="ctr"/>
          <a:lstStyle/>
          <a:p>
            <a:pPr marL="0" indent="0">
              <a:buNone/>
            </a:pPr>
            <a:r>
              <a:rPr lang="en-US" sz="1300" b="1">
                <a:solidFill>
                  <a:srgbClr val="0F172A"/>
                </a:solidFill>
                <a:latin typeface="Calibri" pitchFamily="34" charset="0"/>
                <a:ea typeface="Calibri" pitchFamily="34" charset="-122"/>
                <a:cs typeface="Calibri" pitchFamily="34" charset="-120"/>
              </a:rPr>
              <a:t>Timestamp</a:t>
            </a:r>
            <a:endParaRPr lang="en-US" sz="1300"/>
          </a:p>
        </p:txBody>
      </p:sp>
      <p:sp>
        <p:nvSpPr>
          <p:cNvPr id="10" name="Text 6"/>
          <p:cNvSpPr/>
          <p:nvPr/>
        </p:nvSpPr>
        <p:spPr>
          <a:xfrm>
            <a:off x="9372600" y="1874520"/>
            <a:ext cx="2103120" cy="411480"/>
          </a:xfrm>
          <a:prstGeom prst="rect">
            <a:avLst/>
          </a:prstGeom>
          <a:noFill/>
          <a:ln/>
        </p:spPr>
        <p:txBody>
          <a:bodyPr wrap="square" lIns="0" tIns="0" rIns="0" bIns="0" rtlCol="0" anchor="t"/>
          <a:lstStyle/>
          <a:p>
            <a:pPr marL="0" indent="0">
              <a:buNone/>
            </a:pPr>
            <a:r>
              <a:rPr lang="en-US" sz="1050">
                <a:solidFill>
                  <a:srgbClr val="475569"/>
                </a:solidFill>
                <a:latin typeface="Calibri" pitchFamily="34" charset="0"/>
                <a:ea typeface="Calibri" pitchFamily="34" charset="-122"/>
                <a:cs typeface="Calibri" pitchFamily="34" charset="-120"/>
              </a:rPr>
              <a:t>All attempts within the same second</a:t>
            </a:r>
            <a:endParaRPr lang="en-US" sz="1050"/>
          </a:p>
        </p:txBody>
      </p:sp>
      <p:sp>
        <p:nvSpPr>
          <p:cNvPr id="11" name="Shape 7"/>
          <p:cNvSpPr/>
          <p:nvPr/>
        </p:nvSpPr>
        <p:spPr>
          <a:xfrm>
            <a:off x="8686800" y="2468880"/>
            <a:ext cx="2834640" cy="914400"/>
          </a:xfrm>
          <a:prstGeom prst="rect">
            <a:avLst/>
          </a:prstGeom>
          <a:solidFill>
            <a:srgbClr val="FFFFFF"/>
          </a:solidFill>
          <a:ln w="12700">
            <a:solidFill>
              <a:srgbClr val="E2E8F0"/>
            </a:solidFill>
            <a:prstDash val="solid"/>
          </a:ln>
        </p:spPr>
        <p:txBody>
          <a:bodyPr/>
          <a:lstStyle/>
          <a:p>
            <a:endParaRPr lang="en-US"/>
          </a:p>
        </p:txBody>
      </p:sp>
      <p:sp>
        <p:nvSpPr>
          <p:cNvPr id="12" name="Shape 8"/>
          <p:cNvSpPr/>
          <p:nvPr/>
        </p:nvSpPr>
        <p:spPr>
          <a:xfrm>
            <a:off x="8686800" y="2468880"/>
            <a:ext cx="91440" cy="914400"/>
          </a:xfrm>
          <a:prstGeom prst="rect">
            <a:avLst/>
          </a:prstGeom>
          <a:solidFill>
            <a:srgbClr val="EF4444"/>
          </a:solidFill>
          <a:ln/>
        </p:spPr>
        <p:txBody>
          <a:bodyPr/>
          <a:lstStyle/>
          <a:p>
            <a:endParaRPr lang="en-US"/>
          </a:p>
        </p:txBody>
      </p:sp>
      <p:pic>
        <p:nvPicPr>
          <p:cNvPr id="13" name="Image 2" descr="preencoded.png"/>
          <p:cNvPicPr>
            <a:picLocks noChangeAspect="1"/>
          </p:cNvPicPr>
          <p:nvPr/>
        </p:nvPicPr>
        <p:blipFill>
          <a:blip r:embed="rId5"/>
          <a:stretch>
            <a:fillRect/>
          </a:stretch>
        </p:blipFill>
        <p:spPr>
          <a:xfrm>
            <a:off x="8915400" y="2743200"/>
            <a:ext cx="365760" cy="365760"/>
          </a:xfrm>
          <a:prstGeom prst="rect">
            <a:avLst/>
          </a:prstGeom>
        </p:spPr>
      </p:pic>
      <p:sp>
        <p:nvSpPr>
          <p:cNvPr id="14" name="Text 9"/>
          <p:cNvSpPr/>
          <p:nvPr/>
        </p:nvSpPr>
        <p:spPr>
          <a:xfrm>
            <a:off x="9372600" y="2606040"/>
            <a:ext cx="2103120" cy="320040"/>
          </a:xfrm>
          <a:prstGeom prst="rect">
            <a:avLst/>
          </a:prstGeom>
          <a:noFill/>
          <a:ln/>
        </p:spPr>
        <p:txBody>
          <a:bodyPr wrap="square" lIns="0" tIns="0" rIns="0" bIns="0" rtlCol="0" anchor="ctr"/>
          <a:lstStyle/>
          <a:p>
            <a:pPr marL="0" indent="0">
              <a:buNone/>
            </a:pPr>
            <a:r>
              <a:rPr lang="en-US" sz="1300" b="1">
                <a:solidFill>
                  <a:srgbClr val="0F172A"/>
                </a:solidFill>
                <a:latin typeface="Calibri" pitchFamily="34" charset="0"/>
                <a:ea typeface="Calibri" pitchFamily="34" charset="-122"/>
                <a:cs typeface="Calibri" pitchFamily="34" charset="-120"/>
              </a:rPr>
              <a:t>Invalid User</a:t>
            </a:r>
            <a:endParaRPr lang="en-US" sz="1300"/>
          </a:p>
        </p:txBody>
      </p:sp>
      <p:sp>
        <p:nvSpPr>
          <p:cNvPr id="15" name="Text 10"/>
          <p:cNvSpPr/>
          <p:nvPr/>
        </p:nvSpPr>
        <p:spPr>
          <a:xfrm>
            <a:off x="9372600" y="2926080"/>
            <a:ext cx="2103120" cy="411480"/>
          </a:xfrm>
          <a:prstGeom prst="rect">
            <a:avLst/>
          </a:prstGeom>
          <a:noFill/>
          <a:ln/>
        </p:spPr>
        <p:txBody>
          <a:bodyPr wrap="square" lIns="0" tIns="0" rIns="0" bIns="0" rtlCol="0" anchor="t"/>
          <a:lstStyle/>
          <a:p>
            <a:pPr marL="0" indent="0">
              <a:buNone/>
            </a:pPr>
            <a:r>
              <a:rPr lang="en-US" sz="1050">
                <a:solidFill>
                  <a:srgbClr val="475569"/>
                </a:solidFill>
                <a:latin typeface="Calibri" pitchFamily="34" charset="0"/>
                <a:ea typeface="Calibri" pitchFamily="34" charset="-122"/>
                <a:cs typeface="Calibri" pitchFamily="34" charset="-120"/>
              </a:rPr>
              <a:t>User 'aashish' does not exist on host</a:t>
            </a:r>
            <a:endParaRPr lang="en-US" sz="1050"/>
          </a:p>
        </p:txBody>
      </p:sp>
      <p:sp>
        <p:nvSpPr>
          <p:cNvPr id="16" name="Shape 11"/>
          <p:cNvSpPr/>
          <p:nvPr/>
        </p:nvSpPr>
        <p:spPr>
          <a:xfrm>
            <a:off x="8686800" y="3520440"/>
            <a:ext cx="2834640" cy="914400"/>
          </a:xfrm>
          <a:prstGeom prst="rect">
            <a:avLst/>
          </a:prstGeom>
          <a:solidFill>
            <a:srgbClr val="FFFFFF"/>
          </a:solidFill>
          <a:ln w="12700">
            <a:solidFill>
              <a:srgbClr val="E2E8F0"/>
            </a:solidFill>
            <a:prstDash val="solid"/>
          </a:ln>
        </p:spPr>
        <p:txBody>
          <a:bodyPr/>
          <a:lstStyle/>
          <a:p>
            <a:endParaRPr lang="en-US"/>
          </a:p>
        </p:txBody>
      </p:sp>
      <p:sp>
        <p:nvSpPr>
          <p:cNvPr id="17" name="Shape 12"/>
          <p:cNvSpPr/>
          <p:nvPr/>
        </p:nvSpPr>
        <p:spPr>
          <a:xfrm>
            <a:off x="8686800" y="3520440"/>
            <a:ext cx="91440" cy="914400"/>
          </a:xfrm>
          <a:prstGeom prst="rect">
            <a:avLst/>
          </a:prstGeom>
          <a:solidFill>
            <a:srgbClr val="EF4444"/>
          </a:solidFill>
          <a:ln/>
        </p:spPr>
        <p:txBody>
          <a:bodyPr/>
          <a:lstStyle/>
          <a:p>
            <a:endParaRPr lang="en-US"/>
          </a:p>
        </p:txBody>
      </p:sp>
      <p:pic>
        <p:nvPicPr>
          <p:cNvPr id="18" name="Image 3" descr="preencoded.png"/>
          <p:cNvPicPr>
            <a:picLocks noChangeAspect="1"/>
          </p:cNvPicPr>
          <p:nvPr/>
        </p:nvPicPr>
        <p:blipFill>
          <a:blip r:embed="rId6"/>
          <a:stretch>
            <a:fillRect/>
          </a:stretch>
        </p:blipFill>
        <p:spPr>
          <a:xfrm>
            <a:off x="8915400" y="3794760"/>
            <a:ext cx="365760" cy="365760"/>
          </a:xfrm>
          <a:prstGeom prst="rect">
            <a:avLst/>
          </a:prstGeom>
        </p:spPr>
      </p:pic>
      <p:sp>
        <p:nvSpPr>
          <p:cNvPr id="19" name="Text 13"/>
          <p:cNvSpPr/>
          <p:nvPr/>
        </p:nvSpPr>
        <p:spPr>
          <a:xfrm>
            <a:off x="9372600" y="3657600"/>
            <a:ext cx="2103120" cy="320040"/>
          </a:xfrm>
          <a:prstGeom prst="rect">
            <a:avLst/>
          </a:prstGeom>
          <a:noFill/>
          <a:ln/>
        </p:spPr>
        <p:txBody>
          <a:bodyPr wrap="square" lIns="0" tIns="0" rIns="0" bIns="0" rtlCol="0" anchor="ctr"/>
          <a:lstStyle/>
          <a:p>
            <a:pPr marL="0" indent="0">
              <a:buNone/>
            </a:pPr>
            <a:r>
              <a:rPr lang="en-US" sz="1300" b="1">
                <a:solidFill>
                  <a:srgbClr val="0F172A"/>
                </a:solidFill>
                <a:latin typeface="Calibri" pitchFamily="34" charset="0"/>
                <a:ea typeface="Calibri" pitchFamily="34" charset="-122"/>
                <a:cs typeface="Calibri" pitchFamily="34" charset="-120"/>
              </a:rPr>
              <a:t>Source IP</a:t>
            </a:r>
            <a:endParaRPr lang="en-US" sz="1300"/>
          </a:p>
        </p:txBody>
      </p:sp>
      <p:sp>
        <p:nvSpPr>
          <p:cNvPr id="20" name="Text 14"/>
          <p:cNvSpPr/>
          <p:nvPr/>
        </p:nvSpPr>
        <p:spPr>
          <a:xfrm>
            <a:off x="9372600" y="3977640"/>
            <a:ext cx="2103120" cy="411480"/>
          </a:xfrm>
          <a:prstGeom prst="rect">
            <a:avLst/>
          </a:prstGeom>
          <a:noFill/>
          <a:ln/>
        </p:spPr>
        <p:txBody>
          <a:bodyPr wrap="square" lIns="0" tIns="0" rIns="0" bIns="0" rtlCol="0" anchor="t"/>
          <a:lstStyle/>
          <a:p>
            <a:pPr marL="0" indent="0">
              <a:buNone/>
            </a:pPr>
            <a:r>
              <a:rPr lang="en-US" sz="1050">
                <a:solidFill>
                  <a:srgbClr val="475569"/>
                </a:solidFill>
                <a:latin typeface="Calibri" pitchFamily="34" charset="0"/>
                <a:ea typeface="Calibri" pitchFamily="34" charset="-122"/>
                <a:cs typeface="Calibri" pitchFamily="34" charset="-120"/>
              </a:rPr>
              <a:t>192.168.56.105 — the Kali attacker</a:t>
            </a:r>
            <a:endParaRPr lang="en-US" sz="1050"/>
          </a:p>
        </p:txBody>
      </p:sp>
      <p:sp>
        <p:nvSpPr>
          <p:cNvPr id="21" name="Shape 15"/>
          <p:cNvSpPr/>
          <p:nvPr/>
        </p:nvSpPr>
        <p:spPr>
          <a:xfrm>
            <a:off x="8686800" y="4572000"/>
            <a:ext cx="2834640" cy="914400"/>
          </a:xfrm>
          <a:prstGeom prst="rect">
            <a:avLst/>
          </a:prstGeom>
          <a:solidFill>
            <a:srgbClr val="FFFFFF"/>
          </a:solidFill>
          <a:ln w="12700">
            <a:solidFill>
              <a:srgbClr val="E2E8F0"/>
            </a:solidFill>
            <a:prstDash val="solid"/>
          </a:ln>
        </p:spPr>
        <p:txBody>
          <a:bodyPr/>
          <a:lstStyle/>
          <a:p>
            <a:endParaRPr lang="en-US"/>
          </a:p>
        </p:txBody>
      </p:sp>
      <p:sp>
        <p:nvSpPr>
          <p:cNvPr id="22" name="Shape 16"/>
          <p:cNvSpPr/>
          <p:nvPr/>
        </p:nvSpPr>
        <p:spPr>
          <a:xfrm>
            <a:off x="8686800" y="4572000"/>
            <a:ext cx="91440" cy="914400"/>
          </a:xfrm>
          <a:prstGeom prst="rect">
            <a:avLst/>
          </a:prstGeom>
          <a:solidFill>
            <a:srgbClr val="10B981"/>
          </a:solidFill>
          <a:ln/>
        </p:spPr>
        <p:txBody>
          <a:bodyPr/>
          <a:lstStyle/>
          <a:p>
            <a:endParaRPr lang="en-US"/>
          </a:p>
        </p:txBody>
      </p:sp>
      <p:pic>
        <p:nvPicPr>
          <p:cNvPr id="23" name="Image 4" descr="preencoded.png"/>
          <p:cNvPicPr>
            <a:picLocks noChangeAspect="1"/>
          </p:cNvPicPr>
          <p:nvPr/>
        </p:nvPicPr>
        <p:blipFill>
          <a:blip r:embed="rId7"/>
          <a:stretch>
            <a:fillRect/>
          </a:stretch>
        </p:blipFill>
        <p:spPr>
          <a:xfrm>
            <a:off x="8915400" y="4846320"/>
            <a:ext cx="365760" cy="365760"/>
          </a:xfrm>
          <a:prstGeom prst="rect">
            <a:avLst/>
          </a:prstGeom>
        </p:spPr>
      </p:pic>
      <p:sp>
        <p:nvSpPr>
          <p:cNvPr id="24" name="Text 17"/>
          <p:cNvSpPr/>
          <p:nvPr/>
        </p:nvSpPr>
        <p:spPr>
          <a:xfrm>
            <a:off x="9372600" y="4709160"/>
            <a:ext cx="2103120" cy="320040"/>
          </a:xfrm>
          <a:prstGeom prst="rect">
            <a:avLst/>
          </a:prstGeom>
          <a:noFill/>
          <a:ln/>
        </p:spPr>
        <p:txBody>
          <a:bodyPr wrap="square" lIns="0" tIns="0" rIns="0" bIns="0" rtlCol="0" anchor="ctr"/>
          <a:lstStyle/>
          <a:p>
            <a:pPr marL="0" indent="0">
              <a:buNone/>
            </a:pPr>
            <a:r>
              <a:rPr lang="en-US" sz="1300" b="1">
                <a:solidFill>
                  <a:srgbClr val="0F172A"/>
                </a:solidFill>
                <a:latin typeface="Calibri" pitchFamily="34" charset="0"/>
                <a:ea typeface="Calibri" pitchFamily="34" charset="-122"/>
                <a:cs typeface="Calibri" pitchFamily="34" charset="-120"/>
              </a:rPr>
              <a:t>Process</a:t>
            </a:r>
            <a:endParaRPr lang="en-US" sz="1300"/>
          </a:p>
        </p:txBody>
      </p:sp>
      <p:sp>
        <p:nvSpPr>
          <p:cNvPr id="25" name="Text 18"/>
          <p:cNvSpPr/>
          <p:nvPr/>
        </p:nvSpPr>
        <p:spPr>
          <a:xfrm>
            <a:off x="9372600" y="5029200"/>
            <a:ext cx="2103120" cy="411480"/>
          </a:xfrm>
          <a:prstGeom prst="rect">
            <a:avLst/>
          </a:prstGeom>
          <a:noFill/>
          <a:ln/>
        </p:spPr>
        <p:txBody>
          <a:bodyPr wrap="square" lIns="0" tIns="0" rIns="0" bIns="0" rtlCol="0" anchor="t"/>
          <a:lstStyle/>
          <a:p>
            <a:pPr marL="0" indent="0">
              <a:buNone/>
            </a:pPr>
            <a:r>
              <a:rPr lang="en-US" sz="1050">
                <a:solidFill>
                  <a:srgbClr val="475569"/>
                </a:solidFill>
                <a:latin typeface="Calibri" pitchFamily="34" charset="0"/>
                <a:ea typeface="Calibri" pitchFamily="34" charset="-122"/>
                <a:cs typeface="Calibri" pitchFamily="34" charset="-120"/>
              </a:rPr>
              <a:t>sshd[6724] — the SSH daemon itself</a:t>
            </a:r>
            <a:endParaRPr lang="en-US" sz="1050"/>
          </a:p>
        </p:txBody>
      </p:sp>
      <p:sp>
        <p:nvSpPr>
          <p:cNvPr id="26" name="Text 19"/>
          <p:cNvSpPr/>
          <p:nvPr/>
        </p:nvSpPr>
        <p:spPr>
          <a:xfrm>
            <a:off x="640080" y="5760720"/>
            <a:ext cx="10911535" cy="548640"/>
          </a:xfrm>
          <a:prstGeom prst="rect">
            <a:avLst/>
          </a:prstGeom>
          <a:noFill/>
          <a:ln/>
        </p:spPr>
        <p:txBody>
          <a:bodyPr wrap="square" lIns="0" tIns="0" rIns="0" bIns="0" rtlCol="0" anchor="ctr"/>
          <a:lstStyle/>
          <a:p>
            <a:pPr marL="0" indent="0" algn="ctr">
              <a:buNone/>
            </a:pPr>
            <a:r>
              <a:rPr lang="en-US" sz="1300" i="1">
                <a:solidFill>
                  <a:srgbClr val="475569"/>
                </a:solidFill>
                <a:latin typeface="Calibri" pitchFamily="34" charset="0"/>
                <a:ea typeface="Calibri" pitchFamily="34" charset="-122"/>
                <a:cs typeface="Calibri" pitchFamily="34" charset="-120"/>
              </a:rPr>
              <a:t>The OS captures everything — and the Elastic Agent reads this file continuously, shipping every new line to Fleet within seconds.</a:t>
            </a:r>
            <a:endParaRPr lang="en-US" sz="1300"/>
          </a:p>
        </p:txBody>
      </p:sp>
      <p:sp>
        <p:nvSpPr>
          <p:cNvPr id="27" name="Text 20"/>
          <p:cNvSpPr/>
          <p:nvPr/>
        </p:nvSpPr>
        <p:spPr>
          <a:xfrm>
            <a:off x="365760" y="6537960"/>
            <a:ext cx="4572000" cy="228600"/>
          </a:xfrm>
          <a:prstGeom prst="rect">
            <a:avLst/>
          </a:prstGeom>
          <a:noFill/>
          <a:ln/>
        </p:spPr>
        <p:txBody>
          <a:bodyPr wrap="square" lIns="0" tIns="0" rIns="0" bIns="0" rtlCol="0" anchor="ctr"/>
          <a:lstStyle/>
          <a:p>
            <a:pPr marL="0" indent="0" algn="l">
              <a:buNone/>
            </a:pPr>
            <a:r>
              <a:rPr lang="en-US" sz="900">
                <a:solidFill>
                  <a:srgbClr val="94A3B8"/>
                </a:solidFill>
                <a:latin typeface="Calibri" pitchFamily="34" charset="0"/>
                <a:ea typeface="Calibri" pitchFamily="34" charset="-122"/>
                <a:cs typeface="Calibri" pitchFamily="34" charset="-120"/>
              </a:rPr>
              <a:t>Incident Handling Lab  |  Elastic SIEM</a:t>
            </a:r>
            <a:endParaRPr lang="en-US" sz="900"/>
          </a:p>
        </p:txBody>
      </p:sp>
      <p:sp>
        <p:nvSpPr>
          <p:cNvPr id="28" name="Text 21"/>
          <p:cNvSpPr/>
          <p:nvPr/>
        </p:nvSpPr>
        <p:spPr>
          <a:xfrm>
            <a:off x="11094415" y="6537960"/>
            <a:ext cx="914400" cy="228600"/>
          </a:xfrm>
          <a:prstGeom prst="rect">
            <a:avLst/>
          </a:prstGeom>
          <a:noFill/>
          <a:ln/>
        </p:spPr>
        <p:txBody>
          <a:bodyPr wrap="square" lIns="0" tIns="0" rIns="0" bIns="0" rtlCol="0" anchor="ctr"/>
          <a:lstStyle/>
          <a:p>
            <a:pPr marL="0" indent="0" algn="r">
              <a:buNone/>
            </a:pPr>
            <a:r>
              <a:rPr lang="en-US" sz="900">
                <a:solidFill>
                  <a:srgbClr val="94A3B8"/>
                </a:solidFill>
                <a:latin typeface="Calibri" pitchFamily="34" charset="0"/>
                <a:ea typeface="Calibri" pitchFamily="34" charset="-122"/>
                <a:cs typeface="Calibri" pitchFamily="34" charset="-120"/>
              </a:rPr>
              <a:t>13 / 29</a:t>
            </a:r>
            <a:endParaRPr lang="en-US" sz="9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65760" y="457200"/>
            <a:ext cx="109728" cy="731520"/>
          </a:xfrm>
          <a:prstGeom prst="rect">
            <a:avLst/>
          </a:prstGeom>
          <a:solidFill>
            <a:srgbClr val="00D9FF"/>
          </a:solidFill>
          <a:ln/>
        </p:spPr>
        <p:txBody>
          <a:bodyPr/>
          <a:lstStyle/>
          <a:p>
            <a:endParaRPr lang="en-US"/>
          </a:p>
        </p:txBody>
      </p:sp>
      <p:sp>
        <p:nvSpPr>
          <p:cNvPr id="3" name="Text 1"/>
          <p:cNvSpPr/>
          <p:nvPr/>
        </p:nvSpPr>
        <p:spPr>
          <a:xfrm>
            <a:off x="640080" y="411480"/>
            <a:ext cx="10515600" cy="502920"/>
          </a:xfrm>
          <a:prstGeom prst="rect">
            <a:avLst/>
          </a:prstGeom>
          <a:noFill/>
          <a:ln/>
        </p:spPr>
        <p:txBody>
          <a:bodyPr wrap="square" lIns="0" tIns="0" rIns="0" bIns="0" rtlCol="0" anchor="t"/>
          <a:lstStyle/>
          <a:p>
            <a:pPr marL="0" indent="0">
              <a:buNone/>
            </a:pPr>
            <a:r>
              <a:rPr lang="en-US" sz="2800" b="1">
                <a:solidFill>
                  <a:srgbClr val="0F172A"/>
                </a:solidFill>
                <a:latin typeface="Calibri" pitchFamily="34" charset="0"/>
                <a:ea typeface="Calibri" pitchFamily="34" charset="-122"/>
                <a:cs typeface="Calibri" pitchFamily="34" charset="-120"/>
              </a:rPr>
              <a:t>Task 1 — Detection in Kibana</a:t>
            </a:r>
            <a:endParaRPr lang="en-US" sz="2800"/>
          </a:p>
        </p:txBody>
      </p:sp>
      <p:sp>
        <p:nvSpPr>
          <p:cNvPr id="4" name="Text 2"/>
          <p:cNvSpPr/>
          <p:nvPr/>
        </p:nvSpPr>
        <p:spPr>
          <a:xfrm>
            <a:off x="640080" y="868680"/>
            <a:ext cx="10515600" cy="320040"/>
          </a:xfrm>
          <a:prstGeom prst="rect">
            <a:avLst/>
          </a:prstGeom>
          <a:noFill/>
          <a:ln/>
        </p:spPr>
        <p:txBody>
          <a:bodyPr wrap="square" lIns="0" tIns="0" rIns="0" bIns="0" rtlCol="0" anchor="t"/>
          <a:lstStyle/>
          <a:p>
            <a:pPr marL="0" indent="0">
              <a:buNone/>
            </a:pPr>
            <a:r>
              <a:rPr lang="en-US" sz="1300" i="1">
                <a:solidFill>
                  <a:srgbClr val="475569"/>
                </a:solidFill>
                <a:latin typeface="Calibri" pitchFamily="34" charset="0"/>
                <a:ea typeface="Calibri" pitchFamily="34" charset="-122"/>
                <a:cs typeface="Calibri" pitchFamily="34" charset="-120"/>
              </a:rPr>
              <a:t>From raw log to pivot-ready evidence</a:t>
            </a:r>
            <a:endParaRPr lang="en-US" sz="1300"/>
          </a:p>
        </p:txBody>
      </p:sp>
      <p:sp>
        <p:nvSpPr>
          <p:cNvPr id="5" name="Shape 3"/>
          <p:cNvSpPr/>
          <p:nvPr/>
        </p:nvSpPr>
        <p:spPr>
          <a:xfrm>
            <a:off x="640080" y="1371600"/>
            <a:ext cx="10911535" cy="640080"/>
          </a:xfrm>
          <a:prstGeom prst="rect">
            <a:avLst/>
          </a:prstGeom>
          <a:solidFill>
            <a:srgbClr val="0A1628"/>
          </a:solidFill>
          <a:ln/>
        </p:spPr>
        <p:txBody>
          <a:bodyPr/>
          <a:lstStyle/>
          <a:p>
            <a:endParaRPr lang="en-US"/>
          </a:p>
        </p:txBody>
      </p:sp>
      <p:sp>
        <p:nvSpPr>
          <p:cNvPr id="6" name="Text 4"/>
          <p:cNvSpPr/>
          <p:nvPr/>
        </p:nvSpPr>
        <p:spPr>
          <a:xfrm>
            <a:off x="822960" y="1508760"/>
            <a:ext cx="640080" cy="411480"/>
          </a:xfrm>
          <a:prstGeom prst="rect">
            <a:avLst/>
          </a:prstGeom>
          <a:noFill/>
          <a:ln/>
        </p:spPr>
        <p:txBody>
          <a:bodyPr wrap="square" lIns="0" tIns="0" rIns="0" bIns="0" rtlCol="0" anchor="ctr"/>
          <a:lstStyle/>
          <a:p>
            <a:pPr marL="0" indent="0">
              <a:buNone/>
            </a:pPr>
            <a:r>
              <a:rPr lang="en-US" sz="1200" b="1">
                <a:solidFill>
                  <a:srgbClr val="00D9FF"/>
                </a:solidFill>
                <a:latin typeface="Consolas" pitchFamily="34" charset="0"/>
                <a:ea typeface="Consolas" pitchFamily="34" charset="-122"/>
                <a:cs typeface="Consolas" pitchFamily="34" charset="-120"/>
              </a:rPr>
              <a:t>KQL:</a:t>
            </a:r>
            <a:endParaRPr lang="en-US" sz="1200"/>
          </a:p>
        </p:txBody>
      </p:sp>
      <p:sp>
        <p:nvSpPr>
          <p:cNvPr id="7" name="Text 5"/>
          <p:cNvSpPr/>
          <p:nvPr/>
        </p:nvSpPr>
        <p:spPr>
          <a:xfrm>
            <a:off x="1417320" y="1508760"/>
            <a:ext cx="9905695" cy="411480"/>
          </a:xfrm>
          <a:prstGeom prst="rect">
            <a:avLst/>
          </a:prstGeom>
          <a:noFill/>
          <a:ln/>
        </p:spPr>
        <p:txBody>
          <a:bodyPr wrap="square" lIns="0" tIns="0" rIns="0" bIns="0" rtlCol="0" anchor="ctr"/>
          <a:lstStyle/>
          <a:p>
            <a:pPr marL="0" indent="0">
              <a:buNone/>
            </a:pPr>
            <a:r>
              <a:rPr lang="en-US" sz="1500">
                <a:solidFill>
                  <a:srgbClr val="FFFFFF"/>
                </a:solidFill>
                <a:latin typeface="Consolas" pitchFamily="34" charset="0"/>
                <a:ea typeface="Consolas" pitchFamily="34" charset="-122"/>
                <a:cs typeface="Consolas" pitchFamily="34" charset="-120"/>
              </a:rPr>
              <a:t>event.outcome : "failure" and process.name : "sshd"</a:t>
            </a:r>
            <a:endParaRPr lang="en-US" sz="1500"/>
          </a:p>
        </p:txBody>
      </p:sp>
      <p:pic>
        <p:nvPicPr>
          <p:cNvPr id="8" name="Image 0" descr="/home/claude/report/screenshots/fig_kibana_ssh_results.png"/>
          <p:cNvPicPr>
            <a:picLocks noChangeAspect="1"/>
          </p:cNvPicPr>
          <p:nvPr/>
        </p:nvPicPr>
        <p:blipFill>
          <a:blip r:embed="rId3"/>
          <a:srcRect/>
          <a:stretch/>
        </p:blipFill>
        <p:spPr>
          <a:xfrm>
            <a:off x="640080" y="2194560"/>
            <a:ext cx="7132320" cy="2743200"/>
          </a:xfrm>
          <a:prstGeom prst="rect">
            <a:avLst/>
          </a:prstGeom>
        </p:spPr>
      </p:pic>
      <p:pic>
        <p:nvPicPr>
          <p:cNvPr id="9" name="Image 1" descr="/home/claude/report/screenshots/fig_kibana_ssh_detail.png"/>
          <p:cNvPicPr>
            <a:picLocks noChangeAspect="1"/>
          </p:cNvPicPr>
          <p:nvPr/>
        </p:nvPicPr>
        <p:blipFill>
          <a:blip r:embed="rId4"/>
          <a:srcRect/>
          <a:stretch/>
        </p:blipFill>
        <p:spPr>
          <a:xfrm>
            <a:off x="7863840" y="2194560"/>
            <a:ext cx="3840480" cy="2743200"/>
          </a:xfrm>
          <a:prstGeom prst="rect">
            <a:avLst/>
          </a:prstGeom>
        </p:spPr>
      </p:pic>
      <p:sp>
        <p:nvSpPr>
          <p:cNvPr id="10" name="Shape 6"/>
          <p:cNvSpPr/>
          <p:nvPr/>
        </p:nvSpPr>
        <p:spPr>
          <a:xfrm>
            <a:off x="640080" y="5120640"/>
            <a:ext cx="10911535" cy="1188720"/>
          </a:xfrm>
          <a:prstGeom prst="rect">
            <a:avLst/>
          </a:prstGeom>
          <a:solidFill>
            <a:srgbClr val="0F1E38"/>
          </a:solidFill>
          <a:ln/>
        </p:spPr>
        <p:txBody>
          <a:bodyPr/>
          <a:lstStyle/>
          <a:p>
            <a:endParaRPr lang="en-US"/>
          </a:p>
        </p:txBody>
      </p:sp>
      <p:sp>
        <p:nvSpPr>
          <p:cNvPr id="11" name="Text 7"/>
          <p:cNvSpPr/>
          <p:nvPr/>
        </p:nvSpPr>
        <p:spPr>
          <a:xfrm>
            <a:off x="640080" y="5212080"/>
            <a:ext cx="2727884" cy="594360"/>
          </a:xfrm>
          <a:prstGeom prst="rect">
            <a:avLst/>
          </a:prstGeom>
          <a:noFill/>
          <a:ln/>
        </p:spPr>
        <p:txBody>
          <a:bodyPr wrap="square" lIns="0" tIns="0" rIns="0" bIns="0" rtlCol="0" anchor="ctr"/>
          <a:lstStyle/>
          <a:p>
            <a:pPr marL="0" indent="0" algn="ctr">
              <a:buNone/>
            </a:pPr>
            <a:r>
              <a:rPr lang="en-US" sz="2800" b="1">
                <a:solidFill>
                  <a:srgbClr val="00D9FF"/>
                </a:solidFill>
                <a:latin typeface="Consolas" pitchFamily="34" charset="0"/>
                <a:ea typeface="Consolas" pitchFamily="34" charset="-122"/>
                <a:cs typeface="Consolas" pitchFamily="34" charset="-120"/>
              </a:rPr>
              <a:t>13</a:t>
            </a:r>
            <a:endParaRPr lang="en-US" sz="2800"/>
          </a:p>
        </p:txBody>
      </p:sp>
      <p:sp>
        <p:nvSpPr>
          <p:cNvPr id="12" name="Text 8"/>
          <p:cNvSpPr/>
          <p:nvPr/>
        </p:nvSpPr>
        <p:spPr>
          <a:xfrm>
            <a:off x="640080" y="5806440"/>
            <a:ext cx="2727884" cy="320040"/>
          </a:xfrm>
          <a:prstGeom prst="rect">
            <a:avLst/>
          </a:prstGeom>
          <a:noFill/>
          <a:ln/>
        </p:spPr>
        <p:txBody>
          <a:bodyPr wrap="square" lIns="0" tIns="0" rIns="0" bIns="0" rtlCol="0" anchor="ctr"/>
          <a:lstStyle/>
          <a:p>
            <a:pPr marL="0" indent="0" algn="ctr">
              <a:buNone/>
            </a:pPr>
            <a:r>
              <a:rPr lang="en-US" sz="1100" kern="0" spc="200">
                <a:solidFill>
                  <a:srgbClr val="E2E8F0"/>
                </a:solidFill>
                <a:latin typeface="Calibri" pitchFamily="34" charset="0"/>
                <a:ea typeface="Calibri" pitchFamily="34" charset="-122"/>
                <a:cs typeface="Calibri" pitchFamily="34" charset="-120"/>
              </a:rPr>
              <a:t>documents matched</a:t>
            </a:r>
            <a:endParaRPr lang="en-US" sz="1100"/>
          </a:p>
        </p:txBody>
      </p:sp>
      <p:sp>
        <p:nvSpPr>
          <p:cNvPr id="13" name="Text 9"/>
          <p:cNvSpPr/>
          <p:nvPr/>
        </p:nvSpPr>
        <p:spPr>
          <a:xfrm>
            <a:off x="3367964" y="5212080"/>
            <a:ext cx="2727884" cy="594360"/>
          </a:xfrm>
          <a:prstGeom prst="rect">
            <a:avLst/>
          </a:prstGeom>
          <a:noFill/>
          <a:ln/>
        </p:spPr>
        <p:txBody>
          <a:bodyPr wrap="square" lIns="0" tIns="0" rIns="0" bIns="0" rtlCol="0" anchor="ctr"/>
          <a:lstStyle/>
          <a:p>
            <a:pPr marL="0" indent="0" algn="ctr">
              <a:buNone/>
            </a:pPr>
            <a:r>
              <a:rPr lang="en-US" sz="2800" b="1">
                <a:solidFill>
                  <a:srgbClr val="10B981"/>
                </a:solidFill>
                <a:latin typeface="Consolas" pitchFamily="34" charset="0"/>
                <a:ea typeface="Consolas" pitchFamily="34" charset="-122"/>
                <a:cs typeface="Consolas" pitchFamily="34" charset="-120"/>
              </a:rPr>
              <a:t>sshd</a:t>
            </a:r>
            <a:endParaRPr lang="en-US" sz="2800"/>
          </a:p>
        </p:txBody>
      </p:sp>
      <p:sp>
        <p:nvSpPr>
          <p:cNvPr id="14" name="Text 10"/>
          <p:cNvSpPr/>
          <p:nvPr/>
        </p:nvSpPr>
        <p:spPr>
          <a:xfrm>
            <a:off x="3367964" y="5806440"/>
            <a:ext cx="2727884" cy="320040"/>
          </a:xfrm>
          <a:prstGeom prst="rect">
            <a:avLst/>
          </a:prstGeom>
          <a:noFill/>
          <a:ln/>
        </p:spPr>
        <p:txBody>
          <a:bodyPr wrap="square" lIns="0" tIns="0" rIns="0" bIns="0" rtlCol="0" anchor="ctr"/>
          <a:lstStyle/>
          <a:p>
            <a:pPr marL="0" indent="0" algn="ctr">
              <a:buNone/>
            </a:pPr>
            <a:r>
              <a:rPr lang="en-US" sz="1100" kern="0" spc="200">
                <a:solidFill>
                  <a:srgbClr val="E2E8F0"/>
                </a:solidFill>
                <a:latin typeface="Calibri" pitchFamily="34" charset="0"/>
                <a:ea typeface="Calibri" pitchFamily="34" charset="-122"/>
                <a:cs typeface="Calibri" pitchFamily="34" charset="-120"/>
              </a:rPr>
              <a:t>process.name</a:t>
            </a:r>
            <a:endParaRPr lang="en-US" sz="1100"/>
          </a:p>
        </p:txBody>
      </p:sp>
      <p:sp>
        <p:nvSpPr>
          <p:cNvPr id="15" name="Text 11"/>
          <p:cNvSpPr/>
          <p:nvPr/>
        </p:nvSpPr>
        <p:spPr>
          <a:xfrm>
            <a:off x="6095848" y="5212080"/>
            <a:ext cx="2727884" cy="594360"/>
          </a:xfrm>
          <a:prstGeom prst="rect">
            <a:avLst/>
          </a:prstGeom>
          <a:noFill/>
          <a:ln/>
        </p:spPr>
        <p:txBody>
          <a:bodyPr wrap="square" lIns="0" tIns="0" rIns="0" bIns="0" rtlCol="0" anchor="ctr"/>
          <a:lstStyle/>
          <a:p>
            <a:pPr marL="0" indent="0" algn="ctr">
              <a:buNone/>
            </a:pPr>
            <a:r>
              <a:rPr lang="en-US" sz="2800" b="1">
                <a:solidFill>
                  <a:srgbClr val="F59E0B"/>
                </a:solidFill>
                <a:latin typeface="Consolas" pitchFamily="34" charset="0"/>
                <a:ea typeface="Consolas" pitchFamily="34" charset="-122"/>
                <a:cs typeface="Consolas" pitchFamily="34" charset="-120"/>
              </a:rPr>
              <a:t>failure</a:t>
            </a:r>
            <a:endParaRPr lang="en-US" sz="2800"/>
          </a:p>
        </p:txBody>
      </p:sp>
      <p:sp>
        <p:nvSpPr>
          <p:cNvPr id="16" name="Text 12"/>
          <p:cNvSpPr/>
          <p:nvPr/>
        </p:nvSpPr>
        <p:spPr>
          <a:xfrm>
            <a:off x="6095848" y="5806440"/>
            <a:ext cx="2727884" cy="320040"/>
          </a:xfrm>
          <a:prstGeom prst="rect">
            <a:avLst/>
          </a:prstGeom>
          <a:noFill/>
          <a:ln/>
        </p:spPr>
        <p:txBody>
          <a:bodyPr wrap="square" lIns="0" tIns="0" rIns="0" bIns="0" rtlCol="0" anchor="ctr"/>
          <a:lstStyle/>
          <a:p>
            <a:pPr marL="0" indent="0" algn="ctr">
              <a:buNone/>
            </a:pPr>
            <a:r>
              <a:rPr lang="en-US" sz="1100" kern="0" spc="200">
                <a:solidFill>
                  <a:srgbClr val="E2E8F0"/>
                </a:solidFill>
                <a:latin typeface="Calibri" pitchFamily="34" charset="0"/>
                <a:ea typeface="Calibri" pitchFamily="34" charset="-122"/>
                <a:cs typeface="Calibri" pitchFamily="34" charset="-120"/>
              </a:rPr>
              <a:t>event.outcome</a:t>
            </a:r>
            <a:endParaRPr lang="en-US" sz="1100"/>
          </a:p>
        </p:txBody>
      </p:sp>
      <p:sp>
        <p:nvSpPr>
          <p:cNvPr id="17" name="Text 13"/>
          <p:cNvSpPr/>
          <p:nvPr/>
        </p:nvSpPr>
        <p:spPr>
          <a:xfrm>
            <a:off x="8823731" y="5212080"/>
            <a:ext cx="2727884" cy="594360"/>
          </a:xfrm>
          <a:prstGeom prst="rect">
            <a:avLst/>
          </a:prstGeom>
          <a:noFill/>
          <a:ln/>
        </p:spPr>
        <p:txBody>
          <a:bodyPr wrap="square" lIns="0" tIns="0" rIns="0" bIns="0" rtlCol="0" anchor="ctr"/>
          <a:lstStyle/>
          <a:p>
            <a:pPr marL="0" indent="0" algn="ctr">
              <a:buNone/>
            </a:pPr>
            <a:r>
              <a:rPr lang="en-US" sz="2800" b="1">
                <a:solidFill>
                  <a:srgbClr val="A78BFA"/>
                </a:solidFill>
                <a:latin typeface="Consolas" pitchFamily="34" charset="0"/>
                <a:ea typeface="Consolas" pitchFamily="34" charset="-122"/>
                <a:cs typeface="Consolas" pitchFamily="34" charset="-120"/>
              </a:rPr>
              <a:t>ssh_login</a:t>
            </a:r>
            <a:endParaRPr lang="en-US" sz="2800"/>
          </a:p>
        </p:txBody>
      </p:sp>
      <p:sp>
        <p:nvSpPr>
          <p:cNvPr id="18" name="Text 14"/>
          <p:cNvSpPr/>
          <p:nvPr/>
        </p:nvSpPr>
        <p:spPr>
          <a:xfrm>
            <a:off x="8823731" y="5806440"/>
            <a:ext cx="2727884" cy="320040"/>
          </a:xfrm>
          <a:prstGeom prst="rect">
            <a:avLst/>
          </a:prstGeom>
          <a:noFill/>
          <a:ln/>
        </p:spPr>
        <p:txBody>
          <a:bodyPr wrap="square" lIns="0" tIns="0" rIns="0" bIns="0" rtlCol="0" anchor="ctr"/>
          <a:lstStyle/>
          <a:p>
            <a:pPr marL="0" indent="0" algn="ctr">
              <a:buNone/>
            </a:pPr>
            <a:r>
              <a:rPr lang="en-US" sz="1100" kern="0" spc="200">
                <a:solidFill>
                  <a:srgbClr val="E2E8F0"/>
                </a:solidFill>
                <a:latin typeface="Calibri" pitchFamily="34" charset="0"/>
                <a:ea typeface="Calibri" pitchFamily="34" charset="-122"/>
                <a:cs typeface="Calibri" pitchFamily="34" charset="-120"/>
              </a:rPr>
              <a:t>event.action</a:t>
            </a:r>
            <a:endParaRPr lang="en-US" sz="1100"/>
          </a:p>
        </p:txBody>
      </p:sp>
      <p:sp>
        <p:nvSpPr>
          <p:cNvPr id="19" name="Text 15"/>
          <p:cNvSpPr/>
          <p:nvPr/>
        </p:nvSpPr>
        <p:spPr>
          <a:xfrm>
            <a:off x="365760" y="6537960"/>
            <a:ext cx="4572000" cy="228600"/>
          </a:xfrm>
          <a:prstGeom prst="rect">
            <a:avLst/>
          </a:prstGeom>
          <a:noFill/>
          <a:ln/>
        </p:spPr>
        <p:txBody>
          <a:bodyPr wrap="square" lIns="0" tIns="0" rIns="0" bIns="0" rtlCol="0" anchor="ctr"/>
          <a:lstStyle/>
          <a:p>
            <a:pPr marL="0" indent="0" algn="l">
              <a:buNone/>
            </a:pPr>
            <a:r>
              <a:rPr lang="en-US" sz="900">
                <a:solidFill>
                  <a:srgbClr val="94A3B8"/>
                </a:solidFill>
                <a:latin typeface="Calibri" pitchFamily="34" charset="0"/>
                <a:ea typeface="Calibri" pitchFamily="34" charset="-122"/>
                <a:cs typeface="Calibri" pitchFamily="34" charset="-120"/>
              </a:rPr>
              <a:t>Incident Handling Lab  |  Elastic SIEM</a:t>
            </a:r>
            <a:endParaRPr lang="en-US" sz="900"/>
          </a:p>
        </p:txBody>
      </p:sp>
      <p:sp>
        <p:nvSpPr>
          <p:cNvPr id="20" name="Text 16"/>
          <p:cNvSpPr/>
          <p:nvPr/>
        </p:nvSpPr>
        <p:spPr>
          <a:xfrm>
            <a:off x="11094415" y="6537960"/>
            <a:ext cx="914400" cy="228600"/>
          </a:xfrm>
          <a:prstGeom prst="rect">
            <a:avLst/>
          </a:prstGeom>
          <a:noFill/>
          <a:ln/>
        </p:spPr>
        <p:txBody>
          <a:bodyPr wrap="square" lIns="0" tIns="0" rIns="0" bIns="0" rtlCol="0" anchor="ctr"/>
          <a:lstStyle/>
          <a:p>
            <a:pPr marL="0" indent="0" algn="r">
              <a:buNone/>
            </a:pPr>
            <a:r>
              <a:rPr lang="en-US" sz="900">
                <a:solidFill>
                  <a:srgbClr val="94A3B8"/>
                </a:solidFill>
                <a:latin typeface="Calibri" pitchFamily="34" charset="0"/>
                <a:ea typeface="Calibri" pitchFamily="34" charset="-122"/>
                <a:cs typeface="Calibri" pitchFamily="34" charset="-120"/>
              </a:rPr>
              <a:t>14 / 29</a:t>
            </a:r>
            <a:endParaRPr lang="en-US" sz="9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65760" y="457200"/>
            <a:ext cx="109728" cy="731520"/>
          </a:xfrm>
          <a:prstGeom prst="rect">
            <a:avLst/>
          </a:prstGeom>
          <a:solidFill>
            <a:srgbClr val="00D9FF"/>
          </a:solidFill>
          <a:ln/>
        </p:spPr>
        <p:txBody>
          <a:bodyPr/>
          <a:lstStyle/>
          <a:p>
            <a:endParaRPr lang="en-US"/>
          </a:p>
        </p:txBody>
      </p:sp>
      <p:sp>
        <p:nvSpPr>
          <p:cNvPr id="3" name="Text 1"/>
          <p:cNvSpPr/>
          <p:nvPr/>
        </p:nvSpPr>
        <p:spPr>
          <a:xfrm>
            <a:off x="640080" y="411480"/>
            <a:ext cx="10515600" cy="502920"/>
          </a:xfrm>
          <a:prstGeom prst="rect">
            <a:avLst/>
          </a:prstGeom>
          <a:noFill/>
          <a:ln/>
        </p:spPr>
        <p:txBody>
          <a:bodyPr wrap="square" lIns="0" tIns="0" rIns="0" bIns="0" rtlCol="0" anchor="t"/>
          <a:lstStyle/>
          <a:p>
            <a:pPr marL="0" indent="0">
              <a:buNone/>
            </a:pPr>
            <a:r>
              <a:rPr lang="en-US" sz="2800" b="1">
                <a:solidFill>
                  <a:srgbClr val="0F172A"/>
                </a:solidFill>
                <a:latin typeface="Calibri" pitchFamily="34" charset="0"/>
                <a:ea typeface="Calibri" pitchFamily="34" charset="-122"/>
                <a:cs typeface="Calibri" pitchFamily="34" charset="-120"/>
              </a:rPr>
              <a:t>Task 2 — RDP Brute Force Attack</a:t>
            </a:r>
            <a:endParaRPr lang="en-US" sz="2800"/>
          </a:p>
        </p:txBody>
      </p:sp>
      <p:sp>
        <p:nvSpPr>
          <p:cNvPr id="4" name="Text 2"/>
          <p:cNvSpPr/>
          <p:nvPr/>
        </p:nvSpPr>
        <p:spPr>
          <a:xfrm>
            <a:off x="640080" y="868680"/>
            <a:ext cx="10515600" cy="320040"/>
          </a:xfrm>
          <a:prstGeom prst="rect">
            <a:avLst/>
          </a:prstGeom>
          <a:noFill/>
          <a:ln/>
        </p:spPr>
        <p:txBody>
          <a:bodyPr wrap="square" lIns="0" tIns="0" rIns="0" bIns="0" rtlCol="0" anchor="t"/>
          <a:lstStyle/>
          <a:p>
            <a:pPr marL="0" indent="0">
              <a:buNone/>
            </a:pPr>
            <a:r>
              <a:rPr lang="en-US" sz="1300" i="1">
                <a:solidFill>
                  <a:srgbClr val="475569"/>
                </a:solidFill>
                <a:latin typeface="Calibri" pitchFamily="34" charset="0"/>
                <a:ea typeface="Calibri" pitchFamily="34" charset="-122"/>
                <a:cs typeface="Calibri" pitchFamily="34" charset="-120"/>
              </a:rPr>
              <a:t>Interactive desktop access as the attacker's prize</a:t>
            </a:r>
            <a:endParaRPr lang="en-US" sz="1300"/>
          </a:p>
        </p:txBody>
      </p:sp>
      <p:sp>
        <p:nvSpPr>
          <p:cNvPr id="5" name="Shape 3"/>
          <p:cNvSpPr/>
          <p:nvPr/>
        </p:nvSpPr>
        <p:spPr>
          <a:xfrm>
            <a:off x="640080" y="1417320"/>
            <a:ext cx="5394960" cy="4846320"/>
          </a:xfrm>
          <a:prstGeom prst="rect">
            <a:avLst/>
          </a:prstGeom>
          <a:solidFill>
            <a:srgbClr val="F7F9FC"/>
          </a:solidFill>
          <a:ln w="12700">
            <a:solidFill>
              <a:srgbClr val="E2E8F0"/>
            </a:solidFill>
            <a:prstDash val="solid"/>
          </a:ln>
        </p:spPr>
        <p:txBody>
          <a:bodyPr/>
          <a:lstStyle/>
          <a:p>
            <a:endParaRPr lang="en-US"/>
          </a:p>
        </p:txBody>
      </p:sp>
      <p:sp>
        <p:nvSpPr>
          <p:cNvPr id="6" name="Text 4"/>
          <p:cNvSpPr/>
          <p:nvPr/>
        </p:nvSpPr>
        <p:spPr>
          <a:xfrm>
            <a:off x="822960" y="1600200"/>
            <a:ext cx="5029200" cy="274320"/>
          </a:xfrm>
          <a:prstGeom prst="rect">
            <a:avLst/>
          </a:prstGeom>
          <a:noFill/>
          <a:ln/>
        </p:spPr>
        <p:txBody>
          <a:bodyPr wrap="square" lIns="0" tIns="0" rIns="0" bIns="0" rtlCol="0" anchor="ctr"/>
          <a:lstStyle/>
          <a:p>
            <a:pPr marL="0" indent="0">
              <a:buNone/>
            </a:pPr>
            <a:r>
              <a:rPr lang="en-US" sz="1000" b="1" kern="0" spc="400">
                <a:solidFill>
                  <a:srgbClr val="0891B2"/>
                </a:solidFill>
                <a:latin typeface="Calibri" pitchFamily="34" charset="0"/>
                <a:ea typeface="Calibri" pitchFamily="34" charset="-122"/>
                <a:cs typeface="Calibri" pitchFamily="34" charset="-120"/>
              </a:rPr>
              <a:t>WHAT IS IT?</a:t>
            </a:r>
            <a:endParaRPr lang="en-US" sz="1000"/>
          </a:p>
        </p:txBody>
      </p:sp>
      <p:sp>
        <p:nvSpPr>
          <p:cNvPr id="7" name="Text 5"/>
          <p:cNvSpPr/>
          <p:nvPr/>
        </p:nvSpPr>
        <p:spPr>
          <a:xfrm>
            <a:off x="822960" y="1874520"/>
            <a:ext cx="5029200" cy="457200"/>
          </a:xfrm>
          <a:prstGeom prst="rect">
            <a:avLst/>
          </a:prstGeom>
          <a:noFill/>
          <a:ln/>
        </p:spPr>
        <p:txBody>
          <a:bodyPr wrap="square" lIns="0" tIns="0" rIns="0" bIns="0" rtlCol="0" anchor="ctr"/>
          <a:lstStyle/>
          <a:p>
            <a:pPr marL="0" indent="0">
              <a:buNone/>
            </a:pPr>
            <a:r>
              <a:rPr lang="en-US" sz="2400" b="1">
                <a:solidFill>
                  <a:srgbClr val="0F172A"/>
                </a:solidFill>
                <a:latin typeface="Calibri" pitchFamily="34" charset="0"/>
                <a:ea typeface="Calibri" pitchFamily="34" charset="-122"/>
                <a:cs typeface="Calibri" pitchFamily="34" charset="-120"/>
              </a:rPr>
              <a:t>RDP Brute Force</a:t>
            </a:r>
            <a:endParaRPr lang="en-US" sz="2400"/>
          </a:p>
        </p:txBody>
      </p:sp>
      <p:sp>
        <p:nvSpPr>
          <p:cNvPr id="8" name="Text 6"/>
          <p:cNvSpPr/>
          <p:nvPr/>
        </p:nvSpPr>
        <p:spPr>
          <a:xfrm>
            <a:off x="822960" y="2423160"/>
            <a:ext cx="5029200" cy="2011680"/>
          </a:xfrm>
          <a:prstGeom prst="rect">
            <a:avLst/>
          </a:prstGeom>
          <a:noFill/>
          <a:ln/>
        </p:spPr>
        <p:txBody>
          <a:bodyPr wrap="square" lIns="0" tIns="0" rIns="0" bIns="0" rtlCol="0" anchor="t"/>
          <a:lstStyle/>
          <a:p>
            <a:pPr marL="0" indent="0">
              <a:buNone/>
            </a:pPr>
            <a:r>
              <a:rPr lang="en-US" sz="1300">
                <a:solidFill>
                  <a:srgbClr val="475569"/>
                </a:solidFill>
                <a:latin typeface="Calibri" pitchFamily="34" charset="0"/>
                <a:ea typeface="Calibri" pitchFamily="34" charset="-122"/>
                <a:cs typeface="Calibri" pitchFamily="34" charset="-120"/>
              </a:rPr>
              <a:t>Remote Desktop Protocol (RDP) provides full graphical desktop access to a Windows machine over TCP port 3389. It is enabled by default on Windows Server.</a:t>
            </a:r>
            <a:endParaRPr lang="en-US" sz="1300"/>
          </a:p>
          <a:p>
            <a:pPr marL="0" indent="0">
              <a:buNone/>
            </a:pPr>
            <a:r>
              <a:rPr lang="en-US" sz="800">
                <a:solidFill>
                  <a:srgbClr val="000000"/>
                </a:solidFill>
              </a:rPr>
              <a:t> </a:t>
            </a:r>
            <a:endParaRPr lang="en-US" sz="1300"/>
          </a:p>
          <a:p>
            <a:pPr marL="0" indent="0">
              <a:buNone/>
            </a:pPr>
            <a:r>
              <a:rPr lang="en-US" sz="1300">
                <a:solidFill>
                  <a:srgbClr val="475569"/>
                </a:solidFill>
                <a:latin typeface="Calibri" pitchFamily="34" charset="0"/>
                <a:ea typeface="Calibri" pitchFamily="34" charset="-122"/>
                <a:cs typeface="Calibri" pitchFamily="34" charset="-120"/>
              </a:rPr>
              <a:t>A successful RDP brute force gives the attacker the same level of access as a legitimate administrator — complete control of the machine.</a:t>
            </a:r>
            <a:endParaRPr lang="en-US" sz="1300"/>
          </a:p>
        </p:txBody>
      </p:sp>
      <p:sp>
        <p:nvSpPr>
          <p:cNvPr id="9" name="Shape 7"/>
          <p:cNvSpPr/>
          <p:nvPr/>
        </p:nvSpPr>
        <p:spPr>
          <a:xfrm>
            <a:off x="822960" y="4480560"/>
            <a:ext cx="5029200" cy="1554480"/>
          </a:xfrm>
          <a:prstGeom prst="rect">
            <a:avLst/>
          </a:prstGeom>
          <a:solidFill>
            <a:srgbClr val="FFFFFF"/>
          </a:solidFill>
          <a:ln w="12700">
            <a:solidFill>
              <a:srgbClr val="F59E0B"/>
            </a:solidFill>
            <a:prstDash val="solid"/>
          </a:ln>
        </p:spPr>
        <p:txBody>
          <a:bodyPr/>
          <a:lstStyle/>
          <a:p>
            <a:endParaRPr lang="en-US"/>
          </a:p>
        </p:txBody>
      </p:sp>
      <p:sp>
        <p:nvSpPr>
          <p:cNvPr id="10" name="Text 8"/>
          <p:cNvSpPr/>
          <p:nvPr/>
        </p:nvSpPr>
        <p:spPr>
          <a:xfrm>
            <a:off x="960120" y="4572000"/>
            <a:ext cx="4754880" cy="274320"/>
          </a:xfrm>
          <a:prstGeom prst="rect">
            <a:avLst/>
          </a:prstGeom>
          <a:noFill/>
          <a:ln/>
        </p:spPr>
        <p:txBody>
          <a:bodyPr wrap="square" lIns="0" tIns="0" rIns="0" bIns="0" rtlCol="0" anchor="ctr"/>
          <a:lstStyle/>
          <a:p>
            <a:pPr marL="0" indent="0">
              <a:buNone/>
            </a:pPr>
            <a:r>
              <a:rPr lang="en-US" sz="1000" b="1" kern="0" spc="300">
                <a:solidFill>
                  <a:srgbClr val="F59E0B"/>
                </a:solidFill>
                <a:latin typeface="Calibri" pitchFamily="34" charset="0"/>
                <a:ea typeface="Calibri" pitchFamily="34" charset="-122"/>
                <a:cs typeface="Calibri" pitchFamily="34" charset="-120"/>
              </a:rPr>
              <a:t>TWO LAYERS OF EVIDENCE</a:t>
            </a:r>
            <a:endParaRPr lang="en-US" sz="1000"/>
          </a:p>
        </p:txBody>
      </p:sp>
      <p:sp>
        <p:nvSpPr>
          <p:cNvPr id="11" name="Shape 9"/>
          <p:cNvSpPr/>
          <p:nvPr/>
        </p:nvSpPr>
        <p:spPr>
          <a:xfrm>
            <a:off x="960120" y="4892040"/>
            <a:ext cx="164592" cy="164592"/>
          </a:xfrm>
          <a:prstGeom prst="rect">
            <a:avLst/>
          </a:prstGeom>
          <a:solidFill>
            <a:srgbClr val="F59E0B"/>
          </a:solidFill>
          <a:ln/>
        </p:spPr>
        <p:txBody>
          <a:bodyPr/>
          <a:lstStyle/>
          <a:p>
            <a:endParaRPr lang="en-US"/>
          </a:p>
        </p:txBody>
      </p:sp>
      <p:sp>
        <p:nvSpPr>
          <p:cNvPr id="12" name="Text 10"/>
          <p:cNvSpPr/>
          <p:nvPr/>
        </p:nvSpPr>
        <p:spPr>
          <a:xfrm>
            <a:off x="1188720" y="4828032"/>
            <a:ext cx="4572000" cy="292608"/>
          </a:xfrm>
          <a:prstGeom prst="rect">
            <a:avLst/>
          </a:prstGeom>
          <a:noFill/>
          <a:ln/>
        </p:spPr>
        <p:txBody>
          <a:bodyPr wrap="square" lIns="0" tIns="0" rIns="0" bIns="0" rtlCol="0" anchor="ctr"/>
          <a:lstStyle/>
          <a:p>
            <a:pPr marL="0" indent="0">
              <a:buNone/>
            </a:pPr>
            <a:r>
              <a:rPr lang="en-US" sz="1250" b="1">
                <a:solidFill>
                  <a:srgbClr val="0F172A"/>
                </a:solidFill>
                <a:latin typeface="Calibri" pitchFamily="34" charset="0"/>
                <a:ea typeface="Calibri" pitchFamily="34" charset="-122"/>
                <a:cs typeface="Calibri" pitchFamily="34" charset="-120"/>
              </a:rPr>
              <a:t>Windows Security Event ID 4625</a:t>
            </a:r>
            <a:endParaRPr lang="en-US" sz="1250"/>
          </a:p>
        </p:txBody>
      </p:sp>
      <p:sp>
        <p:nvSpPr>
          <p:cNvPr id="13" name="Text 11"/>
          <p:cNvSpPr/>
          <p:nvPr/>
        </p:nvSpPr>
        <p:spPr>
          <a:xfrm>
            <a:off x="1188720" y="5074920"/>
            <a:ext cx="4572000" cy="274320"/>
          </a:xfrm>
          <a:prstGeom prst="rect">
            <a:avLst/>
          </a:prstGeom>
          <a:noFill/>
          <a:ln/>
        </p:spPr>
        <p:txBody>
          <a:bodyPr wrap="square" lIns="0" tIns="0" rIns="0" bIns="0" rtlCol="0" anchor="ctr"/>
          <a:lstStyle/>
          <a:p>
            <a:pPr marL="0" indent="0">
              <a:buNone/>
            </a:pPr>
            <a:r>
              <a:rPr lang="en-US" sz="1050">
                <a:solidFill>
                  <a:srgbClr val="475569"/>
                </a:solidFill>
                <a:latin typeface="Calibri" pitchFamily="34" charset="0"/>
                <a:ea typeface="Calibri" pitchFamily="34" charset="-122"/>
                <a:cs typeface="Calibri" pitchFamily="34" charset="-120"/>
              </a:rPr>
              <a:t>Native failed-logon event recorded by Windows itself</a:t>
            </a:r>
            <a:endParaRPr lang="en-US" sz="1050"/>
          </a:p>
        </p:txBody>
      </p:sp>
      <p:sp>
        <p:nvSpPr>
          <p:cNvPr id="14" name="Shape 12"/>
          <p:cNvSpPr/>
          <p:nvPr/>
        </p:nvSpPr>
        <p:spPr>
          <a:xfrm>
            <a:off x="960120" y="5440680"/>
            <a:ext cx="164592" cy="164592"/>
          </a:xfrm>
          <a:prstGeom prst="rect">
            <a:avLst/>
          </a:prstGeom>
          <a:solidFill>
            <a:srgbClr val="F59E0B"/>
          </a:solidFill>
          <a:ln/>
        </p:spPr>
        <p:txBody>
          <a:bodyPr/>
          <a:lstStyle/>
          <a:p>
            <a:endParaRPr lang="en-US"/>
          </a:p>
        </p:txBody>
      </p:sp>
      <p:sp>
        <p:nvSpPr>
          <p:cNvPr id="15" name="Text 13"/>
          <p:cNvSpPr/>
          <p:nvPr/>
        </p:nvSpPr>
        <p:spPr>
          <a:xfrm>
            <a:off x="1188720" y="5376672"/>
            <a:ext cx="4572000" cy="292608"/>
          </a:xfrm>
          <a:prstGeom prst="rect">
            <a:avLst/>
          </a:prstGeom>
          <a:noFill/>
          <a:ln/>
        </p:spPr>
        <p:txBody>
          <a:bodyPr wrap="square" lIns="0" tIns="0" rIns="0" bIns="0" rtlCol="0" anchor="ctr"/>
          <a:lstStyle/>
          <a:p>
            <a:pPr marL="0" indent="0">
              <a:buNone/>
            </a:pPr>
            <a:r>
              <a:rPr lang="en-US" sz="1250" b="1">
                <a:solidFill>
                  <a:srgbClr val="0F172A"/>
                </a:solidFill>
                <a:latin typeface="Calibri" pitchFamily="34" charset="0"/>
                <a:ea typeface="Calibri" pitchFamily="34" charset="-122"/>
                <a:cs typeface="Calibri" pitchFamily="34" charset="-120"/>
              </a:rPr>
              <a:t>Sysmon Event Code 3</a:t>
            </a:r>
            <a:endParaRPr lang="en-US" sz="1250"/>
          </a:p>
        </p:txBody>
      </p:sp>
      <p:sp>
        <p:nvSpPr>
          <p:cNvPr id="16" name="Text 14"/>
          <p:cNvSpPr/>
          <p:nvPr/>
        </p:nvSpPr>
        <p:spPr>
          <a:xfrm>
            <a:off x="1188720" y="5623560"/>
            <a:ext cx="4572000" cy="365760"/>
          </a:xfrm>
          <a:prstGeom prst="rect">
            <a:avLst/>
          </a:prstGeom>
          <a:noFill/>
          <a:ln/>
        </p:spPr>
        <p:txBody>
          <a:bodyPr wrap="square" lIns="0" tIns="0" rIns="0" bIns="0" rtlCol="0" anchor="ctr"/>
          <a:lstStyle/>
          <a:p>
            <a:pPr marL="0" indent="0">
              <a:buNone/>
            </a:pPr>
            <a:r>
              <a:rPr lang="en-US" sz="1050">
                <a:solidFill>
                  <a:srgbClr val="475569"/>
                </a:solidFill>
                <a:latin typeface="Calibri" pitchFamily="34" charset="0"/>
                <a:ea typeface="Calibri" pitchFamily="34" charset="-122"/>
                <a:cs typeface="Calibri" pitchFamily="34" charset="-120"/>
              </a:rPr>
              <a:t>Network connection detected, logged by Sysinternals Sysmon</a:t>
            </a:r>
            <a:endParaRPr lang="en-US" sz="1050"/>
          </a:p>
        </p:txBody>
      </p:sp>
      <p:sp>
        <p:nvSpPr>
          <p:cNvPr id="17" name="Shape 15"/>
          <p:cNvSpPr/>
          <p:nvPr/>
        </p:nvSpPr>
        <p:spPr>
          <a:xfrm>
            <a:off x="6309360" y="1417320"/>
            <a:ext cx="5212080" cy="4846320"/>
          </a:xfrm>
          <a:prstGeom prst="rect">
            <a:avLst/>
          </a:prstGeom>
          <a:solidFill>
            <a:srgbClr val="0A1628"/>
          </a:solidFill>
          <a:ln/>
        </p:spPr>
        <p:txBody>
          <a:bodyPr/>
          <a:lstStyle/>
          <a:p>
            <a:endParaRPr lang="en-US"/>
          </a:p>
        </p:txBody>
      </p:sp>
      <p:sp>
        <p:nvSpPr>
          <p:cNvPr id="18" name="Text 16"/>
          <p:cNvSpPr/>
          <p:nvPr/>
        </p:nvSpPr>
        <p:spPr>
          <a:xfrm>
            <a:off x="6583680" y="1645920"/>
            <a:ext cx="4663440" cy="274320"/>
          </a:xfrm>
          <a:prstGeom prst="rect">
            <a:avLst/>
          </a:prstGeom>
          <a:noFill/>
          <a:ln/>
        </p:spPr>
        <p:txBody>
          <a:bodyPr wrap="square" lIns="0" tIns="0" rIns="0" bIns="0" rtlCol="0" anchor="ctr"/>
          <a:lstStyle/>
          <a:p>
            <a:pPr marL="0" indent="0">
              <a:buNone/>
            </a:pPr>
            <a:r>
              <a:rPr lang="en-US" sz="1000" b="1" kern="0" spc="300">
                <a:solidFill>
                  <a:srgbClr val="00D9FF"/>
                </a:solidFill>
                <a:latin typeface="Calibri" pitchFamily="34" charset="0"/>
                <a:ea typeface="Calibri" pitchFamily="34" charset="-122"/>
                <a:cs typeface="Calibri" pitchFamily="34" charset="-120"/>
              </a:rPr>
              <a:t>ATTACK FLOW</a:t>
            </a:r>
            <a:endParaRPr lang="en-US" sz="1000"/>
          </a:p>
        </p:txBody>
      </p:sp>
      <p:sp>
        <p:nvSpPr>
          <p:cNvPr id="19" name="Shape 17"/>
          <p:cNvSpPr/>
          <p:nvPr/>
        </p:nvSpPr>
        <p:spPr>
          <a:xfrm>
            <a:off x="6675120" y="2103120"/>
            <a:ext cx="2011680" cy="1097280"/>
          </a:xfrm>
          <a:prstGeom prst="rect">
            <a:avLst/>
          </a:prstGeom>
          <a:solidFill>
            <a:srgbClr val="0F1E38"/>
          </a:solidFill>
          <a:ln w="12700">
            <a:solidFill>
              <a:srgbClr val="EF4444"/>
            </a:solidFill>
            <a:prstDash val="solid"/>
          </a:ln>
        </p:spPr>
        <p:txBody>
          <a:bodyPr/>
          <a:lstStyle/>
          <a:p>
            <a:endParaRPr lang="en-US"/>
          </a:p>
        </p:txBody>
      </p:sp>
      <p:pic>
        <p:nvPicPr>
          <p:cNvPr id="20" name="Image 0" descr="preencoded.png"/>
          <p:cNvPicPr>
            <a:picLocks noChangeAspect="1"/>
          </p:cNvPicPr>
          <p:nvPr/>
        </p:nvPicPr>
        <p:blipFill>
          <a:blip r:embed="rId3"/>
          <a:stretch>
            <a:fillRect/>
          </a:stretch>
        </p:blipFill>
        <p:spPr>
          <a:xfrm>
            <a:off x="6858000" y="2240280"/>
            <a:ext cx="457200" cy="457200"/>
          </a:xfrm>
          <a:prstGeom prst="rect">
            <a:avLst/>
          </a:prstGeom>
        </p:spPr>
      </p:pic>
      <p:sp>
        <p:nvSpPr>
          <p:cNvPr id="21" name="Text 18"/>
          <p:cNvSpPr/>
          <p:nvPr/>
        </p:nvSpPr>
        <p:spPr>
          <a:xfrm>
            <a:off x="7406640" y="2194560"/>
            <a:ext cx="1188720" cy="274320"/>
          </a:xfrm>
          <a:prstGeom prst="rect">
            <a:avLst/>
          </a:prstGeom>
          <a:noFill/>
          <a:ln/>
        </p:spPr>
        <p:txBody>
          <a:bodyPr wrap="square" lIns="0" tIns="0" rIns="0" bIns="0" rtlCol="0" anchor="ctr"/>
          <a:lstStyle/>
          <a:p>
            <a:pPr marL="0" indent="0">
              <a:buNone/>
            </a:pPr>
            <a:r>
              <a:rPr lang="en-US" sz="1200" b="1">
                <a:solidFill>
                  <a:srgbClr val="FFFFFF"/>
                </a:solidFill>
                <a:latin typeface="Calibri" pitchFamily="34" charset="0"/>
                <a:ea typeface="Calibri" pitchFamily="34" charset="-122"/>
                <a:cs typeface="Calibri" pitchFamily="34" charset="-120"/>
              </a:rPr>
              <a:t>Kali Linux</a:t>
            </a:r>
            <a:endParaRPr lang="en-US" sz="1200"/>
          </a:p>
        </p:txBody>
      </p:sp>
      <p:sp>
        <p:nvSpPr>
          <p:cNvPr id="22" name="Text 19"/>
          <p:cNvSpPr/>
          <p:nvPr/>
        </p:nvSpPr>
        <p:spPr>
          <a:xfrm>
            <a:off x="7406640" y="2468880"/>
            <a:ext cx="1188720" cy="274320"/>
          </a:xfrm>
          <a:prstGeom prst="rect">
            <a:avLst/>
          </a:prstGeom>
          <a:noFill/>
          <a:ln/>
        </p:spPr>
        <p:txBody>
          <a:bodyPr wrap="square" lIns="0" tIns="0" rIns="0" bIns="0" rtlCol="0" anchor="ctr"/>
          <a:lstStyle/>
          <a:p>
            <a:pPr marL="0" indent="0">
              <a:buNone/>
            </a:pPr>
            <a:r>
              <a:rPr lang="en-US" sz="1000">
                <a:solidFill>
                  <a:srgbClr val="E2E8F0"/>
                </a:solidFill>
                <a:latin typeface="Consolas" pitchFamily="34" charset="0"/>
                <a:ea typeface="Consolas" pitchFamily="34" charset="-122"/>
                <a:cs typeface="Consolas" pitchFamily="34" charset="-120"/>
              </a:rPr>
              <a:t>192.168.56.105</a:t>
            </a:r>
            <a:endParaRPr lang="en-US" sz="1000"/>
          </a:p>
        </p:txBody>
      </p:sp>
      <p:sp>
        <p:nvSpPr>
          <p:cNvPr id="23" name="Text 20"/>
          <p:cNvSpPr/>
          <p:nvPr/>
        </p:nvSpPr>
        <p:spPr>
          <a:xfrm>
            <a:off x="6675120" y="2834640"/>
            <a:ext cx="2011680" cy="274320"/>
          </a:xfrm>
          <a:prstGeom prst="rect">
            <a:avLst/>
          </a:prstGeom>
          <a:noFill/>
          <a:ln/>
        </p:spPr>
        <p:txBody>
          <a:bodyPr wrap="square" lIns="0" tIns="0" rIns="0" bIns="0" rtlCol="0" anchor="ctr"/>
          <a:lstStyle/>
          <a:p>
            <a:pPr marL="0" indent="0" algn="ctr">
              <a:buNone/>
            </a:pPr>
            <a:r>
              <a:rPr lang="en-US" sz="1000" i="1">
                <a:solidFill>
                  <a:srgbClr val="EF4444"/>
                </a:solidFill>
                <a:latin typeface="Calibri" pitchFamily="34" charset="0"/>
                <a:ea typeface="Calibri" pitchFamily="34" charset="-122"/>
                <a:cs typeface="Calibri" pitchFamily="34" charset="-120"/>
              </a:rPr>
              <a:t>Hydra → Administrator</a:t>
            </a:r>
            <a:endParaRPr lang="en-US" sz="1000"/>
          </a:p>
        </p:txBody>
      </p:sp>
      <p:sp>
        <p:nvSpPr>
          <p:cNvPr id="24" name="Shape 21"/>
          <p:cNvSpPr/>
          <p:nvPr/>
        </p:nvSpPr>
        <p:spPr>
          <a:xfrm>
            <a:off x="8778240" y="2651760"/>
            <a:ext cx="457200" cy="0"/>
          </a:xfrm>
          <a:prstGeom prst="line">
            <a:avLst/>
          </a:prstGeom>
          <a:noFill/>
          <a:ln w="38100">
            <a:solidFill>
              <a:srgbClr val="EF4444"/>
            </a:solidFill>
            <a:prstDash val="solid"/>
            <a:tailEnd type="triangle"/>
          </a:ln>
        </p:spPr>
        <p:txBody>
          <a:bodyPr/>
          <a:lstStyle/>
          <a:p>
            <a:endParaRPr lang="en-US"/>
          </a:p>
        </p:txBody>
      </p:sp>
      <p:sp>
        <p:nvSpPr>
          <p:cNvPr id="25" name="Text 22"/>
          <p:cNvSpPr/>
          <p:nvPr/>
        </p:nvSpPr>
        <p:spPr>
          <a:xfrm>
            <a:off x="8503920" y="2194560"/>
            <a:ext cx="777240" cy="274320"/>
          </a:xfrm>
          <a:prstGeom prst="rect">
            <a:avLst/>
          </a:prstGeom>
          <a:noFill/>
          <a:ln/>
        </p:spPr>
        <p:txBody>
          <a:bodyPr wrap="square" lIns="0" tIns="0" rIns="0" bIns="0" rtlCol="0" anchor="ctr"/>
          <a:lstStyle/>
          <a:p>
            <a:pPr marL="0" indent="0" algn="ctr">
              <a:buNone/>
            </a:pPr>
            <a:r>
              <a:rPr lang="en-US" sz="800" b="1">
                <a:solidFill>
                  <a:srgbClr val="EF4444"/>
                </a:solidFill>
                <a:latin typeface="Consolas" pitchFamily="34" charset="0"/>
                <a:ea typeface="Consolas" pitchFamily="34" charset="-122"/>
                <a:cs typeface="Consolas" pitchFamily="34" charset="-120"/>
              </a:rPr>
              <a:t>RDP :3389</a:t>
            </a:r>
            <a:endParaRPr lang="en-US" sz="800"/>
          </a:p>
        </p:txBody>
      </p:sp>
      <p:sp>
        <p:nvSpPr>
          <p:cNvPr id="26" name="Shape 23"/>
          <p:cNvSpPr/>
          <p:nvPr/>
        </p:nvSpPr>
        <p:spPr>
          <a:xfrm>
            <a:off x="9281160" y="2103120"/>
            <a:ext cx="2011680" cy="1097280"/>
          </a:xfrm>
          <a:prstGeom prst="rect">
            <a:avLst/>
          </a:prstGeom>
          <a:solidFill>
            <a:srgbClr val="0F1E38"/>
          </a:solidFill>
          <a:ln w="12700">
            <a:solidFill>
              <a:srgbClr val="10B981"/>
            </a:solidFill>
            <a:prstDash val="solid"/>
          </a:ln>
        </p:spPr>
        <p:txBody>
          <a:bodyPr/>
          <a:lstStyle/>
          <a:p>
            <a:endParaRPr lang="en-US"/>
          </a:p>
        </p:txBody>
      </p:sp>
      <p:pic>
        <p:nvPicPr>
          <p:cNvPr id="27" name="Image 1" descr="preencoded.png"/>
          <p:cNvPicPr>
            <a:picLocks noChangeAspect="1"/>
          </p:cNvPicPr>
          <p:nvPr/>
        </p:nvPicPr>
        <p:blipFill>
          <a:blip r:embed="rId4"/>
          <a:stretch>
            <a:fillRect/>
          </a:stretch>
        </p:blipFill>
        <p:spPr>
          <a:xfrm>
            <a:off x="9418320" y="2240280"/>
            <a:ext cx="457200" cy="457200"/>
          </a:xfrm>
          <a:prstGeom prst="rect">
            <a:avLst/>
          </a:prstGeom>
        </p:spPr>
      </p:pic>
      <p:sp>
        <p:nvSpPr>
          <p:cNvPr id="28" name="Text 24"/>
          <p:cNvSpPr/>
          <p:nvPr/>
        </p:nvSpPr>
        <p:spPr>
          <a:xfrm>
            <a:off x="9966960" y="2194560"/>
            <a:ext cx="1280160" cy="274320"/>
          </a:xfrm>
          <a:prstGeom prst="rect">
            <a:avLst/>
          </a:prstGeom>
          <a:noFill/>
          <a:ln/>
        </p:spPr>
        <p:txBody>
          <a:bodyPr wrap="square" lIns="0" tIns="0" rIns="0" bIns="0" rtlCol="0" anchor="ctr"/>
          <a:lstStyle/>
          <a:p>
            <a:pPr marL="0" indent="0">
              <a:buNone/>
            </a:pPr>
            <a:r>
              <a:rPr lang="en-US" sz="1200" b="1">
                <a:solidFill>
                  <a:srgbClr val="FFFFFF"/>
                </a:solidFill>
                <a:latin typeface="Calibri" pitchFamily="34" charset="0"/>
                <a:ea typeface="Calibri" pitchFamily="34" charset="-122"/>
                <a:cs typeface="Calibri" pitchFamily="34" charset="-120"/>
              </a:rPr>
              <a:t>Windows</a:t>
            </a:r>
            <a:endParaRPr lang="en-US" sz="1200"/>
          </a:p>
        </p:txBody>
      </p:sp>
      <p:sp>
        <p:nvSpPr>
          <p:cNvPr id="29" name="Text 25"/>
          <p:cNvSpPr/>
          <p:nvPr/>
        </p:nvSpPr>
        <p:spPr>
          <a:xfrm>
            <a:off x="9966960" y="2468880"/>
            <a:ext cx="1280160" cy="274320"/>
          </a:xfrm>
          <a:prstGeom prst="rect">
            <a:avLst/>
          </a:prstGeom>
          <a:noFill/>
          <a:ln/>
        </p:spPr>
        <p:txBody>
          <a:bodyPr wrap="square" lIns="0" tIns="0" rIns="0" bIns="0" rtlCol="0" anchor="ctr"/>
          <a:lstStyle/>
          <a:p>
            <a:pPr marL="0" indent="0">
              <a:buNone/>
            </a:pPr>
            <a:r>
              <a:rPr lang="en-US" sz="1000">
                <a:solidFill>
                  <a:srgbClr val="E2E8F0"/>
                </a:solidFill>
                <a:latin typeface="Consolas" pitchFamily="34" charset="0"/>
                <a:ea typeface="Consolas" pitchFamily="34" charset="-122"/>
                <a:cs typeface="Consolas" pitchFamily="34" charset="-120"/>
              </a:rPr>
              <a:t>192.168.56.103</a:t>
            </a:r>
            <a:endParaRPr lang="en-US" sz="1000"/>
          </a:p>
        </p:txBody>
      </p:sp>
      <p:sp>
        <p:nvSpPr>
          <p:cNvPr id="30" name="Text 26"/>
          <p:cNvSpPr/>
          <p:nvPr/>
        </p:nvSpPr>
        <p:spPr>
          <a:xfrm>
            <a:off x="9281160" y="2834640"/>
            <a:ext cx="2011680" cy="274320"/>
          </a:xfrm>
          <a:prstGeom prst="rect">
            <a:avLst/>
          </a:prstGeom>
          <a:noFill/>
          <a:ln/>
        </p:spPr>
        <p:txBody>
          <a:bodyPr wrap="square" lIns="0" tIns="0" rIns="0" bIns="0" rtlCol="0" anchor="ctr"/>
          <a:lstStyle/>
          <a:p>
            <a:pPr marL="0" indent="0" algn="ctr">
              <a:buNone/>
            </a:pPr>
            <a:r>
              <a:rPr lang="en-US" sz="1000" i="1">
                <a:solidFill>
                  <a:srgbClr val="10B981"/>
                </a:solidFill>
                <a:latin typeface="Calibri" pitchFamily="34" charset="0"/>
                <a:ea typeface="Calibri" pitchFamily="34" charset="-122"/>
                <a:cs typeface="Calibri" pitchFamily="34" charset="-120"/>
              </a:rPr>
              <a:t>Sysmon + Elastic Agent</a:t>
            </a:r>
            <a:endParaRPr lang="en-US" sz="1000"/>
          </a:p>
        </p:txBody>
      </p:sp>
      <p:sp>
        <p:nvSpPr>
          <p:cNvPr id="31" name="Shape 27"/>
          <p:cNvSpPr/>
          <p:nvPr/>
        </p:nvSpPr>
        <p:spPr>
          <a:xfrm>
            <a:off x="6675120" y="3611880"/>
            <a:ext cx="4572000" cy="2377440"/>
          </a:xfrm>
          <a:prstGeom prst="rect">
            <a:avLst/>
          </a:prstGeom>
          <a:solidFill>
            <a:srgbClr val="0F1E38"/>
          </a:solidFill>
          <a:ln w="12700">
            <a:solidFill>
              <a:srgbClr val="00D9FF"/>
            </a:solidFill>
            <a:prstDash val="solid"/>
          </a:ln>
        </p:spPr>
        <p:txBody>
          <a:bodyPr/>
          <a:lstStyle/>
          <a:p>
            <a:endParaRPr lang="en-US"/>
          </a:p>
        </p:txBody>
      </p:sp>
      <p:sp>
        <p:nvSpPr>
          <p:cNvPr id="32" name="Text 28"/>
          <p:cNvSpPr/>
          <p:nvPr/>
        </p:nvSpPr>
        <p:spPr>
          <a:xfrm>
            <a:off x="6812280" y="3749040"/>
            <a:ext cx="4297680" cy="274320"/>
          </a:xfrm>
          <a:prstGeom prst="rect">
            <a:avLst/>
          </a:prstGeom>
          <a:noFill/>
          <a:ln/>
        </p:spPr>
        <p:txBody>
          <a:bodyPr wrap="square" lIns="0" tIns="0" rIns="0" bIns="0" rtlCol="0" anchor="ctr"/>
          <a:lstStyle/>
          <a:p>
            <a:pPr marL="0" indent="0">
              <a:buNone/>
            </a:pPr>
            <a:r>
              <a:rPr lang="en-US" sz="1000" b="1" kern="0" spc="300">
                <a:solidFill>
                  <a:srgbClr val="00D9FF"/>
                </a:solidFill>
                <a:latin typeface="Calibri" pitchFamily="34" charset="0"/>
                <a:ea typeface="Calibri" pitchFamily="34" charset="-122"/>
                <a:cs typeface="Calibri" pitchFamily="34" charset="-120"/>
              </a:rPr>
              <a:t>DEFENCE IN DEPTH</a:t>
            </a:r>
            <a:endParaRPr lang="en-US" sz="1000"/>
          </a:p>
        </p:txBody>
      </p:sp>
      <p:sp>
        <p:nvSpPr>
          <p:cNvPr id="33" name="Shape 29"/>
          <p:cNvSpPr/>
          <p:nvPr/>
        </p:nvSpPr>
        <p:spPr>
          <a:xfrm>
            <a:off x="6812280" y="4114800"/>
            <a:ext cx="137160" cy="137160"/>
          </a:xfrm>
          <a:prstGeom prst="rect">
            <a:avLst/>
          </a:prstGeom>
          <a:solidFill>
            <a:srgbClr val="00D9FF"/>
          </a:solidFill>
          <a:ln/>
        </p:spPr>
        <p:txBody>
          <a:bodyPr/>
          <a:lstStyle/>
          <a:p>
            <a:endParaRPr lang="en-US"/>
          </a:p>
        </p:txBody>
      </p:sp>
      <p:sp>
        <p:nvSpPr>
          <p:cNvPr id="34" name="Text 30"/>
          <p:cNvSpPr/>
          <p:nvPr/>
        </p:nvSpPr>
        <p:spPr>
          <a:xfrm>
            <a:off x="7040880" y="4023360"/>
            <a:ext cx="4114800" cy="320040"/>
          </a:xfrm>
          <a:prstGeom prst="rect">
            <a:avLst/>
          </a:prstGeom>
          <a:noFill/>
          <a:ln/>
        </p:spPr>
        <p:txBody>
          <a:bodyPr wrap="square" lIns="0" tIns="0" rIns="0" bIns="0" rtlCol="0" anchor="ctr"/>
          <a:lstStyle/>
          <a:p>
            <a:pPr marL="0" indent="0">
              <a:buNone/>
            </a:pPr>
            <a:r>
              <a:rPr lang="en-US" sz="1150">
                <a:solidFill>
                  <a:srgbClr val="E2E8F0"/>
                </a:solidFill>
                <a:latin typeface="Calibri" pitchFamily="34" charset="0"/>
                <a:ea typeface="Calibri" pitchFamily="34" charset="-122"/>
                <a:cs typeface="Calibri" pitchFamily="34" charset="-120"/>
              </a:rPr>
              <a:t>Security Event 4625 → failed logon</a:t>
            </a:r>
            <a:endParaRPr lang="en-US" sz="1150"/>
          </a:p>
        </p:txBody>
      </p:sp>
      <p:sp>
        <p:nvSpPr>
          <p:cNvPr id="35" name="Shape 31"/>
          <p:cNvSpPr/>
          <p:nvPr/>
        </p:nvSpPr>
        <p:spPr>
          <a:xfrm>
            <a:off x="6812280" y="4526280"/>
            <a:ext cx="137160" cy="137160"/>
          </a:xfrm>
          <a:prstGeom prst="rect">
            <a:avLst/>
          </a:prstGeom>
          <a:solidFill>
            <a:srgbClr val="00D9FF"/>
          </a:solidFill>
          <a:ln/>
        </p:spPr>
        <p:txBody>
          <a:bodyPr/>
          <a:lstStyle/>
          <a:p>
            <a:endParaRPr lang="en-US"/>
          </a:p>
        </p:txBody>
      </p:sp>
      <p:sp>
        <p:nvSpPr>
          <p:cNvPr id="36" name="Text 32"/>
          <p:cNvSpPr/>
          <p:nvPr/>
        </p:nvSpPr>
        <p:spPr>
          <a:xfrm>
            <a:off x="7040880" y="4434840"/>
            <a:ext cx="4114800" cy="320040"/>
          </a:xfrm>
          <a:prstGeom prst="rect">
            <a:avLst/>
          </a:prstGeom>
          <a:noFill/>
          <a:ln/>
        </p:spPr>
        <p:txBody>
          <a:bodyPr wrap="square" lIns="0" tIns="0" rIns="0" bIns="0" rtlCol="0" anchor="ctr"/>
          <a:lstStyle/>
          <a:p>
            <a:pPr marL="0" indent="0">
              <a:buNone/>
            </a:pPr>
            <a:r>
              <a:rPr lang="en-US" sz="1150">
                <a:solidFill>
                  <a:srgbClr val="E2E8F0"/>
                </a:solidFill>
                <a:latin typeface="Calibri" pitchFamily="34" charset="0"/>
                <a:ea typeface="Calibri" pitchFamily="34" charset="-122"/>
                <a:cs typeface="Calibri" pitchFamily="34" charset="-120"/>
              </a:rPr>
              <a:t>Sysmon Event 3 → network connection to :3389</a:t>
            </a:r>
            <a:endParaRPr lang="en-US" sz="1150"/>
          </a:p>
        </p:txBody>
      </p:sp>
      <p:sp>
        <p:nvSpPr>
          <p:cNvPr id="37" name="Shape 33"/>
          <p:cNvSpPr/>
          <p:nvPr/>
        </p:nvSpPr>
        <p:spPr>
          <a:xfrm>
            <a:off x="6812280" y="4937760"/>
            <a:ext cx="137160" cy="137160"/>
          </a:xfrm>
          <a:prstGeom prst="rect">
            <a:avLst/>
          </a:prstGeom>
          <a:solidFill>
            <a:srgbClr val="00D9FF"/>
          </a:solidFill>
          <a:ln/>
        </p:spPr>
        <p:txBody>
          <a:bodyPr/>
          <a:lstStyle/>
          <a:p>
            <a:endParaRPr lang="en-US"/>
          </a:p>
        </p:txBody>
      </p:sp>
      <p:sp>
        <p:nvSpPr>
          <p:cNvPr id="38" name="Text 34"/>
          <p:cNvSpPr/>
          <p:nvPr/>
        </p:nvSpPr>
        <p:spPr>
          <a:xfrm>
            <a:off x="7040880" y="4846320"/>
            <a:ext cx="4114800" cy="320040"/>
          </a:xfrm>
          <a:prstGeom prst="rect">
            <a:avLst/>
          </a:prstGeom>
          <a:noFill/>
          <a:ln/>
        </p:spPr>
        <p:txBody>
          <a:bodyPr wrap="square" lIns="0" tIns="0" rIns="0" bIns="0" rtlCol="0" anchor="ctr"/>
          <a:lstStyle/>
          <a:p>
            <a:pPr marL="0" indent="0">
              <a:buNone/>
            </a:pPr>
            <a:r>
              <a:rPr lang="en-US" sz="1150">
                <a:solidFill>
                  <a:srgbClr val="E2E8F0"/>
                </a:solidFill>
                <a:latin typeface="Calibri" pitchFamily="34" charset="0"/>
                <a:ea typeface="Calibri" pitchFamily="34" charset="-122"/>
                <a:cs typeface="Calibri" pitchFamily="34" charset="-120"/>
              </a:rPr>
              <a:t>Both sources indexed in Elasticsearch</a:t>
            </a:r>
            <a:endParaRPr lang="en-US" sz="1150"/>
          </a:p>
        </p:txBody>
      </p:sp>
      <p:sp>
        <p:nvSpPr>
          <p:cNvPr id="39" name="Shape 35"/>
          <p:cNvSpPr/>
          <p:nvPr/>
        </p:nvSpPr>
        <p:spPr>
          <a:xfrm>
            <a:off x="6812280" y="5349240"/>
            <a:ext cx="137160" cy="137160"/>
          </a:xfrm>
          <a:prstGeom prst="rect">
            <a:avLst/>
          </a:prstGeom>
          <a:solidFill>
            <a:srgbClr val="00D9FF"/>
          </a:solidFill>
          <a:ln/>
        </p:spPr>
        <p:txBody>
          <a:bodyPr/>
          <a:lstStyle/>
          <a:p>
            <a:endParaRPr lang="en-US"/>
          </a:p>
        </p:txBody>
      </p:sp>
      <p:sp>
        <p:nvSpPr>
          <p:cNvPr id="40" name="Text 36"/>
          <p:cNvSpPr/>
          <p:nvPr/>
        </p:nvSpPr>
        <p:spPr>
          <a:xfrm>
            <a:off x="7040880" y="5257800"/>
            <a:ext cx="4114800" cy="320040"/>
          </a:xfrm>
          <a:prstGeom prst="rect">
            <a:avLst/>
          </a:prstGeom>
          <a:noFill/>
          <a:ln/>
        </p:spPr>
        <p:txBody>
          <a:bodyPr wrap="square" lIns="0" tIns="0" rIns="0" bIns="0" rtlCol="0" anchor="ctr"/>
          <a:lstStyle/>
          <a:p>
            <a:pPr marL="0" indent="0">
              <a:buNone/>
            </a:pPr>
            <a:r>
              <a:rPr lang="en-US" sz="1150">
                <a:solidFill>
                  <a:srgbClr val="E2E8F0"/>
                </a:solidFill>
                <a:latin typeface="Calibri" pitchFamily="34" charset="0"/>
                <a:ea typeface="Calibri" pitchFamily="34" charset="-122"/>
                <a:cs typeface="Calibri" pitchFamily="34" charset="-120"/>
              </a:rPr>
              <a:t>Overlapping evidence = harder to tamper with</a:t>
            </a:r>
            <a:endParaRPr lang="en-US" sz="1150"/>
          </a:p>
        </p:txBody>
      </p:sp>
      <p:sp>
        <p:nvSpPr>
          <p:cNvPr id="41" name="Text 37"/>
          <p:cNvSpPr/>
          <p:nvPr/>
        </p:nvSpPr>
        <p:spPr>
          <a:xfrm>
            <a:off x="365760" y="6537960"/>
            <a:ext cx="4572000" cy="228600"/>
          </a:xfrm>
          <a:prstGeom prst="rect">
            <a:avLst/>
          </a:prstGeom>
          <a:noFill/>
          <a:ln/>
        </p:spPr>
        <p:txBody>
          <a:bodyPr wrap="square" lIns="0" tIns="0" rIns="0" bIns="0" rtlCol="0" anchor="ctr"/>
          <a:lstStyle/>
          <a:p>
            <a:pPr marL="0" indent="0" algn="l">
              <a:buNone/>
            </a:pPr>
            <a:r>
              <a:rPr lang="en-US" sz="900">
                <a:solidFill>
                  <a:srgbClr val="94A3B8"/>
                </a:solidFill>
                <a:latin typeface="Calibri" pitchFamily="34" charset="0"/>
                <a:ea typeface="Calibri" pitchFamily="34" charset="-122"/>
                <a:cs typeface="Calibri" pitchFamily="34" charset="-120"/>
              </a:rPr>
              <a:t>Incident Handling Lab  |  Elastic SIEM</a:t>
            </a:r>
            <a:endParaRPr lang="en-US" sz="900"/>
          </a:p>
        </p:txBody>
      </p:sp>
      <p:sp>
        <p:nvSpPr>
          <p:cNvPr id="42" name="Text 38"/>
          <p:cNvSpPr/>
          <p:nvPr/>
        </p:nvSpPr>
        <p:spPr>
          <a:xfrm>
            <a:off x="11094415" y="6537960"/>
            <a:ext cx="914400" cy="228600"/>
          </a:xfrm>
          <a:prstGeom prst="rect">
            <a:avLst/>
          </a:prstGeom>
          <a:noFill/>
          <a:ln/>
        </p:spPr>
        <p:txBody>
          <a:bodyPr wrap="square" lIns="0" tIns="0" rIns="0" bIns="0" rtlCol="0" anchor="ctr"/>
          <a:lstStyle/>
          <a:p>
            <a:pPr marL="0" indent="0" algn="r">
              <a:buNone/>
            </a:pPr>
            <a:r>
              <a:rPr lang="en-US" sz="900">
                <a:solidFill>
                  <a:srgbClr val="94A3B8"/>
                </a:solidFill>
                <a:latin typeface="Calibri" pitchFamily="34" charset="0"/>
                <a:ea typeface="Calibri" pitchFamily="34" charset="-122"/>
                <a:cs typeface="Calibri" pitchFamily="34" charset="-120"/>
              </a:rPr>
              <a:t>15 / 29</a:t>
            </a:r>
            <a:endParaRPr lang="en-US" sz="9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65760" y="457200"/>
            <a:ext cx="109728" cy="731520"/>
          </a:xfrm>
          <a:prstGeom prst="rect">
            <a:avLst/>
          </a:prstGeom>
          <a:solidFill>
            <a:srgbClr val="00D9FF"/>
          </a:solidFill>
          <a:ln/>
        </p:spPr>
        <p:txBody>
          <a:bodyPr/>
          <a:lstStyle/>
          <a:p>
            <a:endParaRPr lang="en-US"/>
          </a:p>
        </p:txBody>
      </p:sp>
      <p:sp>
        <p:nvSpPr>
          <p:cNvPr id="3" name="Text 1"/>
          <p:cNvSpPr/>
          <p:nvPr/>
        </p:nvSpPr>
        <p:spPr>
          <a:xfrm>
            <a:off x="640080" y="411480"/>
            <a:ext cx="10515600" cy="502920"/>
          </a:xfrm>
          <a:prstGeom prst="rect">
            <a:avLst/>
          </a:prstGeom>
          <a:noFill/>
          <a:ln/>
        </p:spPr>
        <p:txBody>
          <a:bodyPr wrap="square" lIns="0" tIns="0" rIns="0" bIns="0" rtlCol="0" anchor="t"/>
          <a:lstStyle/>
          <a:p>
            <a:pPr marL="0" indent="0">
              <a:buNone/>
            </a:pPr>
            <a:r>
              <a:rPr lang="en-US" sz="2800" b="1">
                <a:solidFill>
                  <a:srgbClr val="0F172A"/>
                </a:solidFill>
                <a:latin typeface="Calibri" pitchFamily="34" charset="0"/>
                <a:ea typeface="Calibri" pitchFamily="34" charset="-122"/>
                <a:cs typeface="Calibri" pitchFamily="34" charset="-120"/>
              </a:rPr>
              <a:t>Task 2 — Launching the RDP Attack</a:t>
            </a:r>
            <a:endParaRPr lang="en-US" sz="2800"/>
          </a:p>
        </p:txBody>
      </p:sp>
      <p:sp>
        <p:nvSpPr>
          <p:cNvPr id="4" name="Text 2"/>
          <p:cNvSpPr/>
          <p:nvPr/>
        </p:nvSpPr>
        <p:spPr>
          <a:xfrm>
            <a:off x="640080" y="868680"/>
            <a:ext cx="10515600" cy="320040"/>
          </a:xfrm>
          <a:prstGeom prst="rect">
            <a:avLst/>
          </a:prstGeom>
          <a:noFill/>
          <a:ln/>
        </p:spPr>
        <p:txBody>
          <a:bodyPr wrap="square" lIns="0" tIns="0" rIns="0" bIns="0" rtlCol="0" anchor="t"/>
          <a:lstStyle/>
          <a:p>
            <a:pPr marL="0" indent="0">
              <a:buNone/>
            </a:pPr>
            <a:r>
              <a:rPr lang="en-US" sz="1300" i="1">
                <a:solidFill>
                  <a:srgbClr val="475569"/>
                </a:solidFill>
                <a:latin typeface="Calibri" pitchFamily="34" charset="0"/>
                <a:ea typeface="Calibri" pitchFamily="34" charset="-122"/>
                <a:cs typeface="Calibri" pitchFamily="34" charset="-120"/>
              </a:rPr>
              <a:t>Kali Linux → Windows Server on 192.168.56.103</a:t>
            </a:r>
            <a:endParaRPr lang="en-US" sz="1300"/>
          </a:p>
        </p:txBody>
      </p:sp>
      <p:pic>
        <p:nvPicPr>
          <p:cNvPr id="5" name="Image 0" descr="/home/claude/report/screenshots/fig_hydra_rdp_attack.png"/>
          <p:cNvPicPr>
            <a:picLocks noChangeAspect="1"/>
          </p:cNvPicPr>
          <p:nvPr/>
        </p:nvPicPr>
        <p:blipFill>
          <a:blip r:embed="rId3"/>
          <a:srcRect/>
          <a:stretch/>
        </p:blipFill>
        <p:spPr>
          <a:xfrm>
            <a:off x="640080" y="1417320"/>
            <a:ext cx="7589520" cy="4023360"/>
          </a:xfrm>
          <a:prstGeom prst="rect">
            <a:avLst/>
          </a:prstGeom>
        </p:spPr>
      </p:pic>
      <p:sp>
        <p:nvSpPr>
          <p:cNvPr id="6" name="Shape 3"/>
          <p:cNvSpPr/>
          <p:nvPr/>
        </p:nvSpPr>
        <p:spPr>
          <a:xfrm>
            <a:off x="8503920" y="1417320"/>
            <a:ext cx="3017520" cy="4023360"/>
          </a:xfrm>
          <a:prstGeom prst="rect">
            <a:avLst/>
          </a:prstGeom>
          <a:solidFill>
            <a:srgbClr val="F7F9FC"/>
          </a:solidFill>
          <a:ln w="12700">
            <a:solidFill>
              <a:srgbClr val="E2E8F0"/>
            </a:solidFill>
            <a:prstDash val="solid"/>
          </a:ln>
        </p:spPr>
        <p:txBody>
          <a:bodyPr/>
          <a:lstStyle/>
          <a:p>
            <a:endParaRPr lang="en-US"/>
          </a:p>
        </p:txBody>
      </p:sp>
      <p:sp>
        <p:nvSpPr>
          <p:cNvPr id="7" name="Text 4"/>
          <p:cNvSpPr/>
          <p:nvPr/>
        </p:nvSpPr>
        <p:spPr>
          <a:xfrm>
            <a:off x="8686800" y="1600200"/>
            <a:ext cx="2743200" cy="274320"/>
          </a:xfrm>
          <a:prstGeom prst="rect">
            <a:avLst/>
          </a:prstGeom>
          <a:noFill/>
          <a:ln/>
        </p:spPr>
        <p:txBody>
          <a:bodyPr wrap="square" lIns="0" tIns="0" rIns="0" bIns="0" rtlCol="0" anchor="ctr"/>
          <a:lstStyle/>
          <a:p>
            <a:pPr marL="0" indent="0">
              <a:buNone/>
            </a:pPr>
            <a:r>
              <a:rPr lang="en-US" sz="1000" b="1" kern="0" spc="300">
                <a:solidFill>
                  <a:srgbClr val="0891B2"/>
                </a:solidFill>
                <a:latin typeface="Calibri" pitchFamily="34" charset="0"/>
                <a:ea typeface="Calibri" pitchFamily="34" charset="-122"/>
                <a:cs typeface="Calibri" pitchFamily="34" charset="-120"/>
              </a:rPr>
              <a:t>ATTACK BREAKDOWN</a:t>
            </a:r>
            <a:endParaRPr lang="en-US" sz="1000"/>
          </a:p>
        </p:txBody>
      </p:sp>
      <p:sp>
        <p:nvSpPr>
          <p:cNvPr id="8" name="Text 5"/>
          <p:cNvSpPr/>
          <p:nvPr/>
        </p:nvSpPr>
        <p:spPr>
          <a:xfrm>
            <a:off x="8686800" y="1965960"/>
            <a:ext cx="2743200" cy="228600"/>
          </a:xfrm>
          <a:prstGeom prst="rect">
            <a:avLst/>
          </a:prstGeom>
          <a:noFill/>
          <a:ln/>
        </p:spPr>
        <p:txBody>
          <a:bodyPr wrap="square" lIns="0" tIns="0" rIns="0" bIns="0" rtlCol="0" anchor="ctr"/>
          <a:lstStyle/>
          <a:p>
            <a:pPr marL="0" indent="0">
              <a:buNone/>
            </a:pPr>
            <a:r>
              <a:rPr lang="en-US" sz="900" b="1" kern="0" spc="200">
                <a:solidFill>
                  <a:srgbClr val="94A3B8"/>
                </a:solidFill>
                <a:latin typeface="Calibri" pitchFamily="34" charset="0"/>
                <a:ea typeface="Calibri" pitchFamily="34" charset="-122"/>
                <a:cs typeface="Calibri" pitchFamily="34" charset="-120"/>
              </a:rPr>
              <a:t>TARGET</a:t>
            </a:r>
            <a:endParaRPr lang="en-US" sz="900"/>
          </a:p>
        </p:txBody>
      </p:sp>
      <p:sp>
        <p:nvSpPr>
          <p:cNvPr id="9" name="Text 6"/>
          <p:cNvSpPr/>
          <p:nvPr/>
        </p:nvSpPr>
        <p:spPr>
          <a:xfrm>
            <a:off x="8686800" y="2194560"/>
            <a:ext cx="2743200" cy="274320"/>
          </a:xfrm>
          <a:prstGeom prst="rect">
            <a:avLst/>
          </a:prstGeom>
          <a:noFill/>
          <a:ln/>
        </p:spPr>
        <p:txBody>
          <a:bodyPr wrap="square" lIns="0" tIns="0" rIns="0" bIns="0" rtlCol="0" anchor="ctr"/>
          <a:lstStyle/>
          <a:p>
            <a:pPr marL="0" indent="0">
              <a:buNone/>
            </a:pPr>
            <a:r>
              <a:rPr lang="en-US" sz="1200" b="1">
                <a:solidFill>
                  <a:srgbClr val="0F172A"/>
                </a:solidFill>
                <a:latin typeface="Consolas" pitchFamily="34" charset="0"/>
                <a:ea typeface="Consolas" pitchFamily="34" charset="-122"/>
                <a:cs typeface="Consolas" pitchFamily="34" charset="-120"/>
              </a:rPr>
              <a:t>192.168.56.103:3389</a:t>
            </a:r>
            <a:endParaRPr lang="en-US" sz="1200"/>
          </a:p>
        </p:txBody>
      </p:sp>
      <p:sp>
        <p:nvSpPr>
          <p:cNvPr id="10" name="Text 7"/>
          <p:cNvSpPr/>
          <p:nvPr/>
        </p:nvSpPr>
        <p:spPr>
          <a:xfrm>
            <a:off x="8686800" y="2514600"/>
            <a:ext cx="2743200" cy="228600"/>
          </a:xfrm>
          <a:prstGeom prst="rect">
            <a:avLst/>
          </a:prstGeom>
          <a:noFill/>
          <a:ln/>
        </p:spPr>
        <p:txBody>
          <a:bodyPr wrap="square" lIns="0" tIns="0" rIns="0" bIns="0" rtlCol="0" anchor="ctr"/>
          <a:lstStyle/>
          <a:p>
            <a:pPr marL="0" indent="0">
              <a:buNone/>
            </a:pPr>
            <a:r>
              <a:rPr lang="en-US" sz="900" b="1" kern="0" spc="200">
                <a:solidFill>
                  <a:srgbClr val="94A3B8"/>
                </a:solidFill>
                <a:latin typeface="Calibri" pitchFamily="34" charset="0"/>
                <a:ea typeface="Calibri" pitchFamily="34" charset="-122"/>
                <a:cs typeface="Calibri" pitchFamily="34" charset="-120"/>
              </a:rPr>
              <a:t>ACCOUNT</a:t>
            </a:r>
            <a:endParaRPr lang="en-US" sz="900"/>
          </a:p>
        </p:txBody>
      </p:sp>
      <p:sp>
        <p:nvSpPr>
          <p:cNvPr id="11" name="Text 8"/>
          <p:cNvSpPr/>
          <p:nvPr/>
        </p:nvSpPr>
        <p:spPr>
          <a:xfrm>
            <a:off x="8686800" y="2743200"/>
            <a:ext cx="2743200" cy="274320"/>
          </a:xfrm>
          <a:prstGeom prst="rect">
            <a:avLst/>
          </a:prstGeom>
          <a:noFill/>
          <a:ln/>
        </p:spPr>
        <p:txBody>
          <a:bodyPr wrap="square" lIns="0" tIns="0" rIns="0" bIns="0" rtlCol="0" anchor="ctr"/>
          <a:lstStyle/>
          <a:p>
            <a:pPr marL="0" indent="0">
              <a:buNone/>
            </a:pPr>
            <a:r>
              <a:rPr lang="en-US" sz="1200" b="1">
                <a:solidFill>
                  <a:srgbClr val="0F172A"/>
                </a:solidFill>
                <a:latin typeface="Consolas" pitchFamily="34" charset="0"/>
                <a:ea typeface="Consolas" pitchFamily="34" charset="-122"/>
                <a:cs typeface="Consolas" pitchFamily="34" charset="-120"/>
              </a:rPr>
              <a:t>Administrator</a:t>
            </a:r>
            <a:endParaRPr lang="en-US" sz="1200"/>
          </a:p>
        </p:txBody>
      </p:sp>
      <p:sp>
        <p:nvSpPr>
          <p:cNvPr id="12" name="Text 9"/>
          <p:cNvSpPr/>
          <p:nvPr/>
        </p:nvSpPr>
        <p:spPr>
          <a:xfrm>
            <a:off x="8686800" y="3063240"/>
            <a:ext cx="2743200" cy="228600"/>
          </a:xfrm>
          <a:prstGeom prst="rect">
            <a:avLst/>
          </a:prstGeom>
          <a:noFill/>
          <a:ln/>
        </p:spPr>
        <p:txBody>
          <a:bodyPr wrap="square" lIns="0" tIns="0" rIns="0" bIns="0" rtlCol="0" anchor="ctr"/>
          <a:lstStyle/>
          <a:p>
            <a:pPr marL="0" indent="0">
              <a:buNone/>
            </a:pPr>
            <a:r>
              <a:rPr lang="en-US" sz="900" b="1" kern="0" spc="200">
                <a:solidFill>
                  <a:srgbClr val="94A3B8"/>
                </a:solidFill>
                <a:latin typeface="Calibri" pitchFamily="34" charset="0"/>
                <a:ea typeface="Calibri" pitchFamily="34" charset="-122"/>
                <a:cs typeface="Calibri" pitchFamily="34" charset="-120"/>
              </a:rPr>
              <a:t>TOOL</a:t>
            </a:r>
            <a:endParaRPr lang="en-US" sz="900"/>
          </a:p>
        </p:txBody>
      </p:sp>
      <p:sp>
        <p:nvSpPr>
          <p:cNvPr id="13" name="Text 10"/>
          <p:cNvSpPr/>
          <p:nvPr/>
        </p:nvSpPr>
        <p:spPr>
          <a:xfrm>
            <a:off x="8686800" y="3291840"/>
            <a:ext cx="2743200" cy="274320"/>
          </a:xfrm>
          <a:prstGeom prst="rect">
            <a:avLst/>
          </a:prstGeom>
          <a:noFill/>
          <a:ln/>
        </p:spPr>
        <p:txBody>
          <a:bodyPr wrap="square" lIns="0" tIns="0" rIns="0" bIns="0" rtlCol="0" anchor="ctr"/>
          <a:lstStyle/>
          <a:p>
            <a:pPr marL="0" indent="0">
              <a:buNone/>
            </a:pPr>
            <a:r>
              <a:rPr lang="en-US" sz="1200" b="1">
                <a:solidFill>
                  <a:srgbClr val="0F172A"/>
                </a:solidFill>
                <a:latin typeface="Consolas" pitchFamily="34" charset="0"/>
                <a:ea typeface="Consolas" pitchFamily="34" charset="-122"/>
                <a:cs typeface="Consolas" pitchFamily="34" charset="-120"/>
              </a:rPr>
              <a:t>hydra v9.5 (Kali)</a:t>
            </a:r>
            <a:endParaRPr lang="en-US" sz="1200"/>
          </a:p>
        </p:txBody>
      </p:sp>
      <p:sp>
        <p:nvSpPr>
          <p:cNvPr id="14" name="Text 11"/>
          <p:cNvSpPr/>
          <p:nvPr/>
        </p:nvSpPr>
        <p:spPr>
          <a:xfrm>
            <a:off x="8686800" y="3611880"/>
            <a:ext cx="2743200" cy="228600"/>
          </a:xfrm>
          <a:prstGeom prst="rect">
            <a:avLst/>
          </a:prstGeom>
          <a:noFill/>
          <a:ln/>
        </p:spPr>
        <p:txBody>
          <a:bodyPr wrap="square" lIns="0" tIns="0" rIns="0" bIns="0" rtlCol="0" anchor="ctr"/>
          <a:lstStyle/>
          <a:p>
            <a:pPr marL="0" indent="0">
              <a:buNone/>
            </a:pPr>
            <a:r>
              <a:rPr lang="en-US" sz="900" b="1" kern="0" spc="200">
                <a:solidFill>
                  <a:srgbClr val="94A3B8"/>
                </a:solidFill>
                <a:latin typeface="Calibri" pitchFamily="34" charset="0"/>
                <a:ea typeface="Calibri" pitchFamily="34" charset="-122"/>
                <a:cs typeface="Calibri" pitchFamily="34" charset="-120"/>
              </a:rPr>
              <a:t>MODULE</a:t>
            </a:r>
            <a:endParaRPr lang="en-US" sz="900"/>
          </a:p>
        </p:txBody>
      </p:sp>
      <p:sp>
        <p:nvSpPr>
          <p:cNvPr id="15" name="Text 12"/>
          <p:cNvSpPr/>
          <p:nvPr/>
        </p:nvSpPr>
        <p:spPr>
          <a:xfrm>
            <a:off x="8686800" y="3840480"/>
            <a:ext cx="2743200" cy="274320"/>
          </a:xfrm>
          <a:prstGeom prst="rect">
            <a:avLst/>
          </a:prstGeom>
          <a:noFill/>
          <a:ln/>
        </p:spPr>
        <p:txBody>
          <a:bodyPr wrap="square" lIns="0" tIns="0" rIns="0" bIns="0" rtlCol="0" anchor="ctr"/>
          <a:lstStyle/>
          <a:p>
            <a:pPr marL="0" indent="0">
              <a:buNone/>
            </a:pPr>
            <a:r>
              <a:rPr lang="en-US" sz="1200" b="1">
                <a:solidFill>
                  <a:srgbClr val="0F172A"/>
                </a:solidFill>
                <a:latin typeface="Consolas" pitchFamily="34" charset="0"/>
                <a:ea typeface="Consolas" pitchFamily="34" charset="-122"/>
                <a:cs typeface="Consolas" pitchFamily="34" charset="-120"/>
              </a:rPr>
              <a:t>rdp (experimental)</a:t>
            </a:r>
            <a:endParaRPr lang="en-US" sz="1200"/>
          </a:p>
        </p:txBody>
      </p:sp>
      <p:sp>
        <p:nvSpPr>
          <p:cNvPr id="16" name="Text 13"/>
          <p:cNvSpPr/>
          <p:nvPr/>
        </p:nvSpPr>
        <p:spPr>
          <a:xfrm>
            <a:off x="8686800" y="4160520"/>
            <a:ext cx="2743200" cy="228600"/>
          </a:xfrm>
          <a:prstGeom prst="rect">
            <a:avLst/>
          </a:prstGeom>
          <a:noFill/>
          <a:ln/>
        </p:spPr>
        <p:txBody>
          <a:bodyPr wrap="square" lIns="0" tIns="0" rIns="0" bIns="0" rtlCol="0" anchor="ctr"/>
          <a:lstStyle/>
          <a:p>
            <a:pPr marL="0" indent="0">
              <a:buNone/>
            </a:pPr>
            <a:r>
              <a:rPr lang="en-US" sz="900" b="1" kern="0" spc="200">
                <a:solidFill>
                  <a:srgbClr val="94A3B8"/>
                </a:solidFill>
                <a:latin typeface="Calibri" pitchFamily="34" charset="0"/>
                <a:ea typeface="Calibri" pitchFamily="34" charset="-122"/>
                <a:cs typeface="Calibri" pitchFamily="34" charset="-120"/>
              </a:rPr>
              <a:t>TASKS PER TARGET</a:t>
            </a:r>
            <a:endParaRPr lang="en-US" sz="900"/>
          </a:p>
        </p:txBody>
      </p:sp>
      <p:sp>
        <p:nvSpPr>
          <p:cNvPr id="17" name="Text 14"/>
          <p:cNvSpPr/>
          <p:nvPr/>
        </p:nvSpPr>
        <p:spPr>
          <a:xfrm>
            <a:off x="8686800" y="4389120"/>
            <a:ext cx="2743200" cy="274320"/>
          </a:xfrm>
          <a:prstGeom prst="rect">
            <a:avLst/>
          </a:prstGeom>
          <a:noFill/>
          <a:ln/>
        </p:spPr>
        <p:txBody>
          <a:bodyPr wrap="square" lIns="0" tIns="0" rIns="0" bIns="0" rtlCol="0" anchor="ctr"/>
          <a:lstStyle/>
          <a:p>
            <a:pPr marL="0" indent="0">
              <a:buNone/>
            </a:pPr>
            <a:r>
              <a:rPr lang="en-US" sz="1200" b="1">
                <a:solidFill>
                  <a:srgbClr val="0F172A"/>
                </a:solidFill>
                <a:latin typeface="Consolas" pitchFamily="34" charset="0"/>
                <a:ea typeface="Consolas" pitchFamily="34" charset="-122"/>
                <a:cs typeface="Consolas" pitchFamily="34" charset="-120"/>
              </a:rPr>
              <a:t>4 (RDP limited)</a:t>
            </a:r>
            <a:endParaRPr lang="en-US" sz="1200"/>
          </a:p>
        </p:txBody>
      </p:sp>
      <p:sp>
        <p:nvSpPr>
          <p:cNvPr id="18" name="Text 15"/>
          <p:cNvSpPr/>
          <p:nvPr/>
        </p:nvSpPr>
        <p:spPr>
          <a:xfrm>
            <a:off x="8686800" y="4709160"/>
            <a:ext cx="2743200" cy="228600"/>
          </a:xfrm>
          <a:prstGeom prst="rect">
            <a:avLst/>
          </a:prstGeom>
          <a:noFill/>
          <a:ln/>
        </p:spPr>
        <p:txBody>
          <a:bodyPr wrap="square" lIns="0" tIns="0" rIns="0" bIns="0" rtlCol="0" anchor="ctr"/>
          <a:lstStyle/>
          <a:p>
            <a:pPr marL="0" indent="0">
              <a:buNone/>
            </a:pPr>
            <a:r>
              <a:rPr lang="en-US" sz="900" b="1" kern="0" spc="200">
                <a:solidFill>
                  <a:srgbClr val="94A3B8"/>
                </a:solidFill>
                <a:latin typeface="Calibri" pitchFamily="34" charset="0"/>
                <a:ea typeface="Calibri" pitchFamily="34" charset="-122"/>
                <a:cs typeface="Calibri" pitchFamily="34" charset="-120"/>
              </a:rPr>
              <a:t>RESULT</a:t>
            </a:r>
            <a:endParaRPr lang="en-US" sz="900"/>
          </a:p>
        </p:txBody>
      </p:sp>
      <p:sp>
        <p:nvSpPr>
          <p:cNvPr id="19" name="Text 16"/>
          <p:cNvSpPr/>
          <p:nvPr/>
        </p:nvSpPr>
        <p:spPr>
          <a:xfrm>
            <a:off x="8686800" y="4937760"/>
            <a:ext cx="2743200" cy="274320"/>
          </a:xfrm>
          <a:prstGeom prst="rect">
            <a:avLst/>
          </a:prstGeom>
          <a:noFill/>
          <a:ln/>
        </p:spPr>
        <p:txBody>
          <a:bodyPr wrap="square" lIns="0" tIns="0" rIns="0" bIns="0" rtlCol="0" anchor="ctr"/>
          <a:lstStyle/>
          <a:p>
            <a:pPr marL="0" indent="0">
              <a:buNone/>
            </a:pPr>
            <a:r>
              <a:rPr lang="en-US" sz="1200" b="1">
                <a:solidFill>
                  <a:srgbClr val="0F172A"/>
                </a:solidFill>
                <a:latin typeface="Consolas" pitchFamily="34" charset="0"/>
                <a:ea typeface="Consolas" pitchFamily="34" charset="-122"/>
                <a:cs typeface="Consolas" pitchFamily="34" charset="-120"/>
              </a:rPr>
              <a:t>0 valid password found</a:t>
            </a:r>
            <a:endParaRPr lang="en-US" sz="1200"/>
          </a:p>
        </p:txBody>
      </p:sp>
      <p:sp>
        <p:nvSpPr>
          <p:cNvPr id="20" name="Shape 17"/>
          <p:cNvSpPr/>
          <p:nvPr/>
        </p:nvSpPr>
        <p:spPr>
          <a:xfrm>
            <a:off x="640080" y="5623560"/>
            <a:ext cx="10911535" cy="731520"/>
          </a:xfrm>
          <a:prstGeom prst="rect">
            <a:avLst/>
          </a:prstGeom>
          <a:solidFill>
            <a:srgbClr val="0F1E38"/>
          </a:solidFill>
          <a:ln/>
        </p:spPr>
        <p:txBody>
          <a:bodyPr/>
          <a:lstStyle/>
          <a:p>
            <a:endParaRPr lang="en-US"/>
          </a:p>
        </p:txBody>
      </p:sp>
      <p:pic>
        <p:nvPicPr>
          <p:cNvPr id="21" name="Image 1" descr="preencoded.png"/>
          <p:cNvPicPr>
            <a:picLocks noChangeAspect="1"/>
          </p:cNvPicPr>
          <p:nvPr/>
        </p:nvPicPr>
        <p:blipFill>
          <a:blip r:embed="rId4"/>
          <a:stretch>
            <a:fillRect/>
          </a:stretch>
        </p:blipFill>
        <p:spPr>
          <a:xfrm>
            <a:off x="868680" y="5806440"/>
            <a:ext cx="320040" cy="320040"/>
          </a:xfrm>
          <a:prstGeom prst="rect">
            <a:avLst/>
          </a:prstGeom>
        </p:spPr>
      </p:pic>
      <p:sp>
        <p:nvSpPr>
          <p:cNvPr id="22" name="Text 18"/>
          <p:cNvSpPr/>
          <p:nvPr/>
        </p:nvSpPr>
        <p:spPr>
          <a:xfrm>
            <a:off x="1325880" y="5669280"/>
            <a:ext cx="10180015" cy="640080"/>
          </a:xfrm>
          <a:prstGeom prst="rect">
            <a:avLst/>
          </a:prstGeom>
          <a:noFill/>
          <a:ln/>
        </p:spPr>
        <p:txBody>
          <a:bodyPr wrap="square" lIns="0" tIns="0" rIns="0" bIns="0" rtlCol="0" anchor="ctr"/>
          <a:lstStyle/>
          <a:p>
            <a:pPr marL="0" indent="0">
              <a:buNone/>
            </a:pPr>
            <a:r>
              <a:rPr lang="en-US" sz="1200" i="1">
                <a:solidFill>
                  <a:srgbClr val="FFFFFF"/>
                </a:solidFill>
                <a:latin typeface="Calibri" pitchFamily="34" charset="0"/>
                <a:ea typeface="Calibri" pitchFamily="34" charset="-122"/>
                <a:cs typeface="Calibri" pitchFamily="34" charset="-120"/>
              </a:rPr>
              <a:t>Every attempt produced a Security 4625 event on the target AND a Sysmon Event 3 for the network connection — the kind of overlapping evidence an analyst relies on.</a:t>
            </a:r>
            <a:endParaRPr lang="en-US" sz="1200"/>
          </a:p>
        </p:txBody>
      </p:sp>
      <p:sp>
        <p:nvSpPr>
          <p:cNvPr id="23" name="Text 19"/>
          <p:cNvSpPr/>
          <p:nvPr/>
        </p:nvSpPr>
        <p:spPr>
          <a:xfrm>
            <a:off x="365760" y="6537960"/>
            <a:ext cx="4572000" cy="228600"/>
          </a:xfrm>
          <a:prstGeom prst="rect">
            <a:avLst/>
          </a:prstGeom>
          <a:noFill/>
          <a:ln/>
        </p:spPr>
        <p:txBody>
          <a:bodyPr wrap="square" lIns="0" tIns="0" rIns="0" bIns="0" rtlCol="0" anchor="ctr"/>
          <a:lstStyle/>
          <a:p>
            <a:pPr marL="0" indent="0" algn="l">
              <a:buNone/>
            </a:pPr>
            <a:r>
              <a:rPr lang="en-US" sz="900">
                <a:solidFill>
                  <a:srgbClr val="94A3B8"/>
                </a:solidFill>
                <a:latin typeface="Calibri" pitchFamily="34" charset="0"/>
                <a:ea typeface="Calibri" pitchFamily="34" charset="-122"/>
                <a:cs typeface="Calibri" pitchFamily="34" charset="-120"/>
              </a:rPr>
              <a:t>Incident Handling Lab  |  Elastic SIEM</a:t>
            </a:r>
            <a:endParaRPr lang="en-US" sz="900"/>
          </a:p>
        </p:txBody>
      </p:sp>
      <p:sp>
        <p:nvSpPr>
          <p:cNvPr id="24" name="Text 20"/>
          <p:cNvSpPr/>
          <p:nvPr/>
        </p:nvSpPr>
        <p:spPr>
          <a:xfrm>
            <a:off x="11094415" y="6537960"/>
            <a:ext cx="914400" cy="228600"/>
          </a:xfrm>
          <a:prstGeom prst="rect">
            <a:avLst/>
          </a:prstGeom>
          <a:noFill/>
          <a:ln/>
        </p:spPr>
        <p:txBody>
          <a:bodyPr wrap="square" lIns="0" tIns="0" rIns="0" bIns="0" rtlCol="0" anchor="ctr"/>
          <a:lstStyle/>
          <a:p>
            <a:pPr marL="0" indent="0" algn="r">
              <a:buNone/>
            </a:pPr>
            <a:r>
              <a:rPr lang="en-US" sz="900">
                <a:solidFill>
                  <a:srgbClr val="94A3B8"/>
                </a:solidFill>
                <a:latin typeface="Calibri" pitchFamily="34" charset="0"/>
                <a:ea typeface="Calibri" pitchFamily="34" charset="-122"/>
                <a:cs typeface="Calibri" pitchFamily="34" charset="-120"/>
              </a:rPr>
              <a:t>16 / 29</a:t>
            </a:r>
            <a:endParaRPr lang="en-US" sz="9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65760" y="457200"/>
            <a:ext cx="109728" cy="731520"/>
          </a:xfrm>
          <a:prstGeom prst="rect">
            <a:avLst/>
          </a:prstGeom>
          <a:solidFill>
            <a:srgbClr val="00D9FF"/>
          </a:solidFill>
          <a:ln/>
        </p:spPr>
        <p:txBody>
          <a:bodyPr/>
          <a:lstStyle/>
          <a:p>
            <a:endParaRPr lang="en-US"/>
          </a:p>
        </p:txBody>
      </p:sp>
      <p:sp>
        <p:nvSpPr>
          <p:cNvPr id="3" name="Text 1"/>
          <p:cNvSpPr/>
          <p:nvPr/>
        </p:nvSpPr>
        <p:spPr>
          <a:xfrm>
            <a:off x="640080" y="411480"/>
            <a:ext cx="10515600" cy="502920"/>
          </a:xfrm>
          <a:prstGeom prst="rect">
            <a:avLst/>
          </a:prstGeom>
          <a:noFill/>
          <a:ln/>
        </p:spPr>
        <p:txBody>
          <a:bodyPr wrap="square" lIns="0" tIns="0" rIns="0" bIns="0" rtlCol="0" anchor="t"/>
          <a:lstStyle/>
          <a:p>
            <a:pPr marL="0" indent="0">
              <a:buNone/>
            </a:pPr>
            <a:r>
              <a:rPr lang="en-US" sz="2800" b="1">
                <a:solidFill>
                  <a:srgbClr val="0F172A"/>
                </a:solidFill>
                <a:latin typeface="Calibri" pitchFamily="34" charset="0"/>
                <a:ea typeface="Calibri" pitchFamily="34" charset="-122"/>
                <a:cs typeface="Calibri" pitchFamily="34" charset="-120"/>
              </a:rPr>
              <a:t>Task 2 — Evidence in Windows Event Viewer</a:t>
            </a:r>
            <a:endParaRPr lang="en-US" sz="2800"/>
          </a:p>
        </p:txBody>
      </p:sp>
      <p:sp>
        <p:nvSpPr>
          <p:cNvPr id="4" name="Text 2"/>
          <p:cNvSpPr/>
          <p:nvPr/>
        </p:nvSpPr>
        <p:spPr>
          <a:xfrm>
            <a:off x="640080" y="868680"/>
            <a:ext cx="10515600" cy="320040"/>
          </a:xfrm>
          <a:prstGeom prst="rect">
            <a:avLst/>
          </a:prstGeom>
          <a:noFill/>
          <a:ln/>
        </p:spPr>
        <p:txBody>
          <a:bodyPr wrap="square" lIns="0" tIns="0" rIns="0" bIns="0" rtlCol="0" anchor="t"/>
          <a:lstStyle/>
          <a:p>
            <a:pPr marL="0" indent="0">
              <a:buNone/>
            </a:pPr>
            <a:r>
              <a:rPr lang="en-US" sz="1300" i="1">
                <a:solidFill>
                  <a:srgbClr val="475569"/>
                </a:solidFill>
                <a:latin typeface="Calibri" pitchFamily="34" charset="0"/>
                <a:ea typeface="Calibri" pitchFamily="34" charset="-122"/>
                <a:cs typeface="Calibri" pitchFamily="34" charset="-120"/>
              </a:rPr>
              <a:t>Sysmon Operational channel capturing every connection</a:t>
            </a:r>
            <a:endParaRPr lang="en-US" sz="1300"/>
          </a:p>
        </p:txBody>
      </p:sp>
      <p:pic>
        <p:nvPicPr>
          <p:cNvPr id="5" name="Image 0" descr="/home/claude/report/screenshots/fig_windows_event_viewer.png"/>
          <p:cNvPicPr>
            <a:picLocks noChangeAspect="1"/>
          </p:cNvPicPr>
          <p:nvPr/>
        </p:nvPicPr>
        <p:blipFill>
          <a:blip r:embed="rId3"/>
          <a:srcRect/>
          <a:stretch/>
        </p:blipFill>
        <p:spPr>
          <a:xfrm>
            <a:off x="640080" y="1371600"/>
            <a:ext cx="8229600" cy="4846320"/>
          </a:xfrm>
          <a:prstGeom prst="rect">
            <a:avLst/>
          </a:prstGeom>
        </p:spPr>
      </p:pic>
      <p:sp>
        <p:nvSpPr>
          <p:cNvPr id="6" name="Shape 3"/>
          <p:cNvSpPr/>
          <p:nvPr/>
        </p:nvSpPr>
        <p:spPr>
          <a:xfrm>
            <a:off x="9144000" y="1371600"/>
            <a:ext cx="2377440" cy="822960"/>
          </a:xfrm>
          <a:prstGeom prst="rect">
            <a:avLst/>
          </a:prstGeom>
          <a:solidFill>
            <a:srgbClr val="FFFFFF"/>
          </a:solidFill>
          <a:ln w="12700">
            <a:solidFill>
              <a:srgbClr val="E2E8F0"/>
            </a:solidFill>
            <a:prstDash val="solid"/>
          </a:ln>
        </p:spPr>
        <p:txBody>
          <a:bodyPr/>
          <a:lstStyle/>
          <a:p>
            <a:endParaRPr lang="en-US"/>
          </a:p>
        </p:txBody>
      </p:sp>
      <p:sp>
        <p:nvSpPr>
          <p:cNvPr id="7" name="Shape 4"/>
          <p:cNvSpPr/>
          <p:nvPr/>
        </p:nvSpPr>
        <p:spPr>
          <a:xfrm>
            <a:off x="9144000" y="1371600"/>
            <a:ext cx="73152" cy="822960"/>
          </a:xfrm>
          <a:prstGeom prst="rect">
            <a:avLst/>
          </a:prstGeom>
          <a:solidFill>
            <a:srgbClr val="00D9FF"/>
          </a:solidFill>
          <a:ln/>
        </p:spPr>
        <p:txBody>
          <a:bodyPr/>
          <a:lstStyle/>
          <a:p>
            <a:endParaRPr lang="en-US"/>
          </a:p>
        </p:txBody>
      </p:sp>
      <p:pic>
        <p:nvPicPr>
          <p:cNvPr id="8" name="Image 1" descr="preencoded.png"/>
          <p:cNvPicPr>
            <a:picLocks noChangeAspect="1"/>
          </p:cNvPicPr>
          <p:nvPr/>
        </p:nvPicPr>
        <p:blipFill>
          <a:blip r:embed="rId4"/>
          <a:stretch>
            <a:fillRect/>
          </a:stretch>
        </p:blipFill>
        <p:spPr>
          <a:xfrm>
            <a:off x="9326880" y="1627632"/>
            <a:ext cx="320040" cy="320040"/>
          </a:xfrm>
          <a:prstGeom prst="rect">
            <a:avLst/>
          </a:prstGeom>
        </p:spPr>
      </p:pic>
      <p:sp>
        <p:nvSpPr>
          <p:cNvPr id="9" name="Text 5"/>
          <p:cNvSpPr/>
          <p:nvPr/>
        </p:nvSpPr>
        <p:spPr>
          <a:xfrm>
            <a:off x="9738360" y="1481328"/>
            <a:ext cx="1737360" cy="274320"/>
          </a:xfrm>
          <a:prstGeom prst="rect">
            <a:avLst/>
          </a:prstGeom>
          <a:noFill/>
          <a:ln/>
        </p:spPr>
        <p:txBody>
          <a:bodyPr wrap="square" lIns="0" tIns="0" rIns="0" bIns="0" rtlCol="0" anchor="ctr"/>
          <a:lstStyle/>
          <a:p>
            <a:pPr marL="0" indent="0">
              <a:buNone/>
            </a:pPr>
            <a:r>
              <a:rPr lang="en-US" sz="1000" b="1" kern="0" spc="200">
                <a:solidFill>
                  <a:srgbClr val="475569"/>
                </a:solidFill>
                <a:latin typeface="Calibri" pitchFamily="34" charset="0"/>
                <a:ea typeface="Calibri" pitchFamily="34" charset="-122"/>
                <a:cs typeface="Calibri" pitchFamily="34" charset="-120"/>
              </a:rPr>
              <a:t>Source</a:t>
            </a:r>
            <a:endParaRPr lang="en-US" sz="1000"/>
          </a:p>
        </p:txBody>
      </p:sp>
      <p:sp>
        <p:nvSpPr>
          <p:cNvPr id="10" name="Text 6"/>
          <p:cNvSpPr/>
          <p:nvPr/>
        </p:nvSpPr>
        <p:spPr>
          <a:xfrm>
            <a:off x="9738360" y="1737360"/>
            <a:ext cx="1737360" cy="411480"/>
          </a:xfrm>
          <a:prstGeom prst="rect">
            <a:avLst/>
          </a:prstGeom>
          <a:noFill/>
          <a:ln/>
        </p:spPr>
        <p:txBody>
          <a:bodyPr wrap="square" lIns="0" tIns="0" rIns="0" bIns="0" rtlCol="0" anchor="t"/>
          <a:lstStyle/>
          <a:p>
            <a:pPr marL="0" indent="0">
              <a:buNone/>
            </a:pPr>
            <a:r>
              <a:rPr lang="en-US" sz="1050">
                <a:solidFill>
                  <a:srgbClr val="0F172A"/>
                </a:solidFill>
                <a:latin typeface="Calibri" pitchFamily="34" charset="0"/>
                <a:ea typeface="Calibri" pitchFamily="34" charset="-122"/>
                <a:cs typeface="Calibri" pitchFamily="34" charset="-120"/>
              </a:rPr>
              <a:t>Sysmon (SwiftOnSecurity config)</a:t>
            </a:r>
            <a:endParaRPr lang="en-US" sz="1050"/>
          </a:p>
        </p:txBody>
      </p:sp>
      <p:sp>
        <p:nvSpPr>
          <p:cNvPr id="11" name="Shape 7"/>
          <p:cNvSpPr/>
          <p:nvPr/>
        </p:nvSpPr>
        <p:spPr>
          <a:xfrm>
            <a:off x="9144000" y="2331720"/>
            <a:ext cx="2377440" cy="822960"/>
          </a:xfrm>
          <a:prstGeom prst="rect">
            <a:avLst/>
          </a:prstGeom>
          <a:solidFill>
            <a:srgbClr val="FFFFFF"/>
          </a:solidFill>
          <a:ln w="12700">
            <a:solidFill>
              <a:srgbClr val="E2E8F0"/>
            </a:solidFill>
            <a:prstDash val="solid"/>
          </a:ln>
        </p:spPr>
        <p:txBody>
          <a:bodyPr/>
          <a:lstStyle/>
          <a:p>
            <a:endParaRPr lang="en-US"/>
          </a:p>
        </p:txBody>
      </p:sp>
      <p:sp>
        <p:nvSpPr>
          <p:cNvPr id="12" name="Shape 8"/>
          <p:cNvSpPr/>
          <p:nvPr/>
        </p:nvSpPr>
        <p:spPr>
          <a:xfrm>
            <a:off x="9144000" y="2331720"/>
            <a:ext cx="73152" cy="822960"/>
          </a:xfrm>
          <a:prstGeom prst="rect">
            <a:avLst/>
          </a:prstGeom>
          <a:solidFill>
            <a:srgbClr val="F59E0B"/>
          </a:solidFill>
          <a:ln/>
        </p:spPr>
        <p:txBody>
          <a:bodyPr/>
          <a:lstStyle/>
          <a:p>
            <a:endParaRPr lang="en-US"/>
          </a:p>
        </p:txBody>
      </p:sp>
      <p:pic>
        <p:nvPicPr>
          <p:cNvPr id="13" name="Image 2" descr="preencoded.png"/>
          <p:cNvPicPr>
            <a:picLocks noChangeAspect="1"/>
          </p:cNvPicPr>
          <p:nvPr/>
        </p:nvPicPr>
        <p:blipFill>
          <a:blip r:embed="rId5"/>
          <a:stretch>
            <a:fillRect/>
          </a:stretch>
        </p:blipFill>
        <p:spPr>
          <a:xfrm>
            <a:off x="9326880" y="2587752"/>
            <a:ext cx="320040" cy="320040"/>
          </a:xfrm>
          <a:prstGeom prst="rect">
            <a:avLst/>
          </a:prstGeom>
        </p:spPr>
      </p:pic>
      <p:sp>
        <p:nvSpPr>
          <p:cNvPr id="14" name="Text 9"/>
          <p:cNvSpPr/>
          <p:nvPr/>
        </p:nvSpPr>
        <p:spPr>
          <a:xfrm>
            <a:off x="9738360" y="2441448"/>
            <a:ext cx="1737360" cy="274320"/>
          </a:xfrm>
          <a:prstGeom prst="rect">
            <a:avLst/>
          </a:prstGeom>
          <a:noFill/>
          <a:ln/>
        </p:spPr>
        <p:txBody>
          <a:bodyPr wrap="square" lIns="0" tIns="0" rIns="0" bIns="0" rtlCol="0" anchor="ctr"/>
          <a:lstStyle/>
          <a:p>
            <a:pPr marL="0" indent="0">
              <a:buNone/>
            </a:pPr>
            <a:r>
              <a:rPr lang="en-US" sz="1000" b="1" kern="0" spc="200">
                <a:solidFill>
                  <a:srgbClr val="475569"/>
                </a:solidFill>
                <a:latin typeface="Calibri" pitchFamily="34" charset="0"/>
                <a:ea typeface="Calibri" pitchFamily="34" charset="-122"/>
                <a:cs typeface="Calibri" pitchFamily="34" charset="-120"/>
              </a:rPr>
              <a:t>Event ID</a:t>
            </a:r>
            <a:endParaRPr lang="en-US" sz="1000"/>
          </a:p>
        </p:txBody>
      </p:sp>
      <p:sp>
        <p:nvSpPr>
          <p:cNvPr id="15" name="Text 10"/>
          <p:cNvSpPr/>
          <p:nvPr/>
        </p:nvSpPr>
        <p:spPr>
          <a:xfrm>
            <a:off x="9738360" y="2697480"/>
            <a:ext cx="1737360" cy="411480"/>
          </a:xfrm>
          <a:prstGeom prst="rect">
            <a:avLst/>
          </a:prstGeom>
          <a:noFill/>
          <a:ln/>
        </p:spPr>
        <p:txBody>
          <a:bodyPr wrap="square" lIns="0" tIns="0" rIns="0" bIns="0" rtlCol="0" anchor="t"/>
          <a:lstStyle/>
          <a:p>
            <a:pPr marL="0" indent="0">
              <a:buNone/>
            </a:pPr>
            <a:r>
              <a:rPr lang="en-US" sz="1050">
                <a:solidFill>
                  <a:srgbClr val="0F172A"/>
                </a:solidFill>
                <a:latin typeface="Calibri" pitchFamily="34" charset="0"/>
                <a:ea typeface="Calibri" pitchFamily="34" charset="-122"/>
                <a:cs typeface="Calibri" pitchFamily="34" charset="-120"/>
              </a:rPr>
              <a:t>3 — Network connection detected</a:t>
            </a:r>
            <a:endParaRPr lang="en-US" sz="1050"/>
          </a:p>
        </p:txBody>
      </p:sp>
      <p:sp>
        <p:nvSpPr>
          <p:cNvPr id="16" name="Shape 11"/>
          <p:cNvSpPr/>
          <p:nvPr/>
        </p:nvSpPr>
        <p:spPr>
          <a:xfrm>
            <a:off x="9144000" y="3291840"/>
            <a:ext cx="2377440" cy="822960"/>
          </a:xfrm>
          <a:prstGeom prst="rect">
            <a:avLst/>
          </a:prstGeom>
          <a:solidFill>
            <a:srgbClr val="FFFFFF"/>
          </a:solidFill>
          <a:ln w="12700">
            <a:solidFill>
              <a:srgbClr val="E2E8F0"/>
            </a:solidFill>
            <a:prstDash val="solid"/>
          </a:ln>
        </p:spPr>
        <p:txBody>
          <a:bodyPr/>
          <a:lstStyle/>
          <a:p>
            <a:endParaRPr lang="en-US"/>
          </a:p>
        </p:txBody>
      </p:sp>
      <p:sp>
        <p:nvSpPr>
          <p:cNvPr id="17" name="Shape 12"/>
          <p:cNvSpPr/>
          <p:nvPr/>
        </p:nvSpPr>
        <p:spPr>
          <a:xfrm>
            <a:off x="9144000" y="3291840"/>
            <a:ext cx="73152" cy="822960"/>
          </a:xfrm>
          <a:prstGeom prst="rect">
            <a:avLst/>
          </a:prstGeom>
          <a:solidFill>
            <a:srgbClr val="A78BFA"/>
          </a:solidFill>
          <a:ln/>
        </p:spPr>
        <p:txBody>
          <a:bodyPr/>
          <a:lstStyle/>
          <a:p>
            <a:endParaRPr lang="en-US"/>
          </a:p>
        </p:txBody>
      </p:sp>
      <p:pic>
        <p:nvPicPr>
          <p:cNvPr id="18" name="Image 3" descr="preencoded.png"/>
          <p:cNvPicPr>
            <a:picLocks noChangeAspect="1"/>
          </p:cNvPicPr>
          <p:nvPr/>
        </p:nvPicPr>
        <p:blipFill>
          <a:blip r:embed="rId6"/>
          <a:stretch>
            <a:fillRect/>
          </a:stretch>
        </p:blipFill>
        <p:spPr>
          <a:xfrm>
            <a:off x="9326880" y="3547872"/>
            <a:ext cx="320040" cy="320040"/>
          </a:xfrm>
          <a:prstGeom prst="rect">
            <a:avLst/>
          </a:prstGeom>
        </p:spPr>
      </p:pic>
      <p:sp>
        <p:nvSpPr>
          <p:cNvPr id="19" name="Text 13"/>
          <p:cNvSpPr/>
          <p:nvPr/>
        </p:nvSpPr>
        <p:spPr>
          <a:xfrm>
            <a:off x="9738360" y="3401568"/>
            <a:ext cx="1737360" cy="274320"/>
          </a:xfrm>
          <a:prstGeom prst="rect">
            <a:avLst/>
          </a:prstGeom>
          <a:noFill/>
          <a:ln/>
        </p:spPr>
        <p:txBody>
          <a:bodyPr wrap="square" lIns="0" tIns="0" rIns="0" bIns="0" rtlCol="0" anchor="ctr"/>
          <a:lstStyle/>
          <a:p>
            <a:pPr marL="0" indent="0">
              <a:buNone/>
            </a:pPr>
            <a:r>
              <a:rPr lang="en-US" sz="1000" b="1" kern="0" spc="200">
                <a:solidFill>
                  <a:srgbClr val="475569"/>
                </a:solidFill>
                <a:latin typeface="Calibri" pitchFamily="34" charset="0"/>
                <a:ea typeface="Calibri" pitchFamily="34" charset="-122"/>
                <a:cs typeface="Calibri" pitchFamily="34" charset="-120"/>
              </a:rPr>
              <a:t>Image</a:t>
            </a:r>
            <a:endParaRPr lang="en-US" sz="1000"/>
          </a:p>
        </p:txBody>
      </p:sp>
      <p:sp>
        <p:nvSpPr>
          <p:cNvPr id="20" name="Text 14"/>
          <p:cNvSpPr/>
          <p:nvPr/>
        </p:nvSpPr>
        <p:spPr>
          <a:xfrm>
            <a:off x="9738360" y="3657600"/>
            <a:ext cx="1737360" cy="411480"/>
          </a:xfrm>
          <a:prstGeom prst="rect">
            <a:avLst/>
          </a:prstGeom>
          <a:noFill/>
          <a:ln/>
        </p:spPr>
        <p:txBody>
          <a:bodyPr wrap="square" lIns="0" tIns="0" rIns="0" bIns="0" rtlCol="0" anchor="t"/>
          <a:lstStyle/>
          <a:p>
            <a:pPr marL="0" indent="0">
              <a:buNone/>
            </a:pPr>
            <a:r>
              <a:rPr lang="en-US" sz="1050">
                <a:solidFill>
                  <a:srgbClr val="0F172A"/>
                </a:solidFill>
                <a:latin typeface="Calibri" pitchFamily="34" charset="0"/>
                <a:ea typeface="Calibri" pitchFamily="34" charset="-122"/>
                <a:cs typeface="Calibri" pitchFamily="34" charset="-120"/>
              </a:rPr>
              <a:t>svchost.exe — RDP listener</a:t>
            </a:r>
            <a:endParaRPr lang="en-US" sz="1050"/>
          </a:p>
        </p:txBody>
      </p:sp>
      <p:sp>
        <p:nvSpPr>
          <p:cNvPr id="21" name="Shape 15"/>
          <p:cNvSpPr/>
          <p:nvPr/>
        </p:nvSpPr>
        <p:spPr>
          <a:xfrm>
            <a:off x="9144000" y="4251960"/>
            <a:ext cx="2377440" cy="822960"/>
          </a:xfrm>
          <a:prstGeom prst="rect">
            <a:avLst/>
          </a:prstGeom>
          <a:solidFill>
            <a:srgbClr val="FFFFFF"/>
          </a:solidFill>
          <a:ln w="12700">
            <a:solidFill>
              <a:srgbClr val="E2E8F0"/>
            </a:solidFill>
            <a:prstDash val="solid"/>
          </a:ln>
        </p:spPr>
        <p:txBody>
          <a:bodyPr/>
          <a:lstStyle/>
          <a:p>
            <a:endParaRPr lang="en-US"/>
          </a:p>
        </p:txBody>
      </p:sp>
      <p:sp>
        <p:nvSpPr>
          <p:cNvPr id="22" name="Shape 16"/>
          <p:cNvSpPr/>
          <p:nvPr/>
        </p:nvSpPr>
        <p:spPr>
          <a:xfrm>
            <a:off x="9144000" y="4251960"/>
            <a:ext cx="73152" cy="822960"/>
          </a:xfrm>
          <a:prstGeom prst="rect">
            <a:avLst/>
          </a:prstGeom>
          <a:solidFill>
            <a:srgbClr val="EF4444"/>
          </a:solidFill>
          <a:ln/>
        </p:spPr>
        <p:txBody>
          <a:bodyPr/>
          <a:lstStyle/>
          <a:p>
            <a:endParaRPr lang="en-US"/>
          </a:p>
        </p:txBody>
      </p:sp>
      <p:pic>
        <p:nvPicPr>
          <p:cNvPr id="23" name="Image 4" descr="preencoded.png"/>
          <p:cNvPicPr>
            <a:picLocks noChangeAspect="1"/>
          </p:cNvPicPr>
          <p:nvPr/>
        </p:nvPicPr>
        <p:blipFill>
          <a:blip r:embed="rId7"/>
          <a:stretch>
            <a:fillRect/>
          </a:stretch>
        </p:blipFill>
        <p:spPr>
          <a:xfrm>
            <a:off x="9326880" y="4507992"/>
            <a:ext cx="320040" cy="320040"/>
          </a:xfrm>
          <a:prstGeom prst="rect">
            <a:avLst/>
          </a:prstGeom>
        </p:spPr>
      </p:pic>
      <p:sp>
        <p:nvSpPr>
          <p:cNvPr id="24" name="Text 17"/>
          <p:cNvSpPr/>
          <p:nvPr/>
        </p:nvSpPr>
        <p:spPr>
          <a:xfrm>
            <a:off x="9738360" y="4361688"/>
            <a:ext cx="1737360" cy="274320"/>
          </a:xfrm>
          <a:prstGeom prst="rect">
            <a:avLst/>
          </a:prstGeom>
          <a:noFill/>
          <a:ln/>
        </p:spPr>
        <p:txBody>
          <a:bodyPr wrap="square" lIns="0" tIns="0" rIns="0" bIns="0" rtlCol="0" anchor="ctr"/>
          <a:lstStyle/>
          <a:p>
            <a:pPr marL="0" indent="0">
              <a:buNone/>
            </a:pPr>
            <a:r>
              <a:rPr lang="en-US" sz="1000" b="1" kern="0" spc="200">
                <a:solidFill>
                  <a:srgbClr val="475569"/>
                </a:solidFill>
                <a:latin typeface="Calibri" pitchFamily="34" charset="0"/>
                <a:ea typeface="Calibri" pitchFamily="34" charset="-122"/>
                <a:cs typeface="Calibri" pitchFamily="34" charset="-120"/>
              </a:rPr>
              <a:t>Source IP</a:t>
            </a:r>
            <a:endParaRPr lang="en-US" sz="1000"/>
          </a:p>
        </p:txBody>
      </p:sp>
      <p:sp>
        <p:nvSpPr>
          <p:cNvPr id="25" name="Text 18"/>
          <p:cNvSpPr/>
          <p:nvPr/>
        </p:nvSpPr>
        <p:spPr>
          <a:xfrm>
            <a:off x="9738360" y="4617720"/>
            <a:ext cx="1737360" cy="411480"/>
          </a:xfrm>
          <a:prstGeom prst="rect">
            <a:avLst/>
          </a:prstGeom>
          <a:noFill/>
          <a:ln/>
        </p:spPr>
        <p:txBody>
          <a:bodyPr wrap="square" lIns="0" tIns="0" rIns="0" bIns="0" rtlCol="0" anchor="t"/>
          <a:lstStyle/>
          <a:p>
            <a:pPr marL="0" indent="0">
              <a:buNone/>
            </a:pPr>
            <a:r>
              <a:rPr lang="en-US" sz="1050">
                <a:solidFill>
                  <a:srgbClr val="0F172A"/>
                </a:solidFill>
                <a:latin typeface="Calibri" pitchFamily="34" charset="0"/>
                <a:ea typeface="Calibri" pitchFamily="34" charset="-122"/>
                <a:cs typeface="Calibri" pitchFamily="34" charset="-120"/>
              </a:rPr>
              <a:t>192.168.56.105 (Kali)</a:t>
            </a:r>
            <a:endParaRPr lang="en-US" sz="1050"/>
          </a:p>
        </p:txBody>
      </p:sp>
      <p:sp>
        <p:nvSpPr>
          <p:cNvPr id="26" name="Shape 19"/>
          <p:cNvSpPr/>
          <p:nvPr/>
        </p:nvSpPr>
        <p:spPr>
          <a:xfrm>
            <a:off x="9144000" y="5212080"/>
            <a:ext cx="2377440" cy="822960"/>
          </a:xfrm>
          <a:prstGeom prst="rect">
            <a:avLst/>
          </a:prstGeom>
          <a:solidFill>
            <a:srgbClr val="FFFFFF"/>
          </a:solidFill>
          <a:ln w="12700">
            <a:solidFill>
              <a:srgbClr val="E2E8F0"/>
            </a:solidFill>
            <a:prstDash val="solid"/>
          </a:ln>
        </p:spPr>
        <p:txBody>
          <a:bodyPr/>
          <a:lstStyle/>
          <a:p>
            <a:endParaRPr lang="en-US"/>
          </a:p>
        </p:txBody>
      </p:sp>
      <p:sp>
        <p:nvSpPr>
          <p:cNvPr id="27" name="Shape 20"/>
          <p:cNvSpPr/>
          <p:nvPr/>
        </p:nvSpPr>
        <p:spPr>
          <a:xfrm>
            <a:off x="9144000" y="5212080"/>
            <a:ext cx="73152" cy="822960"/>
          </a:xfrm>
          <a:prstGeom prst="rect">
            <a:avLst/>
          </a:prstGeom>
          <a:solidFill>
            <a:srgbClr val="10B981"/>
          </a:solidFill>
          <a:ln/>
        </p:spPr>
        <p:txBody>
          <a:bodyPr/>
          <a:lstStyle/>
          <a:p>
            <a:endParaRPr lang="en-US"/>
          </a:p>
        </p:txBody>
      </p:sp>
      <p:pic>
        <p:nvPicPr>
          <p:cNvPr id="28" name="Image 5" descr="preencoded.png"/>
          <p:cNvPicPr>
            <a:picLocks noChangeAspect="1"/>
          </p:cNvPicPr>
          <p:nvPr/>
        </p:nvPicPr>
        <p:blipFill>
          <a:blip r:embed="rId8"/>
          <a:stretch>
            <a:fillRect/>
          </a:stretch>
        </p:blipFill>
        <p:spPr>
          <a:xfrm>
            <a:off x="9326880" y="5468112"/>
            <a:ext cx="320040" cy="320040"/>
          </a:xfrm>
          <a:prstGeom prst="rect">
            <a:avLst/>
          </a:prstGeom>
        </p:spPr>
      </p:pic>
      <p:sp>
        <p:nvSpPr>
          <p:cNvPr id="29" name="Text 21"/>
          <p:cNvSpPr/>
          <p:nvPr/>
        </p:nvSpPr>
        <p:spPr>
          <a:xfrm>
            <a:off x="9738360" y="5321808"/>
            <a:ext cx="1737360" cy="274320"/>
          </a:xfrm>
          <a:prstGeom prst="rect">
            <a:avLst/>
          </a:prstGeom>
          <a:noFill/>
          <a:ln/>
        </p:spPr>
        <p:txBody>
          <a:bodyPr wrap="square" lIns="0" tIns="0" rIns="0" bIns="0" rtlCol="0" anchor="ctr"/>
          <a:lstStyle/>
          <a:p>
            <a:pPr marL="0" indent="0">
              <a:buNone/>
            </a:pPr>
            <a:r>
              <a:rPr lang="en-US" sz="1000" b="1" kern="0" spc="200">
                <a:solidFill>
                  <a:srgbClr val="475569"/>
                </a:solidFill>
                <a:latin typeface="Calibri" pitchFamily="34" charset="0"/>
                <a:ea typeface="Calibri" pitchFamily="34" charset="-122"/>
                <a:cs typeface="Calibri" pitchFamily="34" charset="-120"/>
              </a:rPr>
              <a:t>Rule</a:t>
            </a:r>
            <a:endParaRPr lang="en-US" sz="1000"/>
          </a:p>
        </p:txBody>
      </p:sp>
      <p:sp>
        <p:nvSpPr>
          <p:cNvPr id="30" name="Text 22"/>
          <p:cNvSpPr/>
          <p:nvPr/>
        </p:nvSpPr>
        <p:spPr>
          <a:xfrm>
            <a:off x="9738360" y="5577840"/>
            <a:ext cx="1737360" cy="411480"/>
          </a:xfrm>
          <a:prstGeom prst="rect">
            <a:avLst/>
          </a:prstGeom>
          <a:noFill/>
          <a:ln/>
        </p:spPr>
        <p:txBody>
          <a:bodyPr wrap="square" lIns="0" tIns="0" rIns="0" bIns="0" rtlCol="0" anchor="t"/>
          <a:lstStyle/>
          <a:p>
            <a:pPr marL="0" indent="0">
              <a:buNone/>
            </a:pPr>
            <a:r>
              <a:rPr lang="en-US" sz="1050">
                <a:solidFill>
                  <a:srgbClr val="0F172A"/>
                </a:solidFill>
                <a:latin typeface="Calibri" pitchFamily="34" charset="0"/>
                <a:ea typeface="Calibri" pitchFamily="34" charset="-122"/>
                <a:cs typeface="Calibri" pitchFamily="34" charset="-120"/>
              </a:rPr>
              <a:t>RDP (matched SysmonConfig rule)</a:t>
            </a:r>
            <a:endParaRPr lang="en-US" sz="1050"/>
          </a:p>
        </p:txBody>
      </p:sp>
      <p:sp>
        <p:nvSpPr>
          <p:cNvPr id="31" name="Text 23"/>
          <p:cNvSpPr/>
          <p:nvPr/>
        </p:nvSpPr>
        <p:spPr>
          <a:xfrm>
            <a:off x="365760" y="6537960"/>
            <a:ext cx="4572000" cy="228600"/>
          </a:xfrm>
          <a:prstGeom prst="rect">
            <a:avLst/>
          </a:prstGeom>
          <a:noFill/>
          <a:ln/>
        </p:spPr>
        <p:txBody>
          <a:bodyPr wrap="square" lIns="0" tIns="0" rIns="0" bIns="0" rtlCol="0" anchor="ctr"/>
          <a:lstStyle/>
          <a:p>
            <a:pPr marL="0" indent="0" algn="l">
              <a:buNone/>
            </a:pPr>
            <a:r>
              <a:rPr lang="en-US" sz="900">
                <a:solidFill>
                  <a:srgbClr val="94A3B8"/>
                </a:solidFill>
                <a:latin typeface="Calibri" pitchFamily="34" charset="0"/>
                <a:ea typeface="Calibri" pitchFamily="34" charset="-122"/>
                <a:cs typeface="Calibri" pitchFamily="34" charset="-120"/>
              </a:rPr>
              <a:t>Incident Handling Lab  |  Elastic SIEM</a:t>
            </a:r>
            <a:endParaRPr lang="en-US" sz="900"/>
          </a:p>
        </p:txBody>
      </p:sp>
      <p:sp>
        <p:nvSpPr>
          <p:cNvPr id="32" name="Text 24"/>
          <p:cNvSpPr/>
          <p:nvPr/>
        </p:nvSpPr>
        <p:spPr>
          <a:xfrm>
            <a:off x="11094415" y="6537960"/>
            <a:ext cx="914400" cy="228600"/>
          </a:xfrm>
          <a:prstGeom prst="rect">
            <a:avLst/>
          </a:prstGeom>
          <a:noFill/>
          <a:ln/>
        </p:spPr>
        <p:txBody>
          <a:bodyPr wrap="square" lIns="0" tIns="0" rIns="0" bIns="0" rtlCol="0" anchor="ctr"/>
          <a:lstStyle/>
          <a:p>
            <a:pPr marL="0" indent="0" algn="r">
              <a:buNone/>
            </a:pPr>
            <a:r>
              <a:rPr lang="en-US" sz="900">
                <a:solidFill>
                  <a:srgbClr val="94A3B8"/>
                </a:solidFill>
                <a:latin typeface="Calibri" pitchFamily="34" charset="0"/>
                <a:ea typeface="Calibri" pitchFamily="34" charset="-122"/>
                <a:cs typeface="Calibri" pitchFamily="34" charset="-120"/>
              </a:rPr>
              <a:t>17 / 29</a:t>
            </a:r>
            <a:endParaRPr lang="en-US" sz="9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65760" y="457200"/>
            <a:ext cx="109728" cy="731520"/>
          </a:xfrm>
          <a:prstGeom prst="rect">
            <a:avLst/>
          </a:prstGeom>
          <a:solidFill>
            <a:srgbClr val="00D9FF"/>
          </a:solidFill>
          <a:ln/>
        </p:spPr>
        <p:txBody>
          <a:bodyPr/>
          <a:lstStyle/>
          <a:p>
            <a:endParaRPr lang="en-US"/>
          </a:p>
        </p:txBody>
      </p:sp>
      <p:sp>
        <p:nvSpPr>
          <p:cNvPr id="3" name="Text 1"/>
          <p:cNvSpPr/>
          <p:nvPr/>
        </p:nvSpPr>
        <p:spPr>
          <a:xfrm>
            <a:off x="640080" y="411480"/>
            <a:ext cx="10515600" cy="502920"/>
          </a:xfrm>
          <a:prstGeom prst="rect">
            <a:avLst/>
          </a:prstGeom>
          <a:noFill/>
          <a:ln/>
        </p:spPr>
        <p:txBody>
          <a:bodyPr wrap="square" lIns="0" tIns="0" rIns="0" bIns="0" rtlCol="0" anchor="t"/>
          <a:lstStyle/>
          <a:p>
            <a:pPr marL="0" indent="0">
              <a:buNone/>
            </a:pPr>
            <a:r>
              <a:rPr lang="en-US" sz="2800" b="1">
                <a:solidFill>
                  <a:srgbClr val="0F172A"/>
                </a:solidFill>
                <a:latin typeface="Calibri" pitchFamily="34" charset="0"/>
                <a:ea typeface="Calibri" pitchFamily="34" charset="-122"/>
                <a:cs typeface="Calibri" pitchFamily="34" charset="-120"/>
              </a:rPr>
              <a:t>Task 2 — RDP Attack Surfaced in Kibana</a:t>
            </a:r>
            <a:endParaRPr lang="en-US" sz="2800"/>
          </a:p>
        </p:txBody>
      </p:sp>
      <p:sp>
        <p:nvSpPr>
          <p:cNvPr id="4" name="Text 2"/>
          <p:cNvSpPr/>
          <p:nvPr/>
        </p:nvSpPr>
        <p:spPr>
          <a:xfrm>
            <a:off x="640080" y="868680"/>
            <a:ext cx="10515600" cy="320040"/>
          </a:xfrm>
          <a:prstGeom prst="rect">
            <a:avLst/>
          </a:prstGeom>
          <a:noFill/>
          <a:ln/>
        </p:spPr>
        <p:txBody>
          <a:bodyPr wrap="square" lIns="0" tIns="0" rIns="0" bIns="0" rtlCol="0" anchor="t"/>
          <a:lstStyle/>
          <a:p>
            <a:pPr marL="0" indent="0">
              <a:buNone/>
            </a:pPr>
            <a:r>
              <a:rPr lang="en-US" sz="1300" i="1">
                <a:solidFill>
                  <a:srgbClr val="475569"/>
                </a:solidFill>
                <a:latin typeface="Calibri" pitchFamily="34" charset="0"/>
                <a:ea typeface="Calibri" pitchFamily="34" charset="-122"/>
                <a:cs typeface="Calibri" pitchFamily="34" charset="-120"/>
              </a:rPr>
              <a:t>Sysmon Event Code 3 with full process metadata</a:t>
            </a:r>
            <a:endParaRPr lang="en-US" sz="1300"/>
          </a:p>
        </p:txBody>
      </p:sp>
      <p:sp>
        <p:nvSpPr>
          <p:cNvPr id="5" name="Shape 3"/>
          <p:cNvSpPr/>
          <p:nvPr/>
        </p:nvSpPr>
        <p:spPr>
          <a:xfrm>
            <a:off x="640080" y="1371600"/>
            <a:ext cx="10911535" cy="640080"/>
          </a:xfrm>
          <a:prstGeom prst="rect">
            <a:avLst/>
          </a:prstGeom>
          <a:solidFill>
            <a:srgbClr val="0A1628"/>
          </a:solidFill>
          <a:ln/>
        </p:spPr>
        <p:txBody>
          <a:bodyPr/>
          <a:lstStyle/>
          <a:p>
            <a:endParaRPr lang="en-US"/>
          </a:p>
        </p:txBody>
      </p:sp>
      <p:sp>
        <p:nvSpPr>
          <p:cNvPr id="6" name="Text 4"/>
          <p:cNvSpPr/>
          <p:nvPr/>
        </p:nvSpPr>
        <p:spPr>
          <a:xfrm>
            <a:off x="822960" y="1508760"/>
            <a:ext cx="640080" cy="411480"/>
          </a:xfrm>
          <a:prstGeom prst="rect">
            <a:avLst/>
          </a:prstGeom>
          <a:noFill/>
          <a:ln/>
        </p:spPr>
        <p:txBody>
          <a:bodyPr wrap="square" lIns="0" tIns="0" rIns="0" bIns="0" rtlCol="0" anchor="ctr"/>
          <a:lstStyle/>
          <a:p>
            <a:pPr marL="0" indent="0">
              <a:buNone/>
            </a:pPr>
            <a:r>
              <a:rPr lang="en-US" sz="1200" b="1">
                <a:solidFill>
                  <a:srgbClr val="00D9FF"/>
                </a:solidFill>
                <a:latin typeface="Consolas" pitchFamily="34" charset="0"/>
                <a:ea typeface="Consolas" pitchFamily="34" charset="-122"/>
                <a:cs typeface="Consolas" pitchFamily="34" charset="-120"/>
              </a:rPr>
              <a:t>KQL:</a:t>
            </a:r>
            <a:endParaRPr lang="en-US" sz="1200"/>
          </a:p>
        </p:txBody>
      </p:sp>
      <p:sp>
        <p:nvSpPr>
          <p:cNvPr id="7" name="Text 5"/>
          <p:cNvSpPr/>
          <p:nvPr/>
        </p:nvSpPr>
        <p:spPr>
          <a:xfrm>
            <a:off x="1417320" y="1508760"/>
            <a:ext cx="9905695" cy="411480"/>
          </a:xfrm>
          <a:prstGeom prst="rect">
            <a:avLst/>
          </a:prstGeom>
          <a:noFill/>
          <a:ln/>
        </p:spPr>
        <p:txBody>
          <a:bodyPr wrap="square" lIns="0" tIns="0" rIns="0" bIns="0" rtlCol="0" anchor="ctr"/>
          <a:lstStyle/>
          <a:p>
            <a:pPr marL="0" indent="0">
              <a:buNone/>
            </a:pPr>
            <a:r>
              <a:rPr lang="en-US" sz="1500">
                <a:solidFill>
                  <a:srgbClr val="FFFFFF"/>
                </a:solidFill>
                <a:latin typeface="Consolas" pitchFamily="34" charset="0"/>
                <a:ea typeface="Consolas" pitchFamily="34" charset="-122"/>
                <a:cs typeface="Consolas" pitchFamily="34" charset="-120"/>
              </a:rPr>
              <a:t>event.code : 3 and source.ip : "192.168.56.105"</a:t>
            </a:r>
            <a:endParaRPr lang="en-US" sz="1500"/>
          </a:p>
        </p:txBody>
      </p:sp>
      <p:pic>
        <p:nvPicPr>
          <p:cNvPr id="8" name="Image 0" descr="/home/claude/report/screenshots/fig_kibana_rdp_results.png"/>
          <p:cNvPicPr>
            <a:picLocks noChangeAspect="1"/>
          </p:cNvPicPr>
          <p:nvPr/>
        </p:nvPicPr>
        <p:blipFill>
          <a:blip r:embed="rId3"/>
          <a:srcRect/>
          <a:stretch/>
        </p:blipFill>
        <p:spPr>
          <a:xfrm>
            <a:off x="640080" y="2194560"/>
            <a:ext cx="5486400" cy="2926080"/>
          </a:xfrm>
          <a:prstGeom prst="rect">
            <a:avLst/>
          </a:prstGeom>
        </p:spPr>
      </p:pic>
      <p:pic>
        <p:nvPicPr>
          <p:cNvPr id="9" name="Image 1" descr="/home/claude/report/screenshots/fig_kibana_rdp_detail.png"/>
          <p:cNvPicPr>
            <a:picLocks noChangeAspect="1"/>
          </p:cNvPicPr>
          <p:nvPr/>
        </p:nvPicPr>
        <p:blipFill>
          <a:blip r:embed="rId4"/>
          <a:srcRect/>
          <a:stretch/>
        </p:blipFill>
        <p:spPr>
          <a:xfrm>
            <a:off x="6263640" y="2194560"/>
            <a:ext cx="5486400" cy="2926080"/>
          </a:xfrm>
          <a:prstGeom prst="rect">
            <a:avLst/>
          </a:prstGeom>
        </p:spPr>
      </p:pic>
      <p:sp>
        <p:nvSpPr>
          <p:cNvPr id="10" name="Shape 6"/>
          <p:cNvSpPr/>
          <p:nvPr/>
        </p:nvSpPr>
        <p:spPr>
          <a:xfrm>
            <a:off x="640080" y="5303520"/>
            <a:ext cx="10911535" cy="1005840"/>
          </a:xfrm>
          <a:prstGeom prst="rect">
            <a:avLst/>
          </a:prstGeom>
          <a:solidFill>
            <a:srgbClr val="F7F9FC"/>
          </a:solidFill>
          <a:ln w="12700">
            <a:solidFill>
              <a:srgbClr val="E2E8F0"/>
            </a:solidFill>
            <a:prstDash val="solid"/>
          </a:ln>
        </p:spPr>
        <p:txBody>
          <a:bodyPr/>
          <a:lstStyle/>
          <a:p>
            <a:endParaRPr lang="en-US"/>
          </a:p>
        </p:txBody>
      </p:sp>
      <p:sp>
        <p:nvSpPr>
          <p:cNvPr id="11" name="Text 7"/>
          <p:cNvSpPr/>
          <p:nvPr/>
        </p:nvSpPr>
        <p:spPr>
          <a:xfrm>
            <a:off x="822960" y="5394960"/>
            <a:ext cx="10362895" cy="274320"/>
          </a:xfrm>
          <a:prstGeom prst="rect">
            <a:avLst/>
          </a:prstGeom>
          <a:noFill/>
          <a:ln/>
        </p:spPr>
        <p:txBody>
          <a:bodyPr wrap="square" lIns="0" tIns="0" rIns="0" bIns="0" rtlCol="0" anchor="ctr"/>
          <a:lstStyle/>
          <a:p>
            <a:pPr marL="0" indent="0">
              <a:buNone/>
            </a:pPr>
            <a:r>
              <a:rPr lang="en-US" sz="1100" b="1" kern="0" spc="300">
                <a:solidFill>
                  <a:srgbClr val="0891B2"/>
                </a:solidFill>
                <a:latin typeface="Calibri" pitchFamily="34" charset="0"/>
                <a:ea typeface="Calibri" pitchFamily="34" charset="-122"/>
                <a:cs typeface="Calibri" pitchFamily="34" charset="-120"/>
              </a:rPr>
              <a:t>KEY FIELDS IN THE EXPANDED EVENT</a:t>
            </a:r>
            <a:endParaRPr lang="en-US" sz="1100"/>
          </a:p>
        </p:txBody>
      </p:sp>
      <p:sp>
        <p:nvSpPr>
          <p:cNvPr id="12" name="Text 8"/>
          <p:cNvSpPr/>
          <p:nvPr/>
        </p:nvSpPr>
        <p:spPr>
          <a:xfrm>
            <a:off x="822960" y="5669280"/>
            <a:ext cx="5486400" cy="274320"/>
          </a:xfrm>
          <a:prstGeom prst="rect">
            <a:avLst/>
          </a:prstGeom>
          <a:noFill/>
          <a:ln/>
        </p:spPr>
        <p:txBody>
          <a:bodyPr wrap="square" lIns="0" tIns="0" rIns="0" bIns="0" rtlCol="0" anchor="ctr"/>
          <a:lstStyle/>
          <a:p>
            <a:pPr marL="0" indent="0">
              <a:buNone/>
            </a:pPr>
            <a:r>
              <a:rPr lang="en-US" sz="1050">
                <a:solidFill>
                  <a:srgbClr val="0F172A"/>
                </a:solidFill>
                <a:latin typeface="Consolas" pitchFamily="34" charset="0"/>
                <a:ea typeface="Consolas" pitchFamily="34" charset="-122"/>
                <a:cs typeface="Consolas" pitchFamily="34" charset="-120"/>
              </a:rPr>
              <a:t>rule.name: RDP</a:t>
            </a:r>
            <a:endParaRPr lang="en-US" sz="1050"/>
          </a:p>
        </p:txBody>
      </p:sp>
      <p:sp>
        <p:nvSpPr>
          <p:cNvPr id="13" name="Text 9"/>
          <p:cNvSpPr/>
          <p:nvPr/>
        </p:nvSpPr>
        <p:spPr>
          <a:xfrm>
            <a:off x="6309360" y="5669280"/>
            <a:ext cx="5486400" cy="274320"/>
          </a:xfrm>
          <a:prstGeom prst="rect">
            <a:avLst/>
          </a:prstGeom>
          <a:noFill/>
          <a:ln/>
        </p:spPr>
        <p:txBody>
          <a:bodyPr wrap="square" lIns="0" tIns="0" rIns="0" bIns="0" rtlCol="0" anchor="ctr"/>
          <a:lstStyle/>
          <a:p>
            <a:pPr marL="0" indent="0">
              <a:buNone/>
            </a:pPr>
            <a:r>
              <a:rPr lang="en-US" sz="1050">
                <a:solidFill>
                  <a:srgbClr val="0F172A"/>
                </a:solidFill>
                <a:latin typeface="Consolas" pitchFamily="34" charset="0"/>
                <a:ea typeface="Consolas" pitchFamily="34" charset="-122"/>
                <a:cs typeface="Consolas" pitchFamily="34" charset="-120"/>
              </a:rPr>
              <a:t>process.executable: C:\Windows\System32\svchost.exe</a:t>
            </a:r>
            <a:endParaRPr lang="en-US" sz="1050"/>
          </a:p>
        </p:txBody>
      </p:sp>
      <p:sp>
        <p:nvSpPr>
          <p:cNvPr id="14" name="Text 10"/>
          <p:cNvSpPr/>
          <p:nvPr/>
        </p:nvSpPr>
        <p:spPr>
          <a:xfrm>
            <a:off x="822960" y="5943600"/>
            <a:ext cx="5486400" cy="274320"/>
          </a:xfrm>
          <a:prstGeom prst="rect">
            <a:avLst/>
          </a:prstGeom>
          <a:noFill/>
          <a:ln/>
        </p:spPr>
        <p:txBody>
          <a:bodyPr wrap="square" lIns="0" tIns="0" rIns="0" bIns="0" rtlCol="0" anchor="ctr"/>
          <a:lstStyle/>
          <a:p>
            <a:pPr marL="0" indent="0">
              <a:buNone/>
            </a:pPr>
            <a:r>
              <a:rPr lang="en-US" sz="1050">
                <a:solidFill>
                  <a:srgbClr val="0F172A"/>
                </a:solidFill>
                <a:latin typeface="Consolas" pitchFamily="34" charset="0"/>
                <a:ea typeface="Consolas" pitchFamily="34" charset="-122"/>
                <a:cs typeface="Consolas" pitchFamily="34" charset="-120"/>
              </a:rPr>
              <a:t>user.name: NETWORK SERVICE</a:t>
            </a:r>
            <a:endParaRPr lang="en-US" sz="1050"/>
          </a:p>
        </p:txBody>
      </p:sp>
      <p:sp>
        <p:nvSpPr>
          <p:cNvPr id="15" name="Text 11"/>
          <p:cNvSpPr/>
          <p:nvPr/>
        </p:nvSpPr>
        <p:spPr>
          <a:xfrm>
            <a:off x="6309360" y="5943600"/>
            <a:ext cx="5486400" cy="274320"/>
          </a:xfrm>
          <a:prstGeom prst="rect">
            <a:avLst/>
          </a:prstGeom>
          <a:noFill/>
          <a:ln/>
        </p:spPr>
        <p:txBody>
          <a:bodyPr wrap="square" lIns="0" tIns="0" rIns="0" bIns="0" rtlCol="0" anchor="ctr"/>
          <a:lstStyle/>
          <a:p>
            <a:pPr marL="0" indent="0">
              <a:buNone/>
            </a:pPr>
            <a:r>
              <a:rPr lang="en-US" sz="1050">
                <a:solidFill>
                  <a:srgbClr val="0F172A"/>
                </a:solidFill>
                <a:latin typeface="Consolas" pitchFamily="34" charset="0"/>
                <a:ea typeface="Consolas" pitchFamily="34" charset="-122"/>
                <a:cs typeface="Consolas" pitchFamily="34" charset="-120"/>
              </a:rPr>
              <a:t>winlog.channel: Microsoft-Windows-Sysmon/Operational</a:t>
            </a:r>
            <a:endParaRPr lang="en-US" sz="1050"/>
          </a:p>
        </p:txBody>
      </p:sp>
      <p:sp>
        <p:nvSpPr>
          <p:cNvPr id="16" name="Text 12"/>
          <p:cNvSpPr/>
          <p:nvPr/>
        </p:nvSpPr>
        <p:spPr>
          <a:xfrm>
            <a:off x="365760" y="6537960"/>
            <a:ext cx="4572000" cy="228600"/>
          </a:xfrm>
          <a:prstGeom prst="rect">
            <a:avLst/>
          </a:prstGeom>
          <a:noFill/>
          <a:ln/>
        </p:spPr>
        <p:txBody>
          <a:bodyPr wrap="square" lIns="0" tIns="0" rIns="0" bIns="0" rtlCol="0" anchor="ctr"/>
          <a:lstStyle/>
          <a:p>
            <a:pPr marL="0" indent="0" algn="l">
              <a:buNone/>
            </a:pPr>
            <a:r>
              <a:rPr lang="en-US" sz="900">
                <a:solidFill>
                  <a:srgbClr val="94A3B8"/>
                </a:solidFill>
                <a:latin typeface="Calibri" pitchFamily="34" charset="0"/>
                <a:ea typeface="Calibri" pitchFamily="34" charset="-122"/>
                <a:cs typeface="Calibri" pitchFamily="34" charset="-120"/>
              </a:rPr>
              <a:t>Incident Handling Lab  |  Elastic SIEM</a:t>
            </a:r>
            <a:endParaRPr lang="en-US" sz="900"/>
          </a:p>
        </p:txBody>
      </p:sp>
      <p:sp>
        <p:nvSpPr>
          <p:cNvPr id="17" name="Text 13"/>
          <p:cNvSpPr/>
          <p:nvPr/>
        </p:nvSpPr>
        <p:spPr>
          <a:xfrm>
            <a:off x="11094415" y="6537960"/>
            <a:ext cx="914400" cy="228600"/>
          </a:xfrm>
          <a:prstGeom prst="rect">
            <a:avLst/>
          </a:prstGeom>
          <a:noFill/>
          <a:ln/>
        </p:spPr>
        <p:txBody>
          <a:bodyPr wrap="square" lIns="0" tIns="0" rIns="0" bIns="0" rtlCol="0" anchor="ctr"/>
          <a:lstStyle/>
          <a:p>
            <a:pPr marL="0" indent="0" algn="r">
              <a:buNone/>
            </a:pPr>
            <a:r>
              <a:rPr lang="en-US" sz="900">
                <a:solidFill>
                  <a:srgbClr val="94A3B8"/>
                </a:solidFill>
                <a:latin typeface="Calibri" pitchFamily="34" charset="0"/>
                <a:ea typeface="Calibri" pitchFamily="34" charset="-122"/>
                <a:cs typeface="Calibri" pitchFamily="34" charset="-120"/>
              </a:rPr>
              <a:t>18 / 29</a:t>
            </a:r>
            <a:endParaRPr lang="en-US" sz="9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65760" y="457200"/>
            <a:ext cx="109728" cy="731520"/>
          </a:xfrm>
          <a:prstGeom prst="rect">
            <a:avLst/>
          </a:prstGeom>
          <a:solidFill>
            <a:srgbClr val="00D9FF"/>
          </a:solidFill>
          <a:ln/>
        </p:spPr>
        <p:txBody>
          <a:bodyPr/>
          <a:lstStyle/>
          <a:p>
            <a:endParaRPr lang="en-US"/>
          </a:p>
        </p:txBody>
      </p:sp>
      <p:sp>
        <p:nvSpPr>
          <p:cNvPr id="3" name="Text 1"/>
          <p:cNvSpPr/>
          <p:nvPr/>
        </p:nvSpPr>
        <p:spPr>
          <a:xfrm>
            <a:off x="640080" y="411480"/>
            <a:ext cx="10515600" cy="502920"/>
          </a:xfrm>
          <a:prstGeom prst="rect">
            <a:avLst/>
          </a:prstGeom>
          <a:noFill/>
          <a:ln/>
        </p:spPr>
        <p:txBody>
          <a:bodyPr wrap="square" lIns="0" tIns="0" rIns="0" bIns="0" rtlCol="0" anchor="t"/>
          <a:lstStyle/>
          <a:p>
            <a:pPr marL="0" indent="0">
              <a:buNone/>
            </a:pPr>
            <a:r>
              <a:rPr lang="en-US" sz="2800" b="1">
                <a:solidFill>
                  <a:srgbClr val="0F172A"/>
                </a:solidFill>
                <a:latin typeface="Calibri" pitchFamily="34" charset="0"/>
                <a:ea typeface="Calibri" pitchFamily="34" charset="-122"/>
                <a:cs typeface="Calibri" pitchFamily="34" charset="-120"/>
              </a:rPr>
              <a:t>Task 3 — File Integrity Monitoring</a:t>
            </a:r>
            <a:endParaRPr lang="en-US" sz="2800"/>
          </a:p>
        </p:txBody>
      </p:sp>
      <p:sp>
        <p:nvSpPr>
          <p:cNvPr id="4" name="Text 2"/>
          <p:cNvSpPr/>
          <p:nvPr/>
        </p:nvSpPr>
        <p:spPr>
          <a:xfrm>
            <a:off x="640080" y="868680"/>
            <a:ext cx="10515600" cy="320040"/>
          </a:xfrm>
          <a:prstGeom prst="rect">
            <a:avLst/>
          </a:prstGeom>
          <a:noFill/>
          <a:ln/>
        </p:spPr>
        <p:txBody>
          <a:bodyPr wrap="square" lIns="0" tIns="0" rIns="0" bIns="0" rtlCol="0" anchor="t"/>
          <a:lstStyle/>
          <a:p>
            <a:pPr marL="0" indent="0">
              <a:buNone/>
            </a:pPr>
            <a:r>
              <a:rPr lang="en-US" sz="1300" i="1">
                <a:solidFill>
                  <a:srgbClr val="475569"/>
                </a:solidFill>
                <a:latin typeface="Calibri" pitchFamily="34" charset="0"/>
                <a:ea typeface="Calibri" pitchFamily="34" charset="-122"/>
                <a:cs typeface="Calibri" pitchFamily="34" charset="-120"/>
              </a:rPr>
              <a:t>Catching what every other detection layer misses</a:t>
            </a:r>
            <a:endParaRPr lang="en-US" sz="1300"/>
          </a:p>
        </p:txBody>
      </p:sp>
      <p:sp>
        <p:nvSpPr>
          <p:cNvPr id="5" name="Shape 3"/>
          <p:cNvSpPr/>
          <p:nvPr/>
        </p:nvSpPr>
        <p:spPr>
          <a:xfrm>
            <a:off x="702103" y="1381878"/>
            <a:ext cx="5394960" cy="4846320"/>
          </a:xfrm>
          <a:prstGeom prst="rect">
            <a:avLst/>
          </a:prstGeom>
          <a:solidFill>
            <a:srgbClr val="F7F9FC"/>
          </a:solidFill>
          <a:ln w="12700">
            <a:solidFill>
              <a:srgbClr val="E2E8F0"/>
            </a:solidFill>
            <a:prstDash val="solid"/>
          </a:ln>
        </p:spPr>
        <p:txBody>
          <a:bodyPr/>
          <a:lstStyle/>
          <a:p>
            <a:endParaRPr lang="en-US"/>
          </a:p>
        </p:txBody>
      </p:sp>
      <p:sp>
        <p:nvSpPr>
          <p:cNvPr id="6" name="Text 4"/>
          <p:cNvSpPr/>
          <p:nvPr/>
        </p:nvSpPr>
        <p:spPr>
          <a:xfrm>
            <a:off x="822960" y="1600200"/>
            <a:ext cx="5029200" cy="274320"/>
          </a:xfrm>
          <a:prstGeom prst="rect">
            <a:avLst/>
          </a:prstGeom>
          <a:noFill/>
          <a:ln/>
        </p:spPr>
        <p:txBody>
          <a:bodyPr wrap="square" lIns="0" tIns="0" rIns="0" bIns="0" rtlCol="0" anchor="ctr"/>
          <a:lstStyle/>
          <a:p>
            <a:pPr marL="0" indent="0">
              <a:buNone/>
            </a:pPr>
            <a:r>
              <a:rPr lang="en-US" sz="1000" b="1" kern="0" spc="400">
                <a:solidFill>
                  <a:srgbClr val="0891B2"/>
                </a:solidFill>
                <a:latin typeface="Calibri" pitchFamily="34" charset="0"/>
                <a:ea typeface="Calibri" pitchFamily="34" charset="-122"/>
                <a:cs typeface="Calibri" pitchFamily="34" charset="-120"/>
              </a:rPr>
              <a:t>WHAT IS IT?</a:t>
            </a:r>
            <a:endParaRPr lang="en-US" sz="1000"/>
          </a:p>
        </p:txBody>
      </p:sp>
      <p:sp>
        <p:nvSpPr>
          <p:cNvPr id="7" name="Text 5"/>
          <p:cNvSpPr/>
          <p:nvPr/>
        </p:nvSpPr>
        <p:spPr>
          <a:xfrm>
            <a:off x="822960" y="1874520"/>
            <a:ext cx="5029200" cy="457200"/>
          </a:xfrm>
          <a:prstGeom prst="rect">
            <a:avLst/>
          </a:prstGeom>
          <a:noFill/>
          <a:ln/>
        </p:spPr>
        <p:txBody>
          <a:bodyPr wrap="square" lIns="0" tIns="0" rIns="0" bIns="0" rtlCol="0" anchor="ctr"/>
          <a:lstStyle/>
          <a:p>
            <a:pPr marL="0" indent="0">
              <a:buNone/>
            </a:pPr>
            <a:r>
              <a:rPr lang="en-US" sz="2200" b="1">
                <a:solidFill>
                  <a:srgbClr val="0F172A"/>
                </a:solidFill>
                <a:latin typeface="Calibri" pitchFamily="34" charset="0"/>
                <a:ea typeface="Calibri" pitchFamily="34" charset="-122"/>
                <a:cs typeface="Calibri" pitchFamily="34" charset="-120"/>
              </a:rPr>
              <a:t>File Integrity Monitoring</a:t>
            </a:r>
            <a:endParaRPr lang="en-US" sz="2200"/>
          </a:p>
        </p:txBody>
      </p:sp>
      <p:sp>
        <p:nvSpPr>
          <p:cNvPr id="8" name="Text 6"/>
          <p:cNvSpPr/>
          <p:nvPr/>
        </p:nvSpPr>
        <p:spPr>
          <a:xfrm>
            <a:off x="822960" y="2485183"/>
            <a:ext cx="5029200" cy="3749040"/>
          </a:xfrm>
          <a:prstGeom prst="rect">
            <a:avLst/>
          </a:prstGeom>
          <a:noFill/>
          <a:ln/>
        </p:spPr>
        <p:txBody>
          <a:bodyPr wrap="square" lIns="0" tIns="0" rIns="0" bIns="0" rtlCol="0" anchor="t"/>
          <a:lstStyle/>
          <a:p>
            <a:r>
              <a:rPr lang="en-US" sz="1300" dirty="0">
                <a:solidFill>
                  <a:srgbClr val="475569"/>
                </a:solidFill>
                <a:latin typeface="Calibri"/>
                <a:ea typeface="Calibri"/>
                <a:cs typeface="Calibri"/>
              </a:rPr>
              <a:t>FIM is a  is a security control that watches specific files or directories and fires an alert whenever any of them is created, modified, renamed, or deleted.</a:t>
            </a:r>
          </a:p>
          <a:p>
            <a:pPr marL="0" indent="0">
              <a:buNone/>
            </a:pPr>
            <a:r>
              <a:rPr lang="en-US" sz="1300" dirty="0">
                <a:solidFill>
                  <a:srgbClr val="475569"/>
                </a:solidFill>
                <a:latin typeface="Calibri"/>
                <a:ea typeface="Calibri"/>
                <a:cs typeface="Calibri"/>
              </a:rPr>
              <a:t> </a:t>
            </a:r>
          </a:p>
          <a:p>
            <a:r>
              <a:rPr lang="en-US" sz="1300" dirty="0">
                <a:solidFill>
                  <a:srgbClr val="475569"/>
                </a:solidFill>
                <a:latin typeface="Calibri"/>
                <a:ea typeface="Calibri"/>
                <a:cs typeface="Calibri"/>
              </a:rPr>
              <a:t>On Linux, FIM is implemented through </a:t>
            </a:r>
            <a:r>
              <a:rPr lang="en-US" sz="1300" dirty="0" err="1">
                <a:solidFill>
                  <a:srgbClr val="475569"/>
                </a:solidFill>
                <a:latin typeface="Calibri"/>
                <a:ea typeface="Calibri"/>
                <a:cs typeface="Calibri"/>
              </a:rPr>
              <a:t>Auditd</a:t>
            </a:r>
            <a:r>
              <a:rPr lang="en-US" sz="1300" dirty="0">
                <a:solidFill>
                  <a:srgbClr val="475569"/>
                </a:solidFill>
                <a:latin typeface="Calibri"/>
                <a:ea typeface="Calibri"/>
                <a:cs typeface="Calibri"/>
              </a:rPr>
              <a:t>. </a:t>
            </a:r>
            <a:r>
              <a:rPr lang="en-US" sz="1300" dirty="0" err="1">
                <a:solidFill>
                  <a:srgbClr val="475569"/>
                </a:solidFill>
                <a:latin typeface="Calibri"/>
                <a:ea typeface="Calibri"/>
                <a:cs typeface="Calibri"/>
              </a:rPr>
              <a:t>Auditd</a:t>
            </a:r>
            <a:r>
              <a:rPr lang="en-US" sz="1300" dirty="0">
                <a:solidFill>
                  <a:srgbClr val="475569"/>
                </a:solidFill>
                <a:latin typeface="Calibri"/>
                <a:ea typeface="Calibri"/>
                <a:cs typeface="Calibri"/>
              </a:rPr>
              <a:t> intercepts kernel-level system calls directly. An attacker cannot change a file on an </a:t>
            </a:r>
            <a:r>
              <a:rPr lang="en-US" sz="1300" dirty="0" err="1">
                <a:solidFill>
                  <a:srgbClr val="475569"/>
                </a:solidFill>
                <a:latin typeface="Calibri"/>
                <a:ea typeface="Calibri"/>
                <a:cs typeface="Calibri"/>
              </a:rPr>
              <a:t>auditd</a:t>
            </a:r>
            <a:r>
              <a:rPr lang="en-US" sz="1300" dirty="0">
                <a:solidFill>
                  <a:srgbClr val="475569"/>
                </a:solidFill>
              </a:rPr>
              <a:t>-monitored</a:t>
            </a:r>
            <a:r>
              <a:rPr lang="en-US" sz="1300" dirty="0">
                <a:solidFill>
                  <a:srgbClr val="475569"/>
                </a:solidFill>
                <a:latin typeface="Calibri"/>
                <a:ea typeface="Calibri"/>
                <a:cs typeface="Calibri"/>
              </a:rPr>
              <a:t> system without generating a record.</a:t>
            </a:r>
            <a:endParaRPr lang="en-US" sz="1300" dirty="0">
              <a:solidFill>
                <a:srgbClr val="000000"/>
              </a:solidFill>
              <a:latin typeface="Calibri"/>
              <a:ea typeface="Calibri"/>
              <a:cs typeface="Calibri"/>
            </a:endParaRPr>
          </a:p>
          <a:p>
            <a:pPr marL="0" indent="0">
              <a:buNone/>
            </a:pPr>
            <a:r>
              <a:rPr lang="en-US" sz="800" dirty="0">
                <a:solidFill>
                  <a:srgbClr val="000000"/>
                </a:solidFill>
              </a:rPr>
              <a:t> </a:t>
            </a:r>
            <a:endParaRPr lang="en-US" sz="1300" dirty="0"/>
          </a:p>
          <a:p>
            <a:pPr marL="0" indent="0">
              <a:buNone/>
            </a:pPr>
            <a:r>
              <a:rPr lang="en-US" sz="1300" i="1">
                <a:solidFill>
                  <a:srgbClr val="0F172A"/>
                </a:solidFill>
                <a:latin typeface="Calibri" pitchFamily="34" charset="0"/>
                <a:ea typeface="Calibri" pitchFamily="34" charset="-122"/>
                <a:cs typeface="Calibri" pitchFamily="34" charset="-120"/>
              </a:rPr>
              <a:t>FIM is also mandated by PCI DSS, HIPAA, and the CIS Controls.</a:t>
            </a:r>
          </a:p>
          <a:p>
            <a:endParaRPr lang="en-US" sz="1300" i="1">
              <a:solidFill>
                <a:srgbClr val="0F172A"/>
              </a:solidFill>
              <a:ea typeface="Calibri"/>
              <a:cs typeface="Calibri"/>
            </a:endParaRPr>
          </a:p>
          <a:p>
            <a:endParaRPr lang="en-US" sz="1300" i="1">
              <a:solidFill>
                <a:srgbClr val="0F172A"/>
              </a:solidFill>
              <a:ea typeface="Calibri"/>
              <a:cs typeface="Calibri"/>
            </a:endParaRPr>
          </a:p>
          <a:p>
            <a:endParaRPr lang="en-US" sz="1300" i="1">
              <a:solidFill>
                <a:srgbClr val="0F172A"/>
              </a:solidFill>
              <a:ea typeface="Calibri"/>
              <a:cs typeface="Calibri"/>
            </a:endParaRPr>
          </a:p>
          <a:p>
            <a:pPr algn="just"/>
            <a:endParaRPr lang="en-US" sz="1200">
              <a:solidFill>
                <a:srgbClr val="0F172A"/>
              </a:solidFill>
              <a:highlight>
                <a:srgbClr val="FFFFFF"/>
              </a:highlight>
              <a:latin typeface="Times New Roman"/>
              <a:ea typeface="Calibri"/>
              <a:cs typeface="Times New Roman"/>
            </a:endParaRPr>
          </a:p>
          <a:p>
            <a:endParaRPr lang="en-US" sz="1300" i="1">
              <a:solidFill>
                <a:srgbClr val="0F172A"/>
              </a:solidFill>
              <a:ea typeface="Calibri"/>
              <a:cs typeface="Calibri"/>
            </a:endParaRPr>
          </a:p>
        </p:txBody>
      </p:sp>
      <p:sp>
        <p:nvSpPr>
          <p:cNvPr id="9" name="Shape 7"/>
          <p:cNvSpPr/>
          <p:nvPr/>
        </p:nvSpPr>
        <p:spPr>
          <a:xfrm>
            <a:off x="6309360" y="1417320"/>
            <a:ext cx="5212080" cy="4846320"/>
          </a:xfrm>
          <a:prstGeom prst="rect">
            <a:avLst/>
          </a:prstGeom>
          <a:solidFill>
            <a:srgbClr val="0A1628"/>
          </a:solidFill>
          <a:ln/>
        </p:spPr>
        <p:txBody>
          <a:bodyPr/>
          <a:lstStyle/>
          <a:p>
            <a:endParaRPr lang="en-US"/>
          </a:p>
        </p:txBody>
      </p:sp>
      <p:sp>
        <p:nvSpPr>
          <p:cNvPr id="10" name="Text 8"/>
          <p:cNvSpPr/>
          <p:nvPr/>
        </p:nvSpPr>
        <p:spPr>
          <a:xfrm>
            <a:off x="6492240" y="1600200"/>
            <a:ext cx="4846320" cy="274320"/>
          </a:xfrm>
          <a:prstGeom prst="rect">
            <a:avLst/>
          </a:prstGeom>
          <a:noFill/>
          <a:ln/>
        </p:spPr>
        <p:txBody>
          <a:bodyPr wrap="square" lIns="0" tIns="0" rIns="0" bIns="0" rtlCol="0" anchor="ctr"/>
          <a:lstStyle/>
          <a:p>
            <a:pPr marL="0" indent="0">
              <a:buNone/>
            </a:pPr>
            <a:r>
              <a:rPr lang="en-US" sz="1000" b="1" kern="0" spc="300">
                <a:solidFill>
                  <a:srgbClr val="00D9FF"/>
                </a:solidFill>
                <a:latin typeface="Calibri" pitchFamily="34" charset="0"/>
                <a:ea typeface="Calibri" pitchFamily="34" charset="-122"/>
                <a:cs typeface="Calibri" pitchFamily="34" charset="-120"/>
              </a:rPr>
              <a:t>PERSISTENCE MECHANISMS FIM CATCHES</a:t>
            </a:r>
            <a:endParaRPr lang="en-US" sz="1000"/>
          </a:p>
        </p:txBody>
      </p:sp>
      <p:sp>
        <p:nvSpPr>
          <p:cNvPr id="11" name="Shape 9"/>
          <p:cNvSpPr/>
          <p:nvPr/>
        </p:nvSpPr>
        <p:spPr>
          <a:xfrm>
            <a:off x="6492240" y="1965960"/>
            <a:ext cx="4846320" cy="868680"/>
          </a:xfrm>
          <a:prstGeom prst="rect">
            <a:avLst/>
          </a:prstGeom>
          <a:solidFill>
            <a:srgbClr val="0F1E38"/>
          </a:solidFill>
          <a:ln w="12700">
            <a:solidFill>
              <a:srgbClr val="EF4444"/>
            </a:solidFill>
            <a:prstDash val="solid"/>
          </a:ln>
        </p:spPr>
        <p:txBody>
          <a:bodyPr/>
          <a:lstStyle/>
          <a:p>
            <a:endParaRPr lang="en-US"/>
          </a:p>
        </p:txBody>
      </p:sp>
      <p:pic>
        <p:nvPicPr>
          <p:cNvPr id="12" name="Image 0" descr="preencoded.png"/>
          <p:cNvPicPr>
            <a:picLocks noChangeAspect="1"/>
          </p:cNvPicPr>
          <p:nvPr/>
        </p:nvPicPr>
        <p:blipFill>
          <a:blip r:embed="rId3"/>
          <a:stretch>
            <a:fillRect/>
          </a:stretch>
        </p:blipFill>
        <p:spPr>
          <a:xfrm>
            <a:off x="6629400" y="2176272"/>
            <a:ext cx="457200" cy="457200"/>
          </a:xfrm>
          <a:prstGeom prst="rect">
            <a:avLst/>
          </a:prstGeom>
        </p:spPr>
      </p:pic>
      <p:sp>
        <p:nvSpPr>
          <p:cNvPr id="13" name="Text 10"/>
          <p:cNvSpPr/>
          <p:nvPr/>
        </p:nvSpPr>
        <p:spPr>
          <a:xfrm>
            <a:off x="7269480" y="2057400"/>
            <a:ext cx="4023360" cy="292608"/>
          </a:xfrm>
          <a:prstGeom prst="rect">
            <a:avLst/>
          </a:prstGeom>
          <a:noFill/>
          <a:ln/>
        </p:spPr>
        <p:txBody>
          <a:bodyPr wrap="square" lIns="0" tIns="0" rIns="0" bIns="0" rtlCol="0" anchor="ctr"/>
          <a:lstStyle/>
          <a:p>
            <a:pPr marL="0" indent="0">
              <a:buNone/>
            </a:pPr>
            <a:r>
              <a:rPr lang="en-US" sz="1300" b="1">
                <a:solidFill>
                  <a:srgbClr val="FFFFFF"/>
                </a:solidFill>
                <a:latin typeface="Calibri" pitchFamily="34" charset="0"/>
                <a:ea typeface="Calibri" pitchFamily="34" charset="-122"/>
                <a:cs typeface="Calibri" pitchFamily="34" charset="-120"/>
              </a:rPr>
              <a:t>Startup script modification</a:t>
            </a:r>
            <a:endParaRPr lang="en-US" sz="1300"/>
          </a:p>
        </p:txBody>
      </p:sp>
      <p:sp>
        <p:nvSpPr>
          <p:cNvPr id="14" name="Text 11"/>
          <p:cNvSpPr/>
          <p:nvPr/>
        </p:nvSpPr>
        <p:spPr>
          <a:xfrm>
            <a:off x="7269480" y="2350008"/>
            <a:ext cx="4023360" cy="457200"/>
          </a:xfrm>
          <a:prstGeom prst="rect">
            <a:avLst/>
          </a:prstGeom>
          <a:noFill/>
          <a:ln/>
        </p:spPr>
        <p:txBody>
          <a:bodyPr wrap="square" lIns="0" tIns="0" rIns="0" bIns="0" rtlCol="0" anchor="t"/>
          <a:lstStyle/>
          <a:p>
            <a:pPr marL="0" indent="0">
              <a:buNone/>
            </a:pPr>
            <a:r>
              <a:rPr lang="en-US" sz="1050">
                <a:solidFill>
                  <a:srgbClr val="E2E8F0"/>
                </a:solidFill>
                <a:latin typeface="Calibri" pitchFamily="34" charset="0"/>
                <a:ea typeface="Calibri" pitchFamily="34" charset="-122"/>
                <a:cs typeface="Calibri" pitchFamily="34" charset="-120"/>
              </a:rPr>
              <a:t>Adding a line to /etc/rc.local or systemd unit files so malware runs at boot</a:t>
            </a:r>
            <a:endParaRPr lang="en-US" sz="1050"/>
          </a:p>
        </p:txBody>
      </p:sp>
      <p:sp>
        <p:nvSpPr>
          <p:cNvPr id="15" name="Shape 12"/>
          <p:cNvSpPr/>
          <p:nvPr/>
        </p:nvSpPr>
        <p:spPr>
          <a:xfrm>
            <a:off x="6492240" y="2971800"/>
            <a:ext cx="4846320" cy="868680"/>
          </a:xfrm>
          <a:prstGeom prst="rect">
            <a:avLst/>
          </a:prstGeom>
          <a:solidFill>
            <a:srgbClr val="0F1E38"/>
          </a:solidFill>
          <a:ln w="12700">
            <a:solidFill>
              <a:srgbClr val="F59E0B"/>
            </a:solidFill>
            <a:prstDash val="solid"/>
          </a:ln>
        </p:spPr>
        <p:txBody>
          <a:bodyPr/>
          <a:lstStyle/>
          <a:p>
            <a:endParaRPr lang="en-US"/>
          </a:p>
        </p:txBody>
      </p:sp>
      <p:pic>
        <p:nvPicPr>
          <p:cNvPr id="16" name="Image 1" descr="preencoded.png"/>
          <p:cNvPicPr>
            <a:picLocks noChangeAspect="1"/>
          </p:cNvPicPr>
          <p:nvPr/>
        </p:nvPicPr>
        <p:blipFill>
          <a:blip r:embed="rId4"/>
          <a:stretch>
            <a:fillRect/>
          </a:stretch>
        </p:blipFill>
        <p:spPr>
          <a:xfrm>
            <a:off x="6629400" y="3182112"/>
            <a:ext cx="457200" cy="457200"/>
          </a:xfrm>
          <a:prstGeom prst="rect">
            <a:avLst/>
          </a:prstGeom>
        </p:spPr>
      </p:pic>
      <p:sp>
        <p:nvSpPr>
          <p:cNvPr id="17" name="Text 13"/>
          <p:cNvSpPr/>
          <p:nvPr/>
        </p:nvSpPr>
        <p:spPr>
          <a:xfrm>
            <a:off x="7269480" y="3063240"/>
            <a:ext cx="4023360" cy="292608"/>
          </a:xfrm>
          <a:prstGeom prst="rect">
            <a:avLst/>
          </a:prstGeom>
          <a:noFill/>
          <a:ln/>
        </p:spPr>
        <p:txBody>
          <a:bodyPr wrap="square" lIns="0" tIns="0" rIns="0" bIns="0" rtlCol="0" anchor="ctr"/>
          <a:lstStyle/>
          <a:p>
            <a:pPr marL="0" indent="0">
              <a:buNone/>
            </a:pPr>
            <a:r>
              <a:rPr lang="en-US" sz="1300" b="1">
                <a:solidFill>
                  <a:srgbClr val="FFFFFF"/>
                </a:solidFill>
                <a:latin typeface="Calibri" pitchFamily="34" charset="0"/>
                <a:ea typeface="Calibri" pitchFamily="34" charset="-122"/>
                <a:cs typeface="Calibri" pitchFamily="34" charset="-120"/>
              </a:rPr>
              <a:t>New cron job</a:t>
            </a:r>
            <a:endParaRPr lang="en-US" sz="1300"/>
          </a:p>
        </p:txBody>
      </p:sp>
      <p:sp>
        <p:nvSpPr>
          <p:cNvPr id="18" name="Text 14"/>
          <p:cNvSpPr/>
          <p:nvPr/>
        </p:nvSpPr>
        <p:spPr>
          <a:xfrm>
            <a:off x="7269480" y="3355848"/>
            <a:ext cx="4023360" cy="457200"/>
          </a:xfrm>
          <a:prstGeom prst="rect">
            <a:avLst/>
          </a:prstGeom>
          <a:noFill/>
          <a:ln/>
        </p:spPr>
        <p:txBody>
          <a:bodyPr wrap="square" lIns="0" tIns="0" rIns="0" bIns="0" rtlCol="0" anchor="t"/>
          <a:lstStyle/>
          <a:p>
            <a:pPr marL="0" indent="0">
              <a:buNone/>
            </a:pPr>
            <a:r>
              <a:rPr lang="en-US" sz="1050">
                <a:solidFill>
                  <a:srgbClr val="E2E8F0"/>
                </a:solidFill>
                <a:latin typeface="Calibri" pitchFamily="34" charset="0"/>
                <a:ea typeface="Calibri" pitchFamily="34" charset="-122"/>
                <a:cs typeface="Calibri" pitchFamily="34" charset="-120"/>
              </a:rPr>
              <a:t>A scheduled task that re-establishes the attacker's foothold every N minutes</a:t>
            </a:r>
            <a:endParaRPr lang="en-US" sz="1050"/>
          </a:p>
        </p:txBody>
      </p:sp>
      <p:sp>
        <p:nvSpPr>
          <p:cNvPr id="19" name="Shape 15"/>
          <p:cNvSpPr/>
          <p:nvPr/>
        </p:nvSpPr>
        <p:spPr>
          <a:xfrm>
            <a:off x="6492240" y="3977640"/>
            <a:ext cx="4846320" cy="868680"/>
          </a:xfrm>
          <a:prstGeom prst="rect">
            <a:avLst/>
          </a:prstGeom>
          <a:solidFill>
            <a:srgbClr val="0F1E38"/>
          </a:solidFill>
          <a:ln w="12700">
            <a:solidFill>
              <a:srgbClr val="A78BFA"/>
            </a:solidFill>
            <a:prstDash val="solid"/>
          </a:ln>
        </p:spPr>
        <p:txBody>
          <a:bodyPr/>
          <a:lstStyle/>
          <a:p>
            <a:endParaRPr lang="en-US"/>
          </a:p>
        </p:txBody>
      </p:sp>
      <p:pic>
        <p:nvPicPr>
          <p:cNvPr id="20" name="Image 2" descr="preencoded.png"/>
          <p:cNvPicPr>
            <a:picLocks noChangeAspect="1"/>
          </p:cNvPicPr>
          <p:nvPr/>
        </p:nvPicPr>
        <p:blipFill>
          <a:blip r:embed="rId5"/>
          <a:stretch>
            <a:fillRect/>
          </a:stretch>
        </p:blipFill>
        <p:spPr>
          <a:xfrm>
            <a:off x="6629400" y="4187952"/>
            <a:ext cx="457200" cy="457200"/>
          </a:xfrm>
          <a:prstGeom prst="rect">
            <a:avLst/>
          </a:prstGeom>
        </p:spPr>
      </p:pic>
      <p:sp>
        <p:nvSpPr>
          <p:cNvPr id="21" name="Text 16"/>
          <p:cNvSpPr/>
          <p:nvPr/>
        </p:nvSpPr>
        <p:spPr>
          <a:xfrm>
            <a:off x="7269480" y="4069080"/>
            <a:ext cx="4023360" cy="292608"/>
          </a:xfrm>
          <a:prstGeom prst="rect">
            <a:avLst/>
          </a:prstGeom>
          <a:noFill/>
          <a:ln/>
        </p:spPr>
        <p:txBody>
          <a:bodyPr wrap="square" lIns="0" tIns="0" rIns="0" bIns="0" rtlCol="0" anchor="ctr"/>
          <a:lstStyle/>
          <a:p>
            <a:pPr marL="0" indent="0">
              <a:buNone/>
            </a:pPr>
            <a:r>
              <a:rPr lang="en-US" sz="1300" b="1">
                <a:solidFill>
                  <a:srgbClr val="FFFFFF"/>
                </a:solidFill>
                <a:latin typeface="Calibri" pitchFamily="34" charset="0"/>
                <a:ea typeface="Calibri" pitchFamily="34" charset="-122"/>
                <a:cs typeface="Calibri" pitchFamily="34" charset="-120"/>
              </a:rPr>
              <a:t>SSH authorized_keys</a:t>
            </a:r>
            <a:endParaRPr lang="en-US" sz="1300"/>
          </a:p>
        </p:txBody>
      </p:sp>
      <p:sp>
        <p:nvSpPr>
          <p:cNvPr id="22" name="Text 17"/>
          <p:cNvSpPr/>
          <p:nvPr/>
        </p:nvSpPr>
        <p:spPr>
          <a:xfrm>
            <a:off x="7269480" y="4361688"/>
            <a:ext cx="4023360" cy="457200"/>
          </a:xfrm>
          <a:prstGeom prst="rect">
            <a:avLst/>
          </a:prstGeom>
          <a:noFill/>
          <a:ln/>
        </p:spPr>
        <p:txBody>
          <a:bodyPr wrap="square" lIns="0" tIns="0" rIns="0" bIns="0" rtlCol="0" anchor="t"/>
          <a:lstStyle/>
          <a:p>
            <a:pPr marL="0" indent="0">
              <a:buNone/>
            </a:pPr>
            <a:r>
              <a:rPr lang="en-US" sz="1050">
                <a:solidFill>
                  <a:srgbClr val="E2E8F0"/>
                </a:solidFill>
                <a:latin typeface="Calibri" pitchFamily="34" charset="0"/>
                <a:ea typeface="Calibri" pitchFamily="34" charset="-122"/>
                <a:cs typeface="Calibri" pitchFamily="34" charset="-120"/>
              </a:rPr>
              <a:t>Adding an attacker-controlled public key for later passwordless access</a:t>
            </a:r>
            <a:endParaRPr lang="en-US" sz="1050"/>
          </a:p>
        </p:txBody>
      </p:sp>
      <p:sp>
        <p:nvSpPr>
          <p:cNvPr id="23" name="Shape 18"/>
          <p:cNvSpPr/>
          <p:nvPr/>
        </p:nvSpPr>
        <p:spPr>
          <a:xfrm>
            <a:off x="6492240" y="4983480"/>
            <a:ext cx="4846320" cy="868680"/>
          </a:xfrm>
          <a:prstGeom prst="rect">
            <a:avLst/>
          </a:prstGeom>
          <a:solidFill>
            <a:srgbClr val="0F1E38"/>
          </a:solidFill>
          <a:ln w="12700">
            <a:solidFill>
              <a:srgbClr val="00D9FF"/>
            </a:solidFill>
            <a:prstDash val="solid"/>
          </a:ln>
        </p:spPr>
        <p:txBody>
          <a:bodyPr/>
          <a:lstStyle/>
          <a:p>
            <a:endParaRPr lang="en-US"/>
          </a:p>
        </p:txBody>
      </p:sp>
      <p:pic>
        <p:nvPicPr>
          <p:cNvPr id="24" name="Image 3" descr="preencoded.png"/>
          <p:cNvPicPr>
            <a:picLocks noChangeAspect="1"/>
          </p:cNvPicPr>
          <p:nvPr/>
        </p:nvPicPr>
        <p:blipFill>
          <a:blip r:embed="rId6"/>
          <a:stretch>
            <a:fillRect/>
          </a:stretch>
        </p:blipFill>
        <p:spPr>
          <a:xfrm>
            <a:off x="6629400" y="5193792"/>
            <a:ext cx="457200" cy="457200"/>
          </a:xfrm>
          <a:prstGeom prst="rect">
            <a:avLst/>
          </a:prstGeom>
        </p:spPr>
      </p:pic>
      <p:sp>
        <p:nvSpPr>
          <p:cNvPr id="25" name="Text 19"/>
          <p:cNvSpPr/>
          <p:nvPr/>
        </p:nvSpPr>
        <p:spPr>
          <a:xfrm>
            <a:off x="7269480" y="5074920"/>
            <a:ext cx="4023360" cy="292608"/>
          </a:xfrm>
          <a:prstGeom prst="rect">
            <a:avLst/>
          </a:prstGeom>
          <a:noFill/>
          <a:ln/>
        </p:spPr>
        <p:txBody>
          <a:bodyPr wrap="square" lIns="0" tIns="0" rIns="0" bIns="0" rtlCol="0" anchor="ctr"/>
          <a:lstStyle/>
          <a:p>
            <a:pPr marL="0" indent="0">
              <a:buNone/>
            </a:pPr>
            <a:r>
              <a:rPr lang="en-US" sz="1300" b="1">
                <a:solidFill>
                  <a:srgbClr val="FFFFFF"/>
                </a:solidFill>
                <a:latin typeface="Calibri" pitchFamily="34" charset="0"/>
                <a:ea typeface="Calibri" pitchFamily="34" charset="-122"/>
                <a:cs typeface="Calibri" pitchFamily="34" charset="-120"/>
              </a:rPr>
              <a:t>Configuration backdoor</a:t>
            </a:r>
            <a:endParaRPr lang="en-US" sz="1300"/>
          </a:p>
        </p:txBody>
      </p:sp>
      <p:sp>
        <p:nvSpPr>
          <p:cNvPr id="26" name="Text 20"/>
          <p:cNvSpPr/>
          <p:nvPr/>
        </p:nvSpPr>
        <p:spPr>
          <a:xfrm>
            <a:off x="7269480" y="5367528"/>
            <a:ext cx="4023360" cy="457200"/>
          </a:xfrm>
          <a:prstGeom prst="rect">
            <a:avLst/>
          </a:prstGeom>
          <a:noFill/>
          <a:ln/>
        </p:spPr>
        <p:txBody>
          <a:bodyPr wrap="square" lIns="0" tIns="0" rIns="0" bIns="0" rtlCol="0" anchor="t"/>
          <a:lstStyle/>
          <a:p>
            <a:pPr marL="0" indent="0">
              <a:buNone/>
            </a:pPr>
            <a:r>
              <a:rPr lang="en-US" sz="1050">
                <a:solidFill>
                  <a:srgbClr val="E2E8F0"/>
                </a:solidFill>
                <a:latin typeface="Calibri" pitchFamily="34" charset="0"/>
                <a:ea typeface="Calibri" pitchFamily="34" charset="-122"/>
                <a:cs typeface="Calibri" pitchFamily="34" charset="-120"/>
              </a:rPr>
              <a:t>Modifying sshd_config or sudoers to create an invisible administrator</a:t>
            </a:r>
            <a:endParaRPr lang="en-US" sz="1050"/>
          </a:p>
        </p:txBody>
      </p:sp>
      <p:sp>
        <p:nvSpPr>
          <p:cNvPr id="27" name="Text 21"/>
          <p:cNvSpPr/>
          <p:nvPr/>
        </p:nvSpPr>
        <p:spPr>
          <a:xfrm>
            <a:off x="365760" y="6537960"/>
            <a:ext cx="4572000" cy="228600"/>
          </a:xfrm>
          <a:prstGeom prst="rect">
            <a:avLst/>
          </a:prstGeom>
          <a:noFill/>
          <a:ln/>
        </p:spPr>
        <p:txBody>
          <a:bodyPr wrap="square" lIns="0" tIns="0" rIns="0" bIns="0" rtlCol="0" anchor="ctr"/>
          <a:lstStyle/>
          <a:p>
            <a:pPr marL="0" indent="0" algn="l">
              <a:buNone/>
            </a:pPr>
            <a:r>
              <a:rPr lang="en-US" sz="900">
                <a:solidFill>
                  <a:srgbClr val="94A3B8"/>
                </a:solidFill>
                <a:latin typeface="Calibri" pitchFamily="34" charset="0"/>
                <a:ea typeface="Calibri" pitchFamily="34" charset="-122"/>
                <a:cs typeface="Calibri" pitchFamily="34" charset="-120"/>
              </a:rPr>
              <a:t>Incident Handling Lab  |  Elastic SIEM</a:t>
            </a:r>
            <a:endParaRPr lang="en-US" sz="900"/>
          </a:p>
        </p:txBody>
      </p:sp>
      <p:sp>
        <p:nvSpPr>
          <p:cNvPr id="28" name="Text 22"/>
          <p:cNvSpPr/>
          <p:nvPr/>
        </p:nvSpPr>
        <p:spPr>
          <a:xfrm>
            <a:off x="11094415" y="6537960"/>
            <a:ext cx="914400" cy="228600"/>
          </a:xfrm>
          <a:prstGeom prst="rect">
            <a:avLst/>
          </a:prstGeom>
          <a:noFill/>
          <a:ln/>
        </p:spPr>
        <p:txBody>
          <a:bodyPr wrap="square" lIns="0" tIns="0" rIns="0" bIns="0" rtlCol="0" anchor="ctr"/>
          <a:lstStyle/>
          <a:p>
            <a:pPr marL="0" indent="0" algn="r">
              <a:buNone/>
            </a:pPr>
            <a:r>
              <a:rPr lang="en-US" sz="900">
                <a:solidFill>
                  <a:srgbClr val="94A3B8"/>
                </a:solidFill>
                <a:latin typeface="Calibri" pitchFamily="34" charset="0"/>
                <a:ea typeface="Calibri" pitchFamily="34" charset="-122"/>
                <a:cs typeface="Calibri" pitchFamily="34" charset="-120"/>
              </a:rPr>
              <a:t>19 / 29</a:t>
            </a:r>
            <a:endParaRPr lang="en-US" sz="9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65760" y="457200"/>
            <a:ext cx="109728" cy="731520"/>
          </a:xfrm>
          <a:prstGeom prst="rect">
            <a:avLst/>
          </a:prstGeom>
          <a:solidFill>
            <a:srgbClr val="00D9FF"/>
          </a:solidFill>
          <a:ln/>
        </p:spPr>
        <p:txBody>
          <a:bodyPr/>
          <a:lstStyle/>
          <a:p>
            <a:endParaRPr lang="en-US"/>
          </a:p>
        </p:txBody>
      </p:sp>
      <p:sp>
        <p:nvSpPr>
          <p:cNvPr id="3" name="Text 1"/>
          <p:cNvSpPr/>
          <p:nvPr/>
        </p:nvSpPr>
        <p:spPr>
          <a:xfrm>
            <a:off x="640080" y="411480"/>
            <a:ext cx="10515600" cy="502920"/>
          </a:xfrm>
          <a:prstGeom prst="rect">
            <a:avLst/>
          </a:prstGeom>
          <a:noFill/>
          <a:ln/>
        </p:spPr>
        <p:txBody>
          <a:bodyPr wrap="square" lIns="0" tIns="0" rIns="0" bIns="0" rtlCol="0" anchor="t"/>
          <a:lstStyle/>
          <a:p>
            <a:pPr marL="0" indent="0">
              <a:buNone/>
            </a:pPr>
            <a:r>
              <a:rPr lang="en-US" sz="2800" b="1">
                <a:solidFill>
                  <a:srgbClr val="0F172A"/>
                </a:solidFill>
                <a:latin typeface="Calibri" pitchFamily="34" charset="0"/>
                <a:ea typeface="Calibri" pitchFamily="34" charset="-122"/>
                <a:cs typeface="Calibri" pitchFamily="34" charset="-120"/>
              </a:rPr>
              <a:t>Task 3 — Auditd on the Ubuntu Fleet Server/Set Audit Rule</a:t>
            </a:r>
            <a:endParaRPr lang="en-US" sz="2800"/>
          </a:p>
        </p:txBody>
      </p:sp>
      <p:sp>
        <p:nvSpPr>
          <p:cNvPr id="4" name="Text 2"/>
          <p:cNvSpPr/>
          <p:nvPr/>
        </p:nvSpPr>
        <p:spPr>
          <a:xfrm>
            <a:off x="640080" y="868680"/>
            <a:ext cx="10515600" cy="320040"/>
          </a:xfrm>
          <a:prstGeom prst="rect">
            <a:avLst/>
          </a:prstGeom>
          <a:noFill/>
          <a:ln/>
        </p:spPr>
        <p:txBody>
          <a:bodyPr wrap="square" lIns="0" tIns="0" rIns="0" bIns="0" rtlCol="0" anchor="t"/>
          <a:lstStyle/>
          <a:p>
            <a:pPr marL="0" indent="0">
              <a:buNone/>
            </a:pPr>
            <a:r>
              <a:rPr lang="en-US" sz="1300" i="1">
                <a:solidFill>
                  <a:srgbClr val="475569"/>
                </a:solidFill>
                <a:latin typeface="Calibri" pitchFamily="34" charset="0"/>
                <a:ea typeface="Calibri" pitchFamily="34" charset="-122"/>
                <a:cs typeface="Calibri" pitchFamily="34" charset="-120"/>
              </a:rPr>
              <a:t>Custom rules targeting high-value files</a:t>
            </a:r>
          </a:p>
          <a:p>
            <a:r>
              <a:rPr lang="en-US" sz="1600" i="1">
                <a:solidFill>
                  <a:srgbClr val="555555"/>
                </a:solidFill>
                <a:highlight>
                  <a:srgbClr val="FFFFFF"/>
                </a:highlight>
                <a:latin typeface="Times New Roman"/>
                <a:ea typeface="Calibri"/>
                <a:cs typeface="Times New Roman"/>
              </a:rPr>
              <a:t>The exact </a:t>
            </a:r>
            <a:r>
              <a:rPr lang="en-US" sz="1600" i="1" err="1">
                <a:solidFill>
                  <a:srgbClr val="555555"/>
                </a:solidFill>
                <a:highlight>
                  <a:srgbClr val="FFFFFF"/>
                </a:highlight>
                <a:latin typeface="Times New Roman"/>
                <a:ea typeface="Calibri"/>
                <a:cs typeface="Times New Roman"/>
              </a:rPr>
              <a:t>Auditd</a:t>
            </a:r>
            <a:r>
              <a:rPr lang="en-US" sz="1600" i="1">
                <a:solidFill>
                  <a:srgbClr val="555555"/>
                </a:solidFill>
                <a:highlight>
                  <a:srgbClr val="FFFFFF"/>
                </a:highlight>
                <a:latin typeface="Times New Roman"/>
                <a:ea typeface="Calibri"/>
                <a:cs typeface="Times New Roman"/>
              </a:rPr>
              <a:t> rule syntax showing the file path being monitored and the key identifier assigned to the rule for filtering in log searches</a:t>
            </a:r>
            <a:endParaRPr lang="en-US" sz="1400">
              <a:ea typeface="Calibri" panose="020F0502020204030204"/>
              <a:cs typeface="Calibri" panose="020F0502020204030204"/>
            </a:endParaRPr>
          </a:p>
        </p:txBody>
      </p:sp>
      <p:pic>
        <p:nvPicPr>
          <p:cNvPr id="5" name="Image 0" descr="/home/claude/report/screenshots/fig_auditd_install.png"/>
          <p:cNvPicPr>
            <a:picLocks noChangeAspect="1"/>
          </p:cNvPicPr>
          <p:nvPr/>
        </p:nvPicPr>
        <p:blipFill>
          <a:blip r:embed="rId3"/>
          <a:srcRect/>
          <a:stretch/>
        </p:blipFill>
        <p:spPr>
          <a:xfrm>
            <a:off x="536171" y="1579418"/>
            <a:ext cx="5029200" cy="4846320"/>
          </a:xfrm>
          <a:prstGeom prst="rect">
            <a:avLst/>
          </a:prstGeom>
        </p:spPr>
      </p:pic>
      <p:sp>
        <p:nvSpPr>
          <p:cNvPr id="6" name="Shape 3"/>
          <p:cNvSpPr/>
          <p:nvPr/>
        </p:nvSpPr>
        <p:spPr>
          <a:xfrm>
            <a:off x="5896495" y="1579418"/>
            <a:ext cx="5486400" cy="4846320"/>
          </a:xfrm>
          <a:prstGeom prst="rect">
            <a:avLst/>
          </a:prstGeom>
          <a:solidFill>
            <a:srgbClr val="0A1628"/>
          </a:solidFill>
          <a:ln/>
        </p:spPr>
        <p:txBody>
          <a:bodyPr/>
          <a:lstStyle/>
          <a:p>
            <a:endParaRPr lang="en-US"/>
          </a:p>
        </p:txBody>
      </p:sp>
      <p:sp>
        <p:nvSpPr>
          <p:cNvPr id="7" name="Text 4"/>
          <p:cNvSpPr/>
          <p:nvPr/>
        </p:nvSpPr>
        <p:spPr>
          <a:xfrm>
            <a:off x="6263640" y="1554480"/>
            <a:ext cx="5029200" cy="274320"/>
          </a:xfrm>
          <a:prstGeom prst="rect">
            <a:avLst/>
          </a:prstGeom>
          <a:noFill/>
          <a:ln/>
        </p:spPr>
        <p:txBody>
          <a:bodyPr wrap="square" lIns="0" tIns="0" rIns="0" bIns="0" rtlCol="0" anchor="ctr"/>
          <a:lstStyle/>
          <a:p>
            <a:pPr marL="0" indent="0">
              <a:buNone/>
            </a:pPr>
            <a:r>
              <a:rPr lang="en-US" sz="1100" b="1" kern="0" spc="300">
                <a:solidFill>
                  <a:srgbClr val="00D9FF"/>
                </a:solidFill>
                <a:latin typeface="Calibri" pitchFamily="34" charset="0"/>
                <a:ea typeface="Calibri" pitchFamily="34" charset="-122"/>
                <a:cs typeface="Calibri" pitchFamily="34" charset="-120"/>
              </a:rPr>
              <a:t>CUSTOM AUDIT RULE SET</a:t>
            </a:r>
            <a:endParaRPr lang="en-US" sz="1100"/>
          </a:p>
        </p:txBody>
      </p:sp>
      <p:sp>
        <p:nvSpPr>
          <p:cNvPr id="8" name="Text 5"/>
          <p:cNvSpPr/>
          <p:nvPr/>
        </p:nvSpPr>
        <p:spPr>
          <a:xfrm>
            <a:off x="6263640" y="1828800"/>
            <a:ext cx="5029200" cy="274320"/>
          </a:xfrm>
          <a:prstGeom prst="rect">
            <a:avLst/>
          </a:prstGeom>
          <a:noFill/>
          <a:ln/>
        </p:spPr>
        <p:txBody>
          <a:bodyPr wrap="square" lIns="0" tIns="0" rIns="0" bIns="0" rtlCol="0" anchor="ctr"/>
          <a:lstStyle/>
          <a:p>
            <a:pPr marL="0" indent="0">
              <a:buNone/>
            </a:pPr>
            <a:r>
              <a:rPr lang="en-US" sz="1100" i="1">
                <a:solidFill>
                  <a:srgbClr val="E2E8F0"/>
                </a:solidFill>
                <a:latin typeface="Consolas" pitchFamily="34" charset="0"/>
                <a:ea typeface="Consolas" pitchFamily="34" charset="-122"/>
                <a:cs typeface="Consolas" pitchFamily="34" charset="-120"/>
              </a:rPr>
              <a:t>/etc/audit/rules.d/audit.rules</a:t>
            </a:r>
            <a:endParaRPr lang="en-US" sz="1100"/>
          </a:p>
        </p:txBody>
      </p:sp>
      <p:sp>
        <p:nvSpPr>
          <p:cNvPr id="9" name="Shape 6"/>
          <p:cNvSpPr/>
          <p:nvPr/>
        </p:nvSpPr>
        <p:spPr>
          <a:xfrm>
            <a:off x="6263640" y="2240280"/>
            <a:ext cx="5029200" cy="685800"/>
          </a:xfrm>
          <a:prstGeom prst="rect">
            <a:avLst/>
          </a:prstGeom>
          <a:solidFill>
            <a:srgbClr val="0F1E38"/>
          </a:solidFill>
          <a:ln/>
        </p:spPr>
        <p:txBody>
          <a:bodyPr lIns="91440" tIns="45720" rIns="91440" bIns="45720" anchor="t"/>
          <a:lstStyle/>
          <a:p>
            <a:endParaRPr lang="en-US"/>
          </a:p>
          <a:p>
            <a:r>
              <a:rPr lang="en-US" sz="1200">
                <a:solidFill>
                  <a:schemeClr val="bg1"/>
                </a:solidFill>
                <a:latin typeface="Aptos"/>
                <a:ea typeface="Calibri"/>
                <a:cs typeface="Calibri"/>
              </a:rPr>
              <a:t>this watches if any user account information changes </a:t>
            </a:r>
            <a:endParaRPr lang="en-US">
              <a:solidFill>
                <a:schemeClr val="bg1"/>
              </a:solidFill>
            </a:endParaRPr>
          </a:p>
        </p:txBody>
      </p:sp>
      <p:sp>
        <p:nvSpPr>
          <p:cNvPr id="10" name="Shape 7"/>
          <p:cNvSpPr/>
          <p:nvPr/>
        </p:nvSpPr>
        <p:spPr>
          <a:xfrm>
            <a:off x="6263640" y="2240280"/>
            <a:ext cx="73152" cy="685800"/>
          </a:xfrm>
          <a:prstGeom prst="rect">
            <a:avLst/>
          </a:prstGeom>
          <a:solidFill>
            <a:srgbClr val="00D9FF"/>
          </a:solidFill>
          <a:ln/>
        </p:spPr>
        <p:txBody>
          <a:bodyPr/>
          <a:lstStyle/>
          <a:p>
            <a:endParaRPr lang="en-US"/>
          </a:p>
        </p:txBody>
      </p:sp>
      <p:sp>
        <p:nvSpPr>
          <p:cNvPr id="11" name="Text 8"/>
          <p:cNvSpPr/>
          <p:nvPr/>
        </p:nvSpPr>
        <p:spPr>
          <a:xfrm>
            <a:off x="6400800" y="2237417"/>
            <a:ext cx="4846320" cy="292608"/>
          </a:xfrm>
          <a:prstGeom prst="rect">
            <a:avLst/>
          </a:prstGeom>
          <a:noFill/>
          <a:ln/>
        </p:spPr>
        <p:txBody>
          <a:bodyPr wrap="square" lIns="0" tIns="0" rIns="0" bIns="0" rtlCol="0" anchor="ctr"/>
          <a:lstStyle/>
          <a:p>
            <a:pPr marL="0" indent="0">
              <a:buNone/>
            </a:pPr>
            <a:r>
              <a:rPr lang="en-US" sz="1000" b="1">
                <a:solidFill>
                  <a:srgbClr val="00D9FF"/>
                </a:solidFill>
                <a:latin typeface="Consolas"/>
                <a:ea typeface="Consolas" pitchFamily="34" charset="-122"/>
                <a:cs typeface="Consolas" pitchFamily="34" charset="-120"/>
              </a:rPr>
              <a:t>-w /</a:t>
            </a:r>
            <a:r>
              <a:rPr lang="en-US" sz="1000" b="1" err="1">
                <a:solidFill>
                  <a:srgbClr val="00D9FF"/>
                </a:solidFill>
                <a:latin typeface="Consolas"/>
                <a:ea typeface="Consolas" pitchFamily="34" charset="-122"/>
                <a:cs typeface="Consolas" pitchFamily="34" charset="-120"/>
              </a:rPr>
              <a:t>etc</a:t>
            </a:r>
            <a:r>
              <a:rPr lang="en-US" sz="1000" b="1">
                <a:solidFill>
                  <a:srgbClr val="00D9FF"/>
                </a:solidFill>
                <a:latin typeface="Consolas"/>
                <a:ea typeface="Consolas" pitchFamily="34" charset="-122"/>
                <a:cs typeface="Consolas" pitchFamily="34" charset="-120"/>
              </a:rPr>
              <a:t>/passwd -p </a:t>
            </a:r>
            <a:r>
              <a:rPr lang="en-US" sz="1000" b="1" err="1">
                <a:solidFill>
                  <a:srgbClr val="00D9FF"/>
                </a:solidFill>
                <a:latin typeface="Consolas"/>
                <a:ea typeface="Consolas" pitchFamily="34" charset="-122"/>
                <a:cs typeface="Consolas" pitchFamily="34" charset="-120"/>
              </a:rPr>
              <a:t>wa</a:t>
            </a:r>
            <a:r>
              <a:rPr lang="en-US" sz="1000" b="1">
                <a:solidFill>
                  <a:srgbClr val="00D9FF"/>
                </a:solidFill>
                <a:latin typeface="Consolas"/>
                <a:ea typeface="Consolas" pitchFamily="34" charset="-122"/>
                <a:cs typeface="Consolas" pitchFamily="34" charset="-120"/>
              </a:rPr>
              <a:t> -k </a:t>
            </a:r>
            <a:r>
              <a:rPr lang="en-US" sz="1000" b="1" err="1">
                <a:solidFill>
                  <a:srgbClr val="00D9FF"/>
                </a:solidFill>
                <a:latin typeface="Consolas"/>
                <a:ea typeface="Consolas" pitchFamily="34" charset="-122"/>
                <a:cs typeface="Consolas" pitchFamily="34" charset="-120"/>
              </a:rPr>
              <a:t>passwd_changes</a:t>
            </a:r>
            <a:endParaRPr lang="en-US" sz="1000" err="1">
              <a:solidFill>
                <a:srgbClr val="000000"/>
              </a:solidFill>
              <a:latin typeface="Consolas"/>
              <a:ea typeface="Calibri"/>
              <a:cs typeface="Calibri"/>
            </a:endParaRPr>
          </a:p>
        </p:txBody>
      </p:sp>
      <p:sp>
        <p:nvSpPr>
          <p:cNvPr id="13" name="Shape 10"/>
          <p:cNvSpPr/>
          <p:nvPr/>
        </p:nvSpPr>
        <p:spPr>
          <a:xfrm>
            <a:off x="6263640" y="3017520"/>
            <a:ext cx="5029200" cy="685800"/>
          </a:xfrm>
          <a:prstGeom prst="rect">
            <a:avLst/>
          </a:prstGeom>
          <a:solidFill>
            <a:srgbClr val="0F1E38"/>
          </a:solidFill>
          <a:ln/>
        </p:spPr>
        <p:txBody>
          <a:bodyPr/>
          <a:lstStyle/>
          <a:p>
            <a:endParaRPr lang="en-US"/>
          </a:p>
        </p:txBody>
      </p:sp>
      <p:sp>
        <p:nvSpPr>
          <p:cNvPr id="14" name="Shape 11"/>
          <p:cNvSpPr/>
          <p:nvPr/>
        </p:nvSpPr>
        <p:spPr>
          <a:xfrm>
            <a:off x="6263640" y="3017520"/>
            <a:ext cx="73152" cy="685800"/>
          </a:xfrm>
          <a:prstGeom prst="rect">
            <a:avLst/>
          </a:prstGeom>
          <a:solidFill>
            <a:srgbClr val="00D9FF"/>
          </a:solidFill>
          <a:ln/>
        </p:spPr>
        <p:txBody>
          <a:bodyPr/>
          <a:lstStyle/>
          <a:p>
            <a:endParaRPr lang="en-US"/>
          </a:p>
        </p:txBody>
      </p:sp>
      <p:sp>
        <p:nvSpPr>
          <p:cNvPr id="15" name="Text 12"/>
          <p:cNvSpPr/>
          <p:nvPr/>
        </p:nvSpPr>
        <p:spPr>
          <a:xfrm>
            <a:off x="6400800" y="3072384"/>
            <a:ext cx="4846320" cy="292608"/>
          </a:xfrm>
          <a:prstGeom prst="rect">
            <a:avLst/>
          </a:prstGeom>
          <a:noFill/>
          <a:ln/>
        </p:spPr>
        <p:txBody>
          <a:bodyPr wrap="square" lIns="0" tIns="0" rIns="0" bIns="0" rtlCol="0" anchor="ctr"/>
          <a:lstStyle/>
          <a:p>
            <a:pPr marL="0" indent="0">
              <a:buNone/>
            </a:pPr>
            <a:r>
              <a:rPr lang="en-US" sz="1000" b="1">
                <a:solidFill>
                  <a:srgbClr val="00D9FF"/>
                </a:solidFill>
                <a:latin typeface="Consolas" pitchFamily="34" charset="0"/>
                <a:ea typeface="Consolas" pitchFamily="34" charset="-122"/>
                <a:cs typeface="Consolas" pitchFamily="34" charset="-120"/>
              </a:rPr>
              <a:t>-w /etc/shadow -p wa -k shadow_changes</a:t>
            </a:r>
            <a:endParaRPr lang="en-US" sz="1000"/>
          </a:p>
        </p:txBody>
      </p:sp>
      <p:sp>
        <p:nvSpPr>
          <p:cNvPr id="16" name="Text 13"/>
          <p:cNvSpPr/>
          <p:nvPr/>
        </p:nvSpPr>
        <p:spPr>
          <a:xfrm>
            <a:off x="6400800" y="3364992"/>
            <a:ext cx="4846320" cy="292608"/>
          </a:xfrm>
          <a:prstGeom prst="rect">
            <a:avLst/>
          </a:prstGeom>
          <a:noFill/>
          <a:ln/>
        </p:spPr>
        <p:txBody>
          <a:bodyPr wrap="square" lIns="0" tIns="0" rIns="0" bIns="0" rtlCol="0" anchor="ctr"/>
          <a:lstStyle/>
          <a:p>
            <a:pPr marL="0" indent="0">
              <a:buNone/>
            </a:pPr>
            <a:r>
              <a:rPr lang="en-US" sz="1200" b="0" i="0" u="none" strike="noStrike" baseline="0">
                <a:solidFill>
                  <a:srgbClr val="FFFFFF"/>
                </a:solidFill>
                <a:latin typeface="Aptos"/>
              </a:rPr>
              <a:t>this watches if password/security-related changes</a:t>
            </a:r>
            <a:endParaRPr lang="en-US" sz="1050">
              <a:solidFill>
                <a:srgbClr val="E2E8F0"/>
              </a:solidFill>
              <a:ea typeface="Calibri"/>
              <a:cs typeface="Calibri"/>
            </a:endParaRPr>
          </a:p>
        </p:txBody>
      </p:sp>
      <p:sp>
        <p:nvSpPr>
          <p:cNvPr id="17" name="Shape 14"/>
          <p:cNvSpPr/>
          <p:nvPr/>
        </p:nvSpPr>
        <p:spPr>
          <a:xfrm>
            <a:off x="6263640" y="3794760"/>
            <a:ext cx="5029200" cy="685800"/>
          </a:xfrm>
          <a:prstGeom prst="rect">
            <a:avLst/>
          </a:prstGeom>
          <a:solidFill>
            <a:srgbClr val="0F1E38"/>
          </a:solidFill>
          <a:ln/>
        </p:spPr>
        <p:txBody>
          <a:bodyPr/>
          <a:lstStyle/>
          <a:p>
            <a:endParaRPr lang="en-US"/>
          </a:p>
        </p:txBody>
      </p:sp>
      <p:sp>
        <p:nvSpPr>
          <p:cNvPr id="18" name="Shape 15"/>
          <p:cNvSpPr/>
          <p:nvPr/>
        </p:nvSpPr>
        <p:spPr>
          <a:xfrm>
            <a:off x="6263640" y="3794760"/>
            <a:ext cx="73152" cy="685800"/>
          </a:xfrm>
          <a:prstGeom prst="rect">
            <a:avLst/>
          </a:prstGeom>
          <a:solidFill>
            <a:srgbClr val="00D9FF"/>
          </a:solidFill>
          <a:ln/>
        </p:spPr>
        <p:txBody>
          <a:bodyPr/>
          <a:lstStyle/>
          <a:p>
            <a:endParaRPr lang="en-US"/>
          </a:p>
        </p:txBody>
      </p:sp>
      <p:sp>
        <p:nvSpPr>
          <p:cNvPr id="19" name="Text 16"/>
          <p:cNvSpPr/>
          <p:nvPr/>
        </p:nvSpPr>
        <p:spPr>
          <a:xfrm>
            <a:off x="6400800" y="3849624"/>
            <a:ext cx="4846320" cy="292608"/>
          </a:xfrm>
          <a:prstGeom prst="rect">
            <a:avLst/>
          </a:prstGeom>
          <a:noFill/>
          <a:ln/>
        </p:spPr>
        <p:txBody>
          <a:bodyPr wrap="square" lIns="0" tIns="0" rIns="0" bIns="0" rtlCol="0" anchor="ctr"/>
          <a:lstStyle/>
          <a:p>
            <a:pPr marL="0" indent="0">
              <a:buNone/>
            </a:pPr>
            <a:r>
              <a:rPr lang="en-US" sz="1000" b="1">
                <a:solidFill>
                  <a:srgbClr val="00D9FF"/>
                </a:solidFill>
                <a:latin typeface="Consolas" pitchFamily="34" charset="0"/>
                <a:ea typeface="Consolas" pitchFamily="34" charset="-122"/>
                <a:cs typeface="Consolas" pitchFamily="34" charset="-120"/>
              </a:rPr>
              <a:t>-w /etc/ssh/sshd_config -p wa -k sshd</a:t>
            </a:r>
            <a:endParaRPr lang="en-US" sz="1000"/>
          </a:p>
        </p:txBody>
      </p:sp>
      <p:sp>
        <p:nvSpPr>
          <p:cNvPr id="20" name="Text 17"/>
          <p:cNvSpPr/>
          <p:nvPr/>
        </p:nvSpPr>
        <p:spPr>
          <a:xfrm>
            <a:off x="6400800" y="4142232"/>
            <a:ext cx="4846320" cy="292608"/>
          </a:xfrm>
          <a:prstGeom prst="rect">
            <a:avLst/>
          </a:prstGeom>
          <a:noFill/>
          <a:ln/>
        </p:spPr>
        <p:txBody>
          <a:bodyPr wrap="square" lIns="0" tIns="0" rIns="0" bIns="0" rtlCol="0" anchor="ctr"/>
          <a:lstStyle/>
          <a:p>
            <a:pPr marL="0" indent="0">
              <a:buNone/>
            </a:pPr>
            <a:r>
              <a:rPr lang="en-US" sz="1050">
                <a:solidFill>
                  <a:srgbClr val="E2E8F0"/>
                </a:solidFill>
                <a:latin typeface="Calibri" pitchFamily="34" charset="0"/>
                <a:ea typeface="Calibri" pitchFamily="34" charset="-122"/>
                <a:cs typeface="Calibri" pitchFamily="34" charset="-120"/>
              </a:rPr>
              <a:t>SSH daemon configuration tampering</a:t>
            </a:r>
            <a:endParaRPr lang="en-US" sz="1050"/>
          </a:p>
        </p:txBody>
      </p:sp>
      <p:sp>
        <p:nvSpPr>
          <p:cNvPr id="21" name="Shape 18"/>
          <p:cNvSpPr/>
          <p:nvPr/>
        </p:nvSpPr>
        <p:spPr>
          <a:xfrm>
            <a:off x="6263640" y="4572000"/>
            <a:ext cx="5029200" cy="685800"/>
          </a:xfrm>
          <a:prstGeom prst="rect">
            <a:avLst/>
          </a:prstGeom>
          <a:solidFill>
            <a:srgbClr val="0F1E38"/>
          </a:solidFill>
          <a:ln/>
        </p:spPr>
        <p:txBody>
          <a:bodyPr/>
          <a:lstStyle/>
          <a:p>
            <a:endParaRPr lang="en-US"/>
          </a:p>
        </p:txBody>
      </p:sp>
      <p:sp>
        <p:nvSpPr>
          <p:cNvPr id="22" name="Shape 19"/>
          <p:cNvSpPr/>
          <p:nvPr/>
        </p:nvSpPr>
        <p:spPr>
          <a:xfrm>
            <a:off x="6263640" y="4572000"/>
            <a:ext cx="73152" cy="685800"/>
          </a:xfrm>
          <a:prstGeom prst="rect">
            <a:avLst/>
          </a:prstGeom>
          <a:solidFill>
            <a:srgbClr val="00D9FF"/>
          </a:solidFill>
          <a:ln/>
        </p:spPr>
        <p:txBody>
          <a:bodyPr/>
          <a:lstStyle/>
          <a:p>
            <a:endParaRPr lang="en-US"/>
          </a:p>
        </p:txBody>
      </p:sp>
      <p:sp>
        <p:nvSpPr>
          <p:cNvPr id="23" name="Text 20"/>
          <p:cNvSpPr/>
          <p:nvPr/>
        </p:nvSpPr>
        <p:spPr>
          <a:xfrm>
            <a:off x="6400800" y="4626864"/>
            <a:ext cx="4846320" cy="292608"/>
          </a:xfrm>
          <a:prstGeom prst="rect">
            <a:avLst/>
          </a:prstGeom>
          <a:noFill/>
          <a:ln/>
        </p:spPr>
        <p:txBody>
          <a:bodyPr wrap="square" lIns="0" tIns="0" rIns="0" bIns="0" rtlCol="0" anchor="ctr"/>
          <a:lstStyle/>
          <a:p>
            <a:pPr marL="0" indent="0">
              <a:buNone/>
            </a:pPr>
            <a:r>
              <a:rPr lang="en-US" sz="1000" b="1">
                <a:solidFill>
                  <a:srgbClr val="00D9FF"/>
                </a:solidFill>
                <a:latin typeface="Consolas" pitchFamily="34" charset="0"/>
                <a:ea typeface="Consolas" pitchFamily="34" charset="-122"/>
                <a:cs typeface="Consolas" pitchFamily="34" charset="-120"/>
              </a:rPr>
              <a:t>-w /usr/bin/sudo -p x -k sudo_commands</a:t>
            </a:r>
            <a:endParaRPr lang="en-US" sz="1000"/>
          </a:p>
        </p:txBody>
      </p:sp>
      <p:sp>
        <p:nvSpPr>
          <p:cNvPr id="24" name="Text 21"/>
          <p:cNvSpPr/>
          <p:nvPr/>
        </p:nvSpPr>
        <p:spPr>
          <a:xfrm>
            <a:off x="6400800" y="4919472"/>
            <a:ext cx="4846320" cy="292608"/>
          </a:xfrm>
          <a:prstGeom prst="rect">
            <a:avLst/>
          </a:prstGeom>
          <a:noFill/>
          <a:ln/>
        </p:spPr>
        <p:txBody>
          <a:bodyPr wrap="square" lIns="0" tIns="0" rIns="0" bIns="0" rtlCol="0" anchor="ctr"/>
          <a:lstStyle/>
          <a:p>
            <a:pPr marL="0" indent="0">
              <a:buNone/>
            </a:pPr>
            <a:r>
              <a:rPr lang="en-US" sz="1050">
                <a:solidFill>
                  <a:srgbClr val="E2E8F0"/>
                </a:solidFill>
                <a:latin typeface="Calibri" pitchFamily="34" charset="0"/>
                <a:ea typeface="Calibri" pitchFamily="34" charset="-122"/>
                <a:cs typeface="Calibri" pitchFamily="34" charset="-120"/>
              </a:rPr>
              <a:t>Every sudo invocation</a:t>
            </a:r>
            <a:endParaRPr lang="en-US" sz="1050"/>
          </a:p>
        </p:txBody>
      </p:sp>
      <p:sp>
        <p:nvSpPr>
          <p:cNvPr id="25" name="Shape 22"/>
          <p:cNvSpPr/>
          <p:nvPr/>
        </p:nvSpPr>
        <p:spPr>
          <a:xfrm>
            <a:off x="6263640" y="5349240"/>
            <a:ext cx="5029200" cy="685800"/>
          </a:xfrm>
          <a:prstGeom prst="rect">
            <a:avLst/>
          </a:prstGeom>
          <a:solidFill>
            <a:srgbClr val="0F1E38"/>
          </a:solidFill>
          <a:ln/>
        </p:spPr>
        <p:txBody>
          <a:bodyPr/>
          <a:lstStyle/>
          <a:p>
            <a:endParaRPr lang="en-US"/>
          </a:p>
        </p:txBody>
      </p:sp>
      <p:sp>
        <p:nvSpPr>
          <p:cNvPr id="26" name="Shape 23"/>
          <p:cNvSpPr/>
          <p:nvPr/>
        </p:nvSpPr>
        <p:spPr>
          <a:xfrm>
            <a:off x="6263640" y="5349240"/>
            <a:ext cx="73152" cy="685800"/>
          </a:xfrm>
          <a:prstGeom prst="rect">
            <a:avLst/>
          </a:prstGeom>
          <a:solidFill>
            <a:srgbClr val="00D9FF"/>
          </a:solidFill>
          <a:ln/>
        </p:spPr>
        <p:txBody>
          <a:bodyPr/>
          <a:lstStyle/>
          <a:p>
            <a:endParaRPr lang="en-US"/>
          </a:p>
        </p:txBody>
      </p:sp>
      <p:sp>
        <p:nvSpPr>
          <p:cNvPr id="27" name="Text 24"/>
          <p:cNvSpPr/>
          <p:nvPr/>
        </p:nvSpPr>
        <p:spPr>
          <a:xfrm>
            <a:off x="6400800" y="5404104"/>
            <a:ext cx="4846320" cy="292608"/>
          </a:xfrm>
          <a:prstGeom prst="rect">
            <a:avLst/>
          </a:prstGeom>
          <a:noFill/>
          <a:ln/>
        </p:spPr>
        <p:txBody>
          <a:bodyPr wrap="square" lIns="0" tIns="0" rIns="0" bIns="0" rtlCol="0" anchor="ctr"/>
          <a:lstStyle/>
          <a:p>
            <a:pPr marL="0" indent="0">
              <a:buNone/>
            </a:pPr>
            <a:r>
              <a:rPr lang="en-US" sz="1000" b="1">
                <a:solidFill>
                  <a:srgbClr val="00D9FF"/>
                </a:solidFill>
                <a:latin typeface="Consolas" pitchFamily="34" charset="0"/>
                <a:ea typeface="Consolas" pitchFamily="34" charset="-122"/>
                <a:cs typeface="Consolas" pitchFamily="34" charset="-120"/>
              </a:rPr>
              <a:t>-a always,exit -F arch=b64 -S execve -F euid=0</a:t>
            </a:r>
            <a:endParaRPr lang="en-US" sz="1000"/>
          </a:p>
        </p:txBody>
      </p:sp>
      <p:sp>
        <p:nvSpPr>
          <p:cNvPr id="28" name="Text 25"/>
          <p:cNvSpPr/>
          <p:nvPr/>
        </p:nvSpPr>
        <p:spPr>
          <a:xfrm>
            <a:off x="6400800" y="5696712"/>
            <a:ext cx="4846320" cy="292608"/>
          </a:xfrm>
          <a:prstGeom prst="rect">
            <a:avLst/>
          </a:prstGeom>
          <a:noFill/>
          <a:ln/>
        </p:spPr>
        <p:txBody>
          <a:bodyPr wrap="square" lIns="0" tIns="0" rIns="0" bIns="0" rtlCol="0" anchor="ctr"/>
          <a:lstStyle/>
          <a:p>
            <a:pPr marL="0" indent="0">
              <a:buNone/>
            </a:pPr>
            <a:r>
              <a:rPr lang="en-US" sz="1050">
                <a:solidFill>
                  <a:srgbClr val="E2E8F0"/>
                </a:solidFill>
                <a:latin typeface="Calibri" pitchFamily="34" charset="0"/>
                <a:ea typeface="Calibri" pitchFamily="34" charset="-122"/>
                <a:cs typeface="Calibri" pitchFamily="34" charset="-120"/>
              </a:rPr>
              <a:t>Any command executed as root</a:t>
            </a:r>
            <a:endParaRPr lang="en-US" sz="1050"/>
          </a:p>
        </p:txBody>
      </p:sp>
      <p:sp>
        <p:nvSpPr>
          <p:cNvPr id="29" name="Text 26"/>
          <p:cNvSpPr/>
          <p:nvPr/>
        </p:nvSpPr>
        <p:spPr>
          <a:xfrm>
            <a:off x="365760" y="6537960"/>
            <a:ext cx="4572000" cy="228600"/>
          </a:xfrm>
          <a:prstGeom prst="rect">
            <a:avLst/>
          </a:prstGeom>
          <a:noFill/>
          <a:ln/>
        </p:spPr>
        <p:txBody>
          <a:bodyPr wrap="square" lIns="0" tIns="0" rIns="0" bIns="0" rtlCol="0" anchor="ctr"/>
          <a:lstStyle/>
          <a:p>
            <a:pPr marL="0" indent="0" algn="l">
              <a:buNone/>
            </a:pPr>
            <a:r>
              <a:rPr lang="en-US" sz="900">
                <a:solidFill>
                  <a:srgbClr val="94A3B8"/>
                </a:solidFill>
                <a:latin typeface="Calibri" pitchFamily="34" charset="0"/>
                <a:ea typeface="Calibri" pitchFamily="34" charset="-122"/>
                <a:cs typeface="Calibri" pitchFamily="34" charset="-120"/>
              </a:rPr>
              <a:t>Incident Handling Lab  |  Elastic SIEM</a:t>
            </a:r>
            <a:endParaRPr lang="en-US" sz="900"/>
          </a:p>
        </p:txBody>
      </p:sp>
      <p:sp>
        <p:nvSpPr>
          <p:cNvPr id="30" name="Text 27"/>
          <p:cNvSpPr/>
          <p:nvPr/>
        </p:nvSpPr>
        <p:spPr>
          <a:xfrm>
            <a:off x="11094415" y="6537960"/>
            <a:ext cx="914400" cy="228600"/>
          </a:xfrm>
          <a:prstGeom prst="rect">
            <a:avLst/>
          </a:prstGeom>
          <a:noFill/>
          <a:ln/>
        </p:spPr>
        <p:txBody>
          <a:bodyPr wrap="square" lIns="0" tIns="0" rIns="0" bIns="0" rtlCol="0" anchor="ctr"/>
          <a:lstStyle/>
          <a:p>
            <a:pPr marL="0" indent="0" algn="r">
              <a:buNone/>
            </a:pPr>
            <a:r>
              <a:rPr lang="en-US" sz="900">
                <a:solidFill>
                  <a:srgbClr val="94A3B8"/>
                </a:solidFill>
                <a:latin typeface="Calibri" pitchFamily="34" charset="0"/>
                <a:ea typeface="Calibri" pitchFamily="34" charset="-122"/>
                <a:cs typeface="Calibri" pitchFamily="34" charset="-120"/>
              </a:rPr>
              <a:t>20 / 29</a:t>
            </a:r>
            <a:endParaRPr lang="en-US" sz="900"/>
          </a:p>
        </p:txBody>
      </p:sp>
      <p:pic>
        <p:nvPicPr>
          <p:cNvPr id="1032" name="Picture 8" descr="Figure 4.19 — The exact Auditd rule syntax showing the file path being monitored and the key identifier assigned to the rule for filtering in log searches&#10;Figure 4.19 — The exact Auditd rule syntax showing the file path being monitored and the key identifier assigned to the rule for filtering in log searches">
            <a:extLst>
              <a:ext uri="{FF2B5EF4-FFF2-40B4-BE49-F238E27FC236}">
                <a16:creationId xmlns:a16="http://schemas.microsoft.com/office/drawing/2014/main" id="{25B62CD2-E639-DB96-E884-D99BB4B0368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52094" y="3918622"/>
            <a:ext cx="5051368" cy="198842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65760" y="457200"/>
            <a:ext cx="109728" cy="731520"/>
          </a:xfrm>
          <a:prstGeom prst="rect">
            <a:avLst/>
          </a:prstGeom>
          <a:solidFill>
            <a:srgbClr val="00D9FF"/>
          </a:solidFill>
          <a:ln/>
        </p:spPr>
        <p:txBody>
          <a:bodyPr/>
          <a:lstStyle/>
          <a:p>
            <a:endParaRPr lang="en-US"/>
          </a:p>
        </p:txBody>
      </p:sp>
      <p:sp>
        <p:nvSpPr>
          <p:cNvPr id="3" name="Text 1"/>
          <p:cNvSpPr/>
          <p:nvPr/>
        </p:nvSpPr>
        <p:spPr>
          <a:xfrm>
            <a:off x="640080" y="411480"/>
            <a:ext cx="10515600" cy="502920"/>
          </a:xfrm>
          <a:prstGeom prst="rect">
            <a:avLst/>
          </a:prstGeom>
          <a:noFill/>
          <a:ln/>
        </p:spPr>
        <p:txBody>
          <a:bodyPr wrap="square" lIns="0" tIns="0" rIns="0" bIns="0" rtlCol="0" anchor="t"/>
          <a:lstStyle/>
          <a:p>
            <a:pPr marL="0" indent="0">
              <a:buNone/>
            </a:pPr>
            <a:r>
              <a:rPr lang="en-US" sz="2800" b="1">
                <a:solidFill>
                  <a:srgbClr val="0F172A"/>
                </a:solidFill>
                <a:latin typeface="Calibri" pitchFamily="34" charset="0"/>
                <a:ea typeface="Calibri" pitchFamily="34" charset="-122"/>
                <a:cs typeface="Calibri" pitchFamily="34" charset="-120"/>
              </a:rPr>
              <a:t>Task 3 — Creating the Auditd Watch Rule</a:t>
            </a:r>
            <a:endParaRPr lang="en-US" sz="2800"/>
          </a:p>
        </p:txBody>
      </p:sp>
      <p:sp>
        <p:nvSpPr>
          <p:cNvPr id="4" name="Text 2"/>
          <p:cNvSpPr/>
          <p:nvPr/>
        </p:nvSpPr>
        <p:spPr>
          <a:xfrm>
            <a:off x="640080" y="868680"/>
            <a:ext cx="10515600" cy="320040"/>
          </a:xfrm>
          <a:prstGeom prst="rect">
            <a:avLst/>
          </a:prstGeom>
          <a:noFill/>
          <a:ln/>
        </p:spPr>
        <p:txBody>
          <a:bodyPr wrap="square" lIns="0" tIns="0" rIns="0" bIns="0" rtlCol="0" anchor="t"/>
          <a:lstStyle/>
          <a:p>
            <a:pPr marL="0" indent="0">
              <a:buNone/>
            </a:pPr>
            <a:r>
              <a:rPr lang="en-US" sz="1300" i="1">
                <a:solidFill>
                  <a:srgbClr val="475569"/>
                </a:solidFill>
                <a:latin typeface="Calibri" pitchFamily="34" charset="0"/>
                <a:ea typeface="Calibri" pitchFamily="34" charset="-122"/>
                <a:cs typeface="Calibri" pitchFamily="34" charset="-120"/>
              </a:rPr>
              <a:t>Editing, defining and loading the rule set on the Fleet Server</a:t>
            </a:r>
            <a:endParaRPr lang="en-US" sz="1300"/>
          </a:p>
        </p:txBody>
      </p:sp>
      <p:sp>
        <p:nvSpPr>
          <p:cNvPr id="20" name="Shape 16"/>
          <p:cNvSpPr/>
          <p:nvPr/>
        </p:nvSpPr>
        <p:spPr>
          <a:xfrm>
            <a:off x="410197" y="1408976"/>
            <a:ext cx="11371606" cy="45719"/>
          </a:xfrm>
          <a:prstGeom prst="rect">
            <a:avLst/>
          </a:prstGeom>
          <a:solidFill>
            <a:srgbClr val="00D9FF"/>
          </a:solidFill>
          <a:ln/>
        </p:spPr>
        <p:txBody>
          <a:bodyPr/>
          <a:lstStyle/>
          <a:p>
            <a:endParaRPr lang="en-US"/>
          </a:p>
        </p:txBody>
      </p:sp>
      <p:sp>
        <p:nvSpPr>
          <p:cNvPr id="22" name="Text 18"/>
          <p:cNvSpPr/>
          <p:nvPr/>
        </p:nvSpPr>
        <p:spPr>
          <a:xfrm>
            <a:off x="1680474" y="1637575"/>
            <a:ext cx="3149498" cy="362153"/>
          </a:xfrm>
          <a:prstGeom prst="rect">
            <a:avLst/>
          </a:prstGeom>
          <a:noFill/>
          <a:ln/>
        </p:spPr>
        <p:txBody>
          <a:bodyPr wrap="square" lIns="0" tIns="0" rIns="0" bIns="0" rtlCol="0" anchor="ctr"/>
          <a:lstStyle/>
          <a:p>
            <a:pPr marL="0" indent="0">
              <a:buNone/>
            </a:pPr>
            <a:r>
              <a:rPr lang="en-US" sz="1400" b="1">
                <a:solidFill>
                  <a:srgbClr val="0F172A"/>
                </a:solidFill>
                <a:latin typeface="Calibri" pitchFamily="34" charset="0"/>
                <a:ea typeface="Calibri" pitchFamily="34" charset="-122"/>
                <a:cs typeface="Calibri" pitchFamily="34" charset="-120"/>
              </a:rPr>
              <a:t>Rule applied and triggered</a:t>
            </a:r>
            <a:endParaRPr lang="en-US" sz="1400"/>
          </a:p>
        </p:txBody>
      </p:sp>
      <p:pic>
        <p:nvPicPr>
          <p:cNvPr id="24" name="Image 2" descr="/home/claude/report/screenshots/fig_420_rule_applied.png"/>
          <p:cNvPicPr>
            <a:picLocks noChangeAspect="1"/>
          </p:cNvPicPr>
          <p:nvPr/>
        </p:nvPicPr>
        <p:blipFill>
          <a:blip r:embed="rId3"/>
          <a:srcRect/>
          <a:stretch/>
        </p:blipFill>
        <p:spPr>
          <a:xfrm>
            <a:off x="535067" y="2175870"/>
            <a:ext cx="6379079" cy="3163423"/>
          </a:xfrm>
          <a:prstGeom prst="rect">
            <a:avLst/>
          </a:prstGeom>
        </p:spPr>
      </p:pic>
      <p:sp>
        <p:nvSpPr>
          <p:cNvPr id="25" name="Text 20"/>
          <p:cNvSpPr/>
          <p:nvPr/>
        </p:nvSpPr>
        <p:spPr>
          <a:xfrm>
            <a:off x="7583167" y="2289729"/>
            <a:ext cx="3058058" cy="1467852"/>
          </a:xfrm>
          <a:prstGeom prst="rect">
            <a:avLst/>
          </a:prstGeom>
          <a:noFill/>
          <a:ln/>
        </p:spPr>
        <p:txBody>
          <a:bodyPr wrap="square" lIns="0" tIns="0" rIns="0" bIns="0" rtlCol="0" anchor="t"/>
          <a:lstStyle/>
          <a:p>
            <a:pPr marL="0" indent="0">
              <a:buNone/>
            </a:pPr>
            <a:r>
              <a:rPr lang="en-US" sz="1050" i="1">
                <a:solidFill>
                  <a:srgbClr val="475569"/>
                </a:solidFill>
                <a:latin typeface="Calibri" pitchFamily="34" charset="0"/>
                <a:ea typeface="Calibri" pitchFamily="34" charset="-122"/>
                <a:cs typeface="Calibri" pitchFamily="34" charset="-120"/>
              </a:rPr>
              <a:t>The rule is loaded into the active rule set. Running useradd and passwd generates events, and ausearch -k passwd_changes confirms the rule is capturing them.</a:t>
            </a:r>
          </a:p>
          <a:p>
            <a:pPr marL="0" indent="0">
              <a:buNone/>
            </a:pPr>
            <a:endParaRPr lang="en-US" sz="1050" i="1">
              <a:solidFill>
                <a:srgbClr val="475569"/>
              </a:solidFill>
              <a:latin typeface="Calibri" pitchFamily="34" charset="0"/>
              <a:ea typeface="Calibri" pitchFamily="34" charset="-122"/>
              <a:cs typeface="Calibri" pitchFamily="34" charset="-120"/>
            </a:endParaRPr>
          </a:p>
          <a:p>
            <a:r>
              <a:rPr lang="en-US" sz="1050" i="1">
                <a:solidFill>
                  <a:srgbClr val="475569"/>
                </a:solidFill>
                <a:latin typeface="Calibri" pitchFamily="34" charset="0"/>
                <a:ea typeface="Calibri" pitchFamily="34" charset="-122"/>
                <a:cs typeface="Calibri" pitchFamily="34" charset="-120"/>
              </a:rPr>
              <a:t>The Elastic Agent running on the Fleet Server picked up this new audit log entry and shipped it to Elasticsearch within seconds. </a:t>
            </a:r>
          </a:p>
        </p:txBody>
      </p:sp>
      <p:sp>
        <p:nvSpPr>
          <p:cNvPr id="26" name="Shape 21"/>
          <p:cNvSpPr/>
          <p:nvPr/>
        </p:nvSpPr>
        <p:spPr>
          <a:xfrm>
            <a:off x="640080" y="5989320"/>
            <a:ext cx="10911535" cy="365760"/>
          </a:xfrm>
          <a:prstGeom prst="rect">
            <a:avLst/>
          </a:prstGeom>
          <a:solidFill>
            <a:srgbClr val="0F1E38"/>
          </a:solidFill>
          <a:ln/>
        </p:spPr>
        <p:txBody>
          <a:bodyPr/>
          <a:lstStyle/>
          <a:p>
            <a:endParaRPr lang="en-US"/>
          </a:p>
        </p:txBody>
      </p:sp>
      <p:pic>
        <p:nvPicPr>
          <p:cNvPr id="27" name="Image 3" descr="preencoded.png"/>
          <p:cNvPicPr>
            <a:picLocks noChangeAspect="1"/>
          </p:cNvPicPr>
          <p:nvPr/>
        </p:nvPicPr>
        <p:blipFill>
          <a:blip r:embed="rId4"/>
          <a:stretch>
            <a:fillRect/>
          </a:stretch>
        </p:blipFill>
        <p:spPr>
          <a:xfrm>
            <a:off x="822960" y="6053328"/>
            <a:ext cx="237744" cy="237744"/>
          </a:xfrm>
          <a:prstGeom prst="rect">
            <a:avLst/>
          </a:prstGeom>
        </p:spPr>
      </p:pic>
      <p:sp>
        <p:nvSpPr>
          <p:cNvPr id="28" name="Text 22"/>
          <p:cNvSpPr/>
          <p:nvPr/>
        </p:nvSpPr>
        <p:spPr>
          <a:xfrm>
            <a:off x="1097280" y="5989320"/>
            <a:ext cx="10362895" cy="365760"/>
          </a:xfrm>
          <a:prstGeom prst="rect">
            <a:avLst/>
          </a:prstGeom>
          <a:noFill/>
          <a:ln/>
        </p:spPr>
        <p:txBody>
          <a:bodyPr wrap="square" lIns="0" tIns="0" rIns="0" bIns="0" rtlCol="0" anchor="ctr"/>
          <a:lstStyle/>
          <a:p>
            <a:pPr marL="0" indent="0">
              <a:buNone/>
            </a:pPr>
            <a:r>
              <a:rPr lang="en-US" sz="1200" i="1">
                <a:solidFill>
                  <a:srgbClr val="FFFFFF"/>
                </a:solidFill>
                <a:latin typeface="Calibri" pitchFamily="34" charset="0"/>
                <a:ea typeface="Calibri" pitchFamily="34" charset="-122"/>
                <a:cs typeface="Calibri" pitchFamily="34" charset="-120"/>
              </a:rPr>
              <a:t>Open the rule file, write the watch rules with keys, reload auditd and confirm the rules fire when the watched files change</a:t>
            </a:r>
            <a:endParaRPr lang="en-US" sz="1200"/>
          </a:p>
        </p:txBody>
      </p:sp>
      <p:sp>
        <p:nvSpPr>
          <p:cNvPr id="29" name="Text 23"/>
          <p:cNvSpPr/>
          <p:nvPr/>
        </p:nvSpPr>
        <p:spPr>
          <a:xfrm>
            <a:off x="365760" y="6537960"/>
            <a:ext cx="4572000" cy="228600"/>
          </a:xfrm>
          <a:prstGeom prst="rect">
            <a:avLst/>
          </a:prstGeom>
          <a:noFill/>
          <a:ln/>
        </p:spPr>
        <p:txBody>
          <a:bodyPr wrap="square" lIns="0" tIns="0" rIns="0" bIns="0" rtlCol="0" anchor="ctr"/>
          <a:lstStyle/>
          <a:p>
            <a:pPr marL="0" indent="0" algn="l">
              <a:buNone/>
            </a:pPr>
            <a:r>
              <a:rPr lang="en-US" sz="900">
                <a:solidFill>
                  <a:srgbClr val="94A3B8"/>
                </a:solidFill>
                <a:latin typeface="Calibri" pitchFamily="34" charset="0"/>
                <a:ea typeface="Calibri" pitchFamily="34" charset="-122"/>
                <a:cs typeface="Calibri" pitchFamily="34" charset="-120"/>
              </a:rPr>
              <a:t>Incident Handling Lab  |  Elastic SIEM</a:t>
            </a:r>
            <a:endParaRPr lang="en-US" sz="900"/>
          </a:p>
        </p:txBody>
      </p:sp>
      <p:sp>
        <p:nvSpPr>
          <p:cNvPr id="30" name="Text 24"/>
          <p:cNvSpPr/>
          <p:nvPr/>
        </p:nvSpPr>
        <p:spPr>
          <a:xfrm>
            <a:off x="11094415" y="6537960"/>
            <a:ext cx="914400" cy="228600"/>
          </a:xfrm>
          <a:prstGeom prst="rect">
            <a:avLst/>
          </a:prstGeom>
          <a:noFill/>
          <a:ln/>
        </p:spPr>
        <p:txBody>
          <a:bodyPr wrap="square" lIns="0" tIns="0" rIns="0" bIns="0" rtlCol="0" anchor="ctr"/>
          <a:lstStyle/>
          <a:p>
            <a:pPr marL="0" indent="0" algn="r">
              <a:buNone/>
            </a:pPr>
            <a:r>
              <a:rPr lang="en-US" sz="900">
                <a:solidFill>
                  <a:srgbClr val="94A3B8"/>
                </a:solidFill>
                <a:latin typeface="Calibri" pitchFamily="34" charset="0"/>
                <a:ea typeface="Calibri" pitchFamily="34" charset="-122"/>
                <a:cs typeface="Calibri" pitchFamily="34" charset="-120"/>
              </a:rPr>
              <a:t>21 / 29</a:t>
            </a:r>
            <a:endParaRPr lang="en-US" sz="90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65760" y="457200"/>
            <a:ext cx="109728" cy="731520"/>
          </a:xfrm>
          <a:prstGeom prst="rect">
            <a:avLst/>
          </a:prstGeom>
          <a:solidFill>
            <a:srgbClr val="00D9FF"/>
          </a:solidFill>
          <a:ln/>
        </p:spPr>
        <p:txBody>
          <a:bodyPr/>
          <a:lstStyle/>
          <a:p>
            <a:endParaRPr lang="en-US"/>
          </a:p>
        </p:txBody>
      </p:sp>
      <p:sp>
        <p:nvSpPr>
          <p:cNvPr id="3" name="Text 1"/>
          <p:cNvSpPr/>
          <p:nvPr/>
        </p:nvSpPr>
        <p:spPr>
          <a:xfrm>
            <a:off x="640080" y="411480"/>
            <a:ext cx="10515600" cy="502920"/>
          </a:xfrm>
          <a:prstGeom prst="rect">
            <a:avLst/>
          </a:prstGeom>
          <a:noFill/>
          <a:ln/>
        </p:spPr>
        <p:txBody>
          <a:bodyPr wrap="square" lIns="0" tIns="0" rIns="0" bIns="0" rtlCol="0" anchor="t"/>
          <a:lstStyle/>
          <a:p>
            <a:pPr marL="0" indent="0">
              <a:buNone/>
            </a:pPr>
            <a:r>
              <a:rPr lang="en-US" sz="2800" b="1">
                <a:solidFill>
                  <a:srgbClr val="0F172A"/>
                </a:solidFill>
                <a:latin typeface="Calibri" pitchFamily="34" charset="0"/>
                <a:ea typeface="Calibri" pitchFamily="34" charset="-122"/>
                <a:cs typeface="Calibri" pitchFamily="34" charset="-120"/>
              </a:rPr>
              <a:t>Task 3 — File Integrity Event in Kibana</a:t>
            </a:r>
            <a:endParaRPr lang="en-US" sz="2800"/>
          </a:p>
        </p:txBody>
      </p:sp>
      <p:sp>
        <p:nvSpPr>
          <p:cNvPr id="4" name="Text 2"/>
          <p:cNvSpPr/>
          <p:nvPr/>
        </p:nvSpPr>
        <p:spPr>
          <a:xfrm>
            <a:off x="640080" y="868680"/>
            <a:ext cx="10515600" cy="320040"/>
          </a:xfrm>
          <a:prstGeom prst="rect">
            <a:avLst/>
          </a:prstGeom>
          <a:noFill/>
          <a:ln/>
        </p:spPr>
        <p:txBody>
          <a:bodyPr wrap="square" lIns="0" tIns="0" rIns="0" bIns="0" rtlCol="0" anchor="t"/>
          <a:lstStyle/>
          <a:p>
            <a:pPr marL="0" indent="0">
              <a:buNone/>
            </a:pPr>
            <a:r>
              <a:rPr lang="en-US" sz="1300" i="1">
                <a:solidFill>
                  <a:srgbClr val="475569"/>
                </a:solidFill>
                <a:latin typeface="Calibri"/>
                <a:ea typeface="Calibri"/>
                <a:cs typeface="Calibri"/>
              </a:rPr>
              <a:t>21 audit records captured for the </a:t>
            </a:r>
            <a:r>
              <a:rPr lang="en-US" sz="1300" i="1" err="1">
                <a:solidFill>
                  <a:srgbClr val="475569"/>
                </a:solidFill>
                <a:latin typeface="Calibri"/>
                <a:ea typeface="Calibri"/>
                <a:cs typeface="Calibri"/>
              </a:rPr>
              <a:t>passwd_changes</a:t>
            </a:r>
            <a:r>
              <a:rPr lang="en-US" sz="1300" i="1">
                <a:solidFill>
                  <a:srgbClr val="475569"/>
                </a:solidFill>
                <a:latin typeface="Calibri"/>
                <a:ea typeface="Calibri"/>
                <a:cs typeface="Calibri"/>
              </a:rPr>
              <a:t> key</a:t>
            </a:r>
          </a:p>
          <a:p>
            <a:endParaRPr lang="en-US" sz="1300" i="1">
              <a:solidFill>
                <a:srgbClr val="475569"/>
              </a:solidFill>
              <a:ea typeface="Calibri"/>
              <a:cs typeface="Calibri"/>
            </a:endParaRPr>
          </a:p>
          <a:p>
            <a:r>
              <a:rPr lang="en-US" sz="1100" i="1">
                <a:solidFill>
                  <a:srgbClr val="555555"/>
                </a:solidFill>
                <a:highlight>
                  <a:srgbClr val="FFFFFF"/>
                </a:highlight>
                <a:latin typeface="Times New Roman"/>
                <a:ea typeface="Calibri"/>
                <a:cs typeface="Times New Roman"/>
              </a:rPr>
              <a:t>Kibana showing the </a:t>
            </a:r>
            <a:r>
              <a:rPr lang="en-US" sz="1100" i="1" err="1">
                <a:solidFill>
                  <a:srgbClr val="555555"/>
                </a:solidFill>
                <a:highlight>
                  <a:srgbClr val="FFFFFF"/>
                </a:highlight>
                <a:latin typeface="Times New Roman"/>
                <a:ea typeface="Calibri"/>
                <a:cs typeface="Times New Roman"/>
              </a:rPr>
              <a:t>Auditd</a:t>
            </a:r>
            <a:r>
              <a:rPr lang="en-US" sz="1100" i="1">
                <a:solidFill>
                  <a:srgbClr val="555555"/>
                </a:solidFill>
                <a:highlight>
                  <a:srgbClr val="FFFFFF"/>
                </a:highlight>
                <a:latin typeface="Times New Roman"/>
                <a:ea typeface="Calibri"/>
                <a:cs typeface="Times New Roman"/>
              </a:rPr>
              <a:t> file integrity event appearing in the log data after the monitored file was modified, confirming the pipeline from </a:t>
            </a:r>
            <a:r>
              <a:rPr lang="en-US" sz="1100" i="1" err="1">
                <a:solidFill>
                  <a:srgbClr val="555555"/>
                </a:solidFill>
                <a:highlight>
                  <a:srgbClr val="FFFFFF"/>
                </a:highlight>
                <a:latin typeface="Times New Roman"/>
                <a:ea typeface="Calibri"/>
                <a:cs typeface="Times New Roman"/>
              </a:rPr>
              <a:t>Auditd</a:t>
            </a:r>
            <a:r>
              <a:rPr lang="en-US" sz="1100" i="1">
                <a:solidFill>
                  <a:srgbClr val="555555"/>
                </a:solidFill>
                <a:highlight>
                  <a:srgbClr val="FFFFFF"/>
                </a:highlight>
                <a:latin typeface="Times New Roman"/>
                <a:ea typeface="Calibri"/>
                <a:cs typeface="Times New Roman"/>
              </a:rPr>
              <a:t> on the Fleet Server to Elasticsearch is workin</a:t>
            </a:r>
            <a:r>
              <a:rPr lang="en-US" sz="1200" i="1">
                <a:solidFill>
                  <a:srgbClr val="555555"/>
                </a:solidFill>
                <a:highlight>
                  <a:srgbClr val="FFFFFF"/>
                </a:highlight>
                <a:latin typeface="Times New Roman"/>
                <a:ea typeface="Calibri"/>
                <a:cs typeface="Times New Roman"/>
              </a:rPr>
              <a:t>g</a:t>
            </a:r>
            <a:endParaRPr lang="en-US" sz="1050">
              <a:solidFill>
                <a:srgbClr val="555555"/>
              </a:solidFill>
              <a:highlight>
                <a:srgbClr val="FFFFFF"/>
              </a:highlight>
              <a:latin typeface="Times New Roman"/>
              <a:ea typeface="Calibri"/>
              <a:cs typeface="Times New Roman"/>
            </a:endParaRPr>
          </a:p>
        </p:txBody>
      </p:sp>
      <p:pic>
        <p:nvPicPr>
          <p:cNvPr id="5" name="Image 0" descr="/home/claude/report/screenshots/fig_auditd_kibana.png"/>
          <p:cNvPicPr>
            <a:picLocks noChangeAspect="1"/>
          </p:cNvPicPr>
          <p:nvPr/>
        </p:nvPicPr>
        <p:blipFill>
          <a:blip r:embed="rId3"/>
          <a:srcRect/>
          <a:stretch/>
        </p:blipFill>
        <p:spPr>
          <a:xfrm>
            <a:off x="640080" y="1635818"/>
            <a:ext cx="7567352" cy="3451629"/>
          </a:xfrm>
          <a:prstGeom prst="rect">
            <a:avLst/>
          </a:prstGeom>
        </p:spPr>
      </p:pic>
      <p:pic>
        <p:nvPicPr>
          <p:cNvPr id="6" name="Image 1" descr="/home/claude/report/screenshots/fig_auditd_detail.png"/>
          <p:cNvPicPr>
            <a:picLocks noChangeAspect="1"/>
          </p:cNvPicPr>
          <p:nvPr/>
        </p:nvPicPr>
        <p:blipFill>
          <a:blip r:embed="rId4"/>
          <a:srcRect/>
          <a:stretch/>
        </p:blipFill>
        <p:spPr>
          <a:xfrm>
            <a:off x="8229600" y="1417320"/>
            <a:ext cx="3474720" cy="3474720"/>
          </a:xfrm>
          <a:prstGeom prst="rect">
            <a:avLst/>
          </a:prstGeom>
        </p:spPr>
      </p:pic>
      <p:sp>
        <p:nvSpPr>
          <p:cNvPr id="7" name="Shape 3"/>
          <p:cNvSpPr/>
          <p:nvPr/>
        </p:nvSpPr>
        <p:spPr>
          <a:xfrm>
            <a:off x="640080" y="5074920"/>
            <a:ext cx="10911535" cy="640080"/>
          </a:xfrm>
          <a:prstGeom prst="rect">
            <a:avLst/>
          </a:prstGeom>
          <a:solidFill>
            <a:srgbClr val="0A1628"/>
          </a:solidFill>
          <a:ln/>
        </p:spPr>
        <p:txBody>
          <a:bodyPr lIns="91440" tIns="45720" rIns="91440" bIns="45720" anchor="t"/>
          <a:lstStyle/>
          <a:p>
            <a:r>
              <a:rPr lang="en-US" sz="1200" b="1" dirty="0">
                <a:solidFill>
                  <a:schemeClr val="tx1">
                    <a:lumMod val="95000"/>
                    <a:lumOff val="5000"/>
                  </a:schemeClr>
                </a:solidFill>
                <a:highlight>
                  <a:srgbClr val="FFFFFF"/>
                </a:highlight>
                <a:latin typeface="Times New Roman"/>
                <a:cs typeface="Times New Roman"/>
              </a:rPr>
              <a:t>The event fields visible in Kibana provide a complete picture of what happened. The data includes the exact file path that was changed, the precise timestamp, the user account that made the change, the process name and process ID that carried out the modification, and the system call that was used. This level of detail is exactly what an incident responder needs to determine whether a file change was </a:t>
            </a:r>
            <a:r>
              <a:rPr lang="en-US" sz="1200" b="1" dirty="0" err="1">
                <a:solidFill>
                  <a:schemeClr val="tx1">
                    <a:lumMod val="95000"/>
                    <a:lumOff val="5000"/>
                  </a:schemeClr>
                </a:solidFill>
                <a:highlight>
                  <a:srgbClr val="FFFFFF"/>
                </a:highlight>
                <a:latin typeface="Times New Roman"/>
                <a:cs typeface="Times New Roman"/>
              </a:rPr>
              <a:t>authorised</a:t>
            </a:r>
            <a:r>
              <a:rPr lang="en-US" sz="1200" b="1" dirty="0">
                <a:solidFill>
                  <a:schemeClr val="tx1">
                    <a:lumMod val="95000"/>
                    <a:lumOff val="5000"/>
                  </a:schemeClr>
                </a:solidFill>
                <a:highlight>
                  <a:srgbClr val="FFFFFF"/>
                </a:highlight>
                <a:latin typeface="Times New Roman"/>
                <a:cs typeface="Times New Roman"/>
              </a:rPr>
              <a:t> and expected, or suspicious and worth investigating further.</a:t>
            </a:r>
          </a:p>
        </p:txBody>
      </p:sp>
      <p:sp>
        <p:nvSpPr>
          <p:cNvPr id="8" name="Text 4"/>
          <p:cNvSpPr/>
          <p:nvPr/>
        </p:nvSpPr>
        <p:spPr>
          <a:xfrm>
            <a:off x="822960" y="5166360"/>
            <a:ext cx="1005840" cy="457200"/>
          </a:xfrm>
          <a:prstGeom prst="rect">
            <a:avLst/>
          </a:prstGeom>
          <a:noFill/>
          <a:ln/>
        </p:spPr>
        <p:txBody>
          <a:bodyPr wrap="square" lIns="0" tIns="0" rIns="0" bIns="0" rtlCol="0" anchor="ctr"/>
          <a:lstStyle/>
          <a:p>
            <a:pPr marL="0" indent="0">
              <a:buNone/>
            </a:pPr>
            <a:r>
              <a:rPr lang="en-US" sz="1100" b="1">
                <a:solidFill>
                  <a:srgbClr val="00D9FF"/>
                </a:solidFill>
                <a:latin typeface="Calibri"/>
                <a:ea typeface="Calibri"/>
                <a:cs typeface="Calibri"/>
              </a:rPr>
              <a:t>:</a:t>
            </a:r>
            <a:endParaRPr lang="en-US" sz="1100">
              <a:latin typeface="Calibri"/>
              <a:ea typeface="Calibri"/>
              <a:cs typeface="Calibri"/>
            </a:endParaRPr>
          </a:p>
        </p:txBody>
      </p:sp>
      <p:sp>
        <p:nvSpPr>
          <p:cNvPr id="9" name="Text 5"/>
          <p:cNvSpPr/>
          <p:nvPr/>
        </p:nvSpPr>
        <p:spPr>
          <a:xfrm>
            <a:off x="1645920" y="5166360"/>
            <a:ext cx="9905695" cy="457200"/>
          </a:xfrm>
          <a:prstGeom prst="rect">
            <a:avLst/>
          </a:prstGeom>
          <a:noFill/>
          <a:ln/>
        </p:spPr>
        <p:txBody>
          <a:bodyPr wrap="square" lIns="0" tIns="0" rIns="0" bIns="0" rtlCol="0" anchor="ctr"/>
          <a:lstStyle/>
          <a:p>
            <a:r>
              <a:rPr lang="en-US" sz="1300">
                <a:solidFill>
                  <a:srgbClr val="FFFFFF"/>
                </a:solidFill>
                <a:latin typeface="Consolas"/>
              </a:rPr>
              <a:t>C </a:t>
            </a:r>
          </a:p>
        </p:txBody>
      </p:sp>
      <p:sp>
        <p:nvSpPr>
          <p:cNvPr id="10" name="Shape 6"/>
          <p:cNvSpPr/>
          <p:nvPr/>
        </p:nvSpPr>
        <p:spPr>
          <a:xfrm>
            <a:off x="640080" y="5852160"/>
            <a:ext cx="10911535" cy="502920"/>
          </a:xfrm>
          <a:prstGeom prst="rect">
            <a:avLst/>
          </a:prstGeom>
          <a:solidFill>
            <a:srgbClr val="F7F9FC"/>
          </a:solidFill>
          <a:ln w="12700">
            <a:solidFill>
              <a:srgbClr val="E2E8F0"/>
            </a:solidFill>
            <a:prstDash val="solid"/>
          </a:ln>
        </p:spPr>
        <p:txBody>
          <a:bodyPr/>
          <a:lstStyle/>
          <a:p>
            <a:endParaRPr lang="en-US"/>
          </a:p>
        </p:txBody>
      </p:sp>
      <p:sp>
        <p:nvSpPr>
          <p:cNvPr id="11" name="Text 7"/>
          <p:cNvSpPr/>
          <p:nvPr/>
        </p:nvSpPr>
        <p:spPr>
          <a:xfrm>
            <a:off x="640080" y="5943600"/>
            <a:ext cx="2727884" cy="320040"/>
          </a:xfrm>
          <a:prstGeom prst="rect">
            <a:avLst/>
          </a:prstGeom>
          <a:noFill/>
          <a:ln/>
        </p:spPr>
        <p:txBody>
          <a:bodyPr wrap="square" lIns="0" tIns="0" rIns="0" bIns="0" rtlCol="0" anchor="ctr"/>
          <a:lstStyle/>
          <a:p>
            <a:pPr marL="0" indent="0" algn="ctr">
              <a:buNone/>
            </a:pPr>
            <a:r>
              <a:rPr lang="en-US" sz="1050">
                <a:solidFill>
                  <a:srgbClr val="0F172A"/>
                </a:solidFill>
                <a:latin typeface="Consolas" pitchFamily="34" charset="0"/>
                <a:ea typeface="Consolas" pitchFamily="34" charset="-122"/>
                <a:cs typeface="Consolas" pitchFamily="34" charset="-120"/>
              </a:rPr>
              <a:t>auditd.log.key: passwd_changes</a:t>
            </a:r>
            <a:endParaRPr lang="en-US" sz="1050"/>
          </a:p>
        </p:txBody>
      </p:sp>
      <p:sp>
        <p:nvSpPr>
          <p:cNvPr id="12" name="Text 8"/>
          <p:cNvSpPr/>
          <p:nvPr/>
        </p:nvSpPr>
        <p:spPr>
          <a:xfrm>
            <a:off x="3367964" y="5943600"/>
            <a:ext cx="2727884" cy="320040"/>
          </a:xfrm>
          <a:prstGeom prst="rect">
            <a:avLst/>
          </a:prstGeom>
          <a:noFill/>
          <a:ln/>
        </p:spPr>
        <p:txBody>
          <a:bodyPr wrap="square" lIns="0" tIns="0" rIns="0" bIns="0" rtlCol="0" anchor="ctr"/>
          <a:lstStyle/>
          <a:p>
            <a:pPr marL="0" indent="0" algn="ctr">
              <a:buNone/>
            </a:pPr>
            <a:r>
              <a:rPr lang="en-US" sz="1050">
                <a:solidFill>
                  <a:srgbClr val="0F172A"/>
                </a:solidFill>
                <a:latin typeface="Consolas" pitchFamily="34" charset="0"/>
                <a:ea typeface="Consolas" pitchFamily="34" charset="-122"/>
                <a:cs typeface="Consolas" pitchFamily="34" charset="-120"/>
              </a:rPr>
              <a:t>process.name: useradd</a:t>
            </a:r>
            <a:endParaRPr lang="en-US" sz="1050"/>
          </a:p>
        </p:txBody>
      </p:sp>
      <p:sp>
        <p:nvSpPr>
          <p:cNvPr id="13" name="Text 9"/>
          <p:cNvSpPr/>
          <p:nvPr/>
        </p:nvSpPr>
        <p:spPr>
          <a:xfrm>
            <a:off x="6095848" y="5943600"/>
            <a:ext cx="2727884" cy="320040"/>
          </a:xfrm>
          <a:prstGeom prst="rect">
            <a:avLst/>
          </a:prstGeom>
          <a:noFill/>
          <a:ln/>
        </p:spPr>
        <p:txBody>
          <a:bodyPr wrap="square" lIns="0" tIns="0" rIns="0" bIns="0" rtlCol="0" anchor="ctr"/>
          <a:lstStyle/>
          <a:p>
            <a:pPr marL="0" indent="0" algn="ctr">
              <a:buNone/>
            </a:pPr>
            <a:r>
              <a:rPr lang="en-US" sz="1050">
                <a:solidFill>
                  <a:srgbClr val="0F172A"/>
                </a:solidFill>
                <a:latin typeface="Consolas" pitchFamily="34" charset="0"/>
                <a:ea typeface="Consolas" pitchFamily="34" charset="-122"/>
                <a:cs typeface="Consolas" pitchFamily="34" charset="-120"/>
              </a:rPr>
              <a:t>process.executable: /usr/sbin/useradd</a:t>
            </a:r>
            <a:endParaRPr lang="en-US" sz="1050"/>
          </a:p>
        </p:txBody>
      </p:sp>
      <p:sp>
        <p:nvSpPr>
          <p:cNvPr id="14" name="Text 10"/>
          <p:cNvSpPr/>
          <p:nvPr/>
        </p:nvSpPr>
        <p:spPr>
          <a:xfrm>
            <a:off x="8823731" y="5943600"/>
            <a:ext cx="2727884" cy="320040"/>
          </a:xfrm>
          <a:prstGeom prst="rect">
            <a:avLst/>
          </a:prstGeom>
          <a:noFill/>
          <a:ln/>
        </p:spPr>
        <p:txBody>
          <a:bodyPr wrap="square" lIns="0" tIns="0" rIns="0" bIns="0" rtlCol="0" anchor="ctr"/>
          <a:lstStyle/>
          <a:p>
            <a:pPr marL="0" indent="0" algn="ctr">
              <a:buNone/>
            </a:pPr>
            <a:r>
              <a:rPr lang="en-US" sz="1050">
                <a:solidFill>
                  <a:srgbClr val="0F172A"/>
                </a:solidFill>
                <a:latin typeface="Consolas" pitchFamily="34" charset="0"/>
                <a:ea typeface="Consolas" pitchFamily="34" charset="-122"/>
                <a:cs typeface="Consolas" pitchFamily="34" charset="-120"/>
              </a:rPr>
              <a:t>auditd.log.EUID: root</a:t>
            </a:r>
            <a:endParaRPr lang="en-US" sz="1050"/>
          </a:p>
        </p:txBody>
      </p:sp>
      <p:sp>
        <p:nvSpPr>
          <p:cNvPr id="15" name="Text 11"/>
          <p:cNvSpPr/>
          <p:nvPr/>
        </p:nvSpPr>
        <p:spPr>
          <a:xfrm>
            <a:off x="365760" y="6537960"/>
            <a:ext cx="4572000" cy="228600"/>
          </a:xfrm>
          <a:prstGeom prst="rect">
            <a:avLst/>
          </a:prstGeom>
          <a:noFill/>
          <a:ln/>
        </p:spPr>
        <p:txBody>
          <a:bodyPr wrap="square" lIns="0" tIns="0" rIns="0" bIns="0" rtlCol="0" anchor="ctr"/>
          <a:lstStyle/>
          <a:p>
            <a:pPr marL="0" indent="0" algn="l">
              <a:buNone/>
            </a:pPr>
            <a:r>
              <a:rPr lang="en-US" sz="900">
                <a:solidFill>
                  <a:srgbClr val="94A3B8"/>
                </a:solidFill>
                <a:latin typeface="Calibri" pitchFamily="34" charset="0"/>
                <a:ea typeface="Calibri" pitchFamily="34" charset="-122"/>
                <a:cs typeface="Calibri" pitchFamily="34" charset="-120"/>
              </a:rPr>
              <a:t>Incident Handling Lab  |  Elastic SIEM</a:t>
            </a:r>
            <a:endParaRPr lang="en-US" sz="900"/>
          </a:p>
        </p:txBody>
      </p:sp>
      <p:sp>
        <p:nvSpPr>
          <p:cNvPr id="16" name="Text 12"/>
          <p:cNvSpPr/>
          <p:nvPr/>
        </p:nvSpPr>
        <p:spPr>
          <a:xfrm>
            <a:off x="11094415" y="6537960"/>
            <a:ext cx="914400" cy="228600"/>
          </a:xfrm>
          <a:prstGeom prst="rect">
            <a:avLst/>
          </a:prstGeom>
          <a:noFill/>
          <a:ln/>
        </p:spPr>
        <p:txBody>
          <a:bodyPr wrap="square" lIns="0" tIns="0" rIns="0" bIns="0" rtlCol="0" anchor="ctr"/>
          <a:lstStyle/>
          <a:p>
            <a:pPr marL="0" indent="0" algn="r">
              <a:buNone/>
            </a:pPr>
            <a:r>
              <a:rPr lang="en-US" sz="900">
                <a:solidFill>
                  <a:srgbClr val="94A3B8"/>
                </a:solidFill>
                <a:latin typeface="Calibri" pitchFamily="34" charset="0"/>
                <a:ea typeface="Calibri" pitchFamily="34" charset="-122"/>
                <a:cs typeface="Calibri" pitchFamily="34" charset="-120"/>
              </a:rPr>
              <a:t>22 / 29</a:t>
            </a:r>
            <a:endParaRPr lang="en-US" sz="9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65760" y="457200"/>
            <a:ext cx="109728" cy="731520"/>
          </a:xfrm>
          <a:prstGeom prst="rect">
            <a:avLst/>
          </a:prstGeom>
          <a:solidFill>
            <a:srgbClr val="00D9FF"/>
          </a:solidFill>
          <a:ln/>
        </p:spPr>
        <p:txBody>
          <a:bodyPr/>
          <a:lstStyle/>
          <a:p>
            <a:endParaRPr lang="en-US"/>
          </a:p>
        </p:txBody>
      </p:sp>
      <p:sp>
        <p:nvSpPr>
          <p:cNvPr id="3" name="Text 1"/>
          <p:cNvSpPr/>
          <p:nvPr/>
        </p:nvSpPr>
        <p:spPr>
          <a:xfrm>
            <a:off x="640080" y="411480"/>
            <a:ext cx="10515600" cy="502920"/>
          </a:xfrm>
          <a:prstGeom prst="rect">
            <a:avLst/>
          </a:prstGeom>
          <a:noFill/>
          <a:ln/>
        </p:spPr>
        <p:txBody>
          <a:bodyPr wrap="square" lIns="0" tIns="0" rIns="0" bIns="0" rtlCol="0" anchor="t"/>
          <a:lstStyle/>
          <a:p>
            <a:pPr marL="0" indent="0">
              <a:buNone/>
            </a:pPr>
            <a:r>
              <a:rPr lang="en-US" sz="2800" b="1">
                <a:solidFill>
                  <a:srgbClr val="0F172A"/>
                </a:solidFill>
                <a:latin typeface="Calibri" pitchFamily="34" charset="0"/>
                <a:ea typeface="Calibri" pitchFamily="34" charset="-122"/>
                <a:cs typeface="Calibri" pitchFamily="34" charset="-120"/>
              </a:rPr>
              <a:t>From Passive Search to Active Detection</a:t>
            </a:r>
            <a:endParaRPr lang="en-US" sz="2800"/>
          </a:p>
        </p:txBody>
      </p:sp>
      <p:sp>
        <p:nvSpPr>
          <p:cNvPr id="4" name="Text 2"/>
          <p:cNvSpPr/>
          <p:nvPr/>
        </p:nvSpPr>
        <p:spPr>
          <a:xfrm>
            <a:off x="640080" y="868680"/>
            <a:ext cx="10515600" cy="320040"/>
          </a:xfrm>
          <a:prstGeom prst="rect">
            <a:avLst/>
          </a:prstGeom>
          <a:noFill/>
          <a:ln/>
        </p:spPr>
        <p:txBody>
          <a:bodyPr wrap="square" lIns="0" tIns="0" rIns="0" bIns="0" rtlCol="0" anchor="t"/>
          <a:lstStyle/>
          <a:p>
            <a:r>
              <a:rPr lang="en-US" sz="1300" i="1">
                <a:solidFill>
                  <a:srgbClr val="475569"/>
                </a:solidFill>
                <a:latin typeface="Calibri"/>
                <a:ea typeface="Calibri"/>
                <a:cs typeface="Calibri"/>
              </a:rPr>
              <a:t>A Kibana custom rule that fires automatically when it detects specific log key such as </a:t>
            </a:r>
            <a:r>
              <a:rPr lang="en-US" sz="1300" i="1" err="1">
                <a:solidFill>
                  <a:srgbClr val="475569"/>
                </a:solidFill>
                <a:latin typeface="Calibri"/>
                <a:ea typeface="Calibri"/>
                <a:cs typeface="Calibri"/>
              </a:rPr>
              <a:t>passwd_change,shadow_change</a:t>
            </a:r>
            <a:endParaRPr lang="en-US" sz="1300" err="1">
              <a:latin typeface="Calibri"/>
              <a:ea typeface="Calibri"/>
              <a:cs typeface="Calibri"/>
            </a:endParaRPr>
          </a:p>
        </p:txBody>
      </p:sp>
      <p:pic>
        <p:nvPicPr>
          <p:cNvPr id="5" name="Image 0" descr="/home/claude/report/screenshots/fig_detection_rule.png"/>
          <p:cNvPicPr>
            <a:picLocks noChangeAspect="1"/>
          </p:cNvPicPr>
          <p:nvPr/>
        </p:nvPicPr>
        <p:blipFill>
          <a:blip r:embed="rId3"/>
          <a:srcRect/>
          <a:stretch/>
        </p:blipFill>
        <p:spPr>
          <a:xfrm>
            <a:off x="478155" y="1141095"/>
            <a:ext cx="6858000" cy="3657600"/>
          </a:xfrm>
          <a:prstGeom prst="rect">
            <a:avLst/>
          </a:prstGeom>
        </p:spPr>
      </p:pic>
      <p:sp>
        <p:nvSpPr>
          <p:cNvPr id="6" name="Shape 3"/>
          <p:cNvSpPr/>
          <p:nvPr/>
        </p:nvSpPr>
        <p:spPr>
          <a:xfrm>
            <a:off x="7576185" y="1550670"/>
            <a:ext cx="3840480" cy="3657600"/>
          </a:xfrm>
          <a:prstGeom prst="rect">
            <a:avLst/>
          </a:prstGeom>
          <a:solidFill>
            <a:srgbClr val="0A1628"/>
          </a:solidFill>
          <a:ln/>
        </p:spPr>
        <p:txBody>
          <a:bodyPr/>
          <a:lstStyle/>
          <a:p>
            <a:endParaRPr lang="en-US"/>
          </a:p>
        </p:txBody>
      </p:sp>
      <p:sp>
        <p:nvSpPr>
          <p:cNvPr id="7" name="Text 4"/>
          <p:cNvSpPr/>
          <p:nvPr/>
        </p:nvSpPr>
        <p:spPr>
          <a:xfrm>
            <a:off x="7863840" y="1600200"/>
            <a:ext cx="3566160" cy="274320"/>
          </a:xfrm>
          <a:prstGeom prst="rect">
            <a:avLst/>
          </a:prstGeom>
          <a:noFill/>
          <a:ln/>
        </p:spPr>
        <p:txBody>
          <a:bodyPr wrap="square" lIns="0" tIns="0" rIns="0" bIns="0" rtlCol="0" anchor="ctr"/>
          <a:lstStyle/>
          <a:p>
            <a:pPr marL="0" indent="0">
              <a:buNone/>
            </a:pPr>
            <a:r>
              <a:rPr lang="en-US" sz="1000" b="1" kern="0" spc="300">
                <a:solidFill>
                  <a:srgbClr val="00D9FF"/>
                </a:solidFill>
                <a:latin typeface="Calibri" pitchFamily="34" charset="0"/>
                <a:ea typeface="Calibri" pitchFamily="34" charset="-122"/>
                <a:cs typeface="Calibri" pitchFamily="34" charset="-120"/>
              </a:rPr>
              <a:t>RULE CONFIGURATION</a:t>
            </a:r>
            <a:endParaRPr lang="en-US" sz="1000"/>
          </a:p>
        </p:txBody>
      </p:sp>
      <p:sp>
        <p:nvSpPr>
          <p:cNvPr id="8" name="Text 5"/>
          <p:cNvSpPr/>
          <p:nvPr/>
        </p:nvSpPr>
        <p:spPr>
          <a:xfrm>
            <a:off x="7863840" y="2057400"/>
            <a:ext cx="3566160" cy="228600"/>
          </a:xfrm>
          <a:prstGeom prst="rect">
            <a:avLst/>
          </a:prstGeom>
          <a:noFill/>
          <a:ln/>
        </p:spPr>
        <p:txBody>
          <a:bodyPr wrap="square" lIns="0" tIns="0" rIns="0" bIns="0" rtlCol="0" anchor="ctr"/>
          <a:lstStyle/>
          <a:p>
            <a:pPr marL="0" indent="0">
              <a:buNone/>
            </a:pPr>
            <a:r>
              <a:rPr lang="en-US" sz="900" b="1" kern="0" spc="200">
                <a:solidFill>
                  <a:srgbClr val="94A3B8"/>
                </a:solidFill>
                <a:latin typeface="Calibri" pitchFamily="34" charset="0"/>
                <a:ea typeface="Calibri" pitchFamily="34" charset="-122"/>
                <a:cs typeface="Calibri" pitchFamily="34" charset="-120"/>
              </a:rPr>
              <a:t>NAME</a:t>
            </a:r>
            <a:endParaRPr lang="en-US" sz="900"/>
          </a:p>
        </p:txBody>
      </p:sp>
      <p:sp>
        <p:nvSpPr>
          <p:cNvPr id="9" name="Text 6"/>
          <p:cNvSpPr/>
          <p:nvPr/>
        </p:nvSpPr>
        <p:spPr>
          <a:xfrm>
            <a:off x="7863840" y="2286000"/>
            <a:ext cx="3566160" cy="274320"/>
          </a:xfrm>
          <a:prstGeom prst="rect">
            <a:avLst/>
          </a:prstGeom>
          <a:noFill/>
          <a:ln/>
        </p:spPr>
        <p:txBody>
          <a:bodyPr wrap="square" lIns="0" tIns="0" rIns="0" bIns="0" rtlCol="0" anchor="ctr"/>
          <a:lstStyle/>
          <a:p>
            <a:pPr marL="0" indent="0">
              <a:buNone/>
            </a:pPr>
            <a:r>
              <a:rPr lang="en-US" sz="1300" b="1">
                <a:solidFill>
                  <a:srgbClr val="FFFFFF"/>
                </a:solidFill>
                <a:latin typeface="Consolas" pitchFamily="34" charset="0"/>
                <a:ea typeface="Consolas" pitchFamily="34" charset="-122"/>
                <a:cs typeface="Consolas" pitchFamily="34" charset="-120"/>
              </a:rPr>
              <a:t>passwd_changes detection</a:t>
            </a:r>
            <a:endParaRPr lang="en-US" sz="1300"/>
          </a:p>
        </p:txBody>
      </p:sp>
      <p:sp>
        <p:nvSpPr>
          <p:cNvPr id="10" name="Text 7"/>
          <p:cNvSpPr/>
          <p:nvPr/>
        </p:nvSpPr>
        <p:spPr>
          <a:xfrm>
            <a:off x="7863840" y="2606040"/>
            <a:ext cx="3566160" cy="228600"/>
          </a:xfrm>
          <a:prstGeom prst="rect">
            <a:avLst/>
          </a:prstGeom>
          <a:noFill/>
          <a:ln/>
        </p:spPr>
        <p:txBody>
          <a:bodyPr wrap="square" lIns="0" tIns="0" rIns="0" bIns="0" rtlCol="0" anchor="ctr"/>
          <a:lstStyle/>
          <a:p>
            <a:pPr marL="0" indent="0">
              <a:buNone/>
            </a:pPr>
            <a:r>
              <a:rPr lang="en-US" sz="900" b="1" kern="0" spc="200">
                <a:solidFill>
                  <a:srgbClr val="94A3B8"/>
                </a:solidFill>
                <a:latin typeface="Calibri" pitchFamily="34" charset="0"/>
                <a:ea typeface="Calibri" pitchFamily="34" charset="-122"/>
                <a:cs typeface="Calibri" pitchFamily="34" charset="-120"/>
              </a:rPr>
              <a:t>SEVERITY</a:t>
            </a:r>
            <a:endParaRPr lang="en-US" sz="900"/>
          </a:p>
        </p:txBody>
      </p:sp>
      <p:sp>
        <p:nvSpPr>
          <p:cNvPr id="11" name="Text 8"/>
          <p:cNvSpPr/>
          <p:nvPr/>
        </p:nvSpPr>
        <p:spPr>
          <a:xfrm>
            <a:off x="7863840" y="2834640"/>
            <a:ext cx="3566160" cy="274320"/>
          </a:xfrm>
          <a:prstGeom prst="rect">
            <a:avLst/>
          </a:prstGeom>
          <a:noFill/>
          <a:ln/>
        </p:spPr>
        <p:txBody>
          <a:bodyPr wrap="square" lIns="0" tIns="0" rIns="0" bIns="0" rtlCol="0" anchor="ctr"/>
          <a:lstStyle/>
          <a:p>
            <a:pPr marL="0" indent="0">
              <a:buNone/>
            </a:pPr>
            <a:r>
              <a:rPr lang="en-US" sz="1300" b="1">
                <a:solidFill>
                  <a:srgbClr val="EF4444"/>
                </a:solidFill>
                <a:latin typeface="Consolas" pitchFamily="34" charset="0"/>
                <a:ea typeface="Consolas" pitchFamily="34" charset="-122"/>
                <a:cs typeface="Consolas" pitchFamily="34" charset="-120"/>
              </a:rPr>
              <a:t>Critical</a:t>
            </a:r>
            <a:endParaRPr lang="en-US" sz="1300"/>
          </a:p>
        </p:txBody>
      </p:sp>
      <p:sp>
        <p:nvSpPr>
          <p:cNvPr id="12" name="Text 9"/>
          <p:cNvSpPr/>
          <p:nvPr/>
        </p:nvSpPr>
        <p:spPr>
          <a:xfrm>
            <a:off x="7863840" y="3154680"/>
            <a:ext cx="3566160" cy="228600"/>
          </a:xfrm>
          <a:prstGeom prst="rect">
            <a:avLst/>
          </a:prstGeom>
          <a:noFill/>
          <a:ln/>
        </p:spPr>
        <p:txBody>
          <a:bodyPr wrap="square" lIns="0" tIns="0" rIns="0" bIns="0" rtlCol="0" anchor="ctr"/>
          <a:lstStyle/>
          <a:p>
            <a:pPr marL="0" indent="0">
              <a:buNone/>
            </a:pPr>
            <a:r>
              <a:rPr lang="en-US" sz="900" b="1" kern="0" spc="200">
                <a:solidFill>
                  <a:srgbClr val="94A3B8"/>
                </a:solidFill>
                <a:latin typeface="Calibri" pitchFamily="34" charset="0"/>
                <a:ea typeface="Calibri" pitchFamily="34" charset="-122"/>
                <a:cs typeface="Calibri" pitchFamily="34" charset="-120"/>
              </a:rPr>
              <a:t>RISK SCORE</a:t>
            </a:r>
            <a:endParaRPr lang="en-US" sz="900"/>
          </a:p>
        </p:txBody>
      </p:sp>
      <p:sp>
        <p:nvSpPr>
          <p:cNvPr id="13" name="Text 10"/>
          <p:cNvSpPr/>
          <p:nvPr/>
        </p:nvSpPr>
        <p:spPr>
          <a:xfrm>
            <a:off x="7863840" y="3383280"/>
            <a:ext cx="3566160" cy="274320"/>
          </a:xfrm>
          <a:prstGeom prst="rect">
            <a:avLst/>
          </a:prstGeom>
          <a:noFill/>
          <a:ln/>
        </p:spPr>
        <p:txBody>
          <a:bodyPr wrap="square" lIns="0" tIns="0" rIns="0" bIns="0" rtlCol="0" anchor="ctr"/>
          <a:lstStyle/>
          <a:p>
            <a:pPr marL="0" indent="0">
              <a:buNone/>
            </a:pPr>
            <a:r>
              <a:rPr lang="en-US" sz="1300" b="1">
                <a:solidFill>
                  <a:srgbClr val="EF4444"/>
                </a:solidFill>
                <a:latin typeface="Consolas" pitchFamily="34" charset="0"/>
                <a:ea typeface="Consolas" pitchFamily="34" charset="-122"/>
                <a:cs typeface="Consolas" pitchFamily="34" charset="-120"/>
              </a:rPr>
              <a:t>99 / 100</a:t>
            </a:r>
            <a:endParaRPr lang="en-US" sz="1300"/>
          </a:p>
        </p:txBody>
      </p:sp>
      <p:sp>
        <p:nvSpPr>
          <p:cNvPr id="14" name="Text 11"/>
          <p:cNvSpPr/>
          <p:nvPr/>
        </p:nvSpPr>
        <p:spPr>
          <a:xfrm>
            <a:off x="7863840" y="3703320"/>
            <a:ext cx="3566160" cy="228600"/>
          </a:xfrm>
          <a:prstGeom prst="rect">
            <a:avLst/>
          </a:prstGeom>
          <a:noFill/>
          <a:ln/>
        </p:spPr>
        <p:txBody>
          <a:bodyPr wrap="square" lIns="0" tIns="0" rIns="0" bIns="0" rtlCol="0" anchor="ctr"/>
          <a:lstStyle/>
          <a:p>
            <a:pPr marL="0" indent="0">
              <a:buNone/>
            </a:pPr>
            <a:r>
              <a:rPr lang="en-US" sz="900" b="1" kern="0" spc="200">
                <a:solidFill>
                  <a:srgbClr val="94A3B8"/>
                </a:solidFill>
                <a:latin typeface="Calibri" pitchFamily="34" charset="0"/>
                <a:ea typeface="Calibri" pitchFamily="34" charset="-122"/>
                <a:cs typeface="Calibri" pitchFamily="34" charset="-120"/>
              </a:rPr>
              <a:t>RULE TYPE</a:t>
            </a:r>
            <a:endParaRPr lang="en-US" sz="900"/>
          </a:p>
        </p:txBody>
      </p:sp>
      <p:sp>
        <p:nvSpPr>
          <p:cNvPr id="15" name="Text 12"/>
          <p:cNvSpPr/>
          <p:nvPr/>
        </p:nvSpPr>
        <p:spPr>
          <a:xfrm>
            <a:off x="7863840" y="3931920"/>
            <a:ext cx="3566160" cy="274320"/>
          </a:xfrm>
          <a:prstGeom prst="rect">
            <a:avLst/>
          </a:prstGeom>
          <a:noFill/>
          <a:ln/>
        </p:spPr>
        <p:txBody>
          <a:bodyPr wrap="square" lIns="0" tIns="0" rIns="0" bIns="0" rtlCol="0" anchor="ctr"/>
          <a:lstStyle/>
          <a:p>
            <a:pPr marL="0" indent="0">
              <a:buNone/>
            </a:pPr>
            <a:r>
              <a:rPr lang="en-US" sz="1300" b="1">
                <a:solidFill>
                  <a:srgbClr val="FFFFFF"/>
                </a:solidFill>
                <a:latin typeface="Consolas" pitchFamily="34" charset="0"/>
                <a:ea typeface="Consolas" pitchFamily="34" charset="-122"/>
                <a:cs typeface="Consolas" pitchFamily="34" charset="-120"/>
              </a:rPr>
              <a:t>Custom Query (KQL)</a:t>
            </a:r>
            <a:endParaRPr lang="en-US" sz="1300"/>
          </a:p>
        </p:txBody>
      </p:sp>
      <p:sp>
        <p:nvSpPr>
          <p:cNvPr id="16" name="Text 13"/>
          <p:cNvSpPr/>
          <p:nvPr/>
        </p:nvSpPr>
        <p:spPr>
          <a:xfrm>
            <a:off x="7863840" y="4251960"/>
            <a:ext cx="3566160" cy="228600"/>
          </a:xfrm>
          <a:prstGeom prst="rect">
            <a:avLst/>
          </a:prstGeom>
          <a:noFill/>
          <a:ln/>
        </p:spPr>
        <p:txBody>
          <a:bodyPr wrap="square" lIns="0" tIns="0" rIns="0" bIns="0" rtlCol="0" anchor="ctr"/>
          <a:lstStyle/>
          <a:p>
            <a:pPr marL="0" indent="0">
              <a:buNone/>
            </a:pPr>
            <a:r>
              <a:rPr lang="en-US" sz="900" b="1" kern="0" spc="200">
                <a:solidFill>
                  <a:srgbClr val="94A3B8"/>
                </a:solidFill>
                <a:latin typeface="Calibri" pitchFamily="34" charset="0"/>
                <a:ea typeface="Calibri" pitchFamily="34" charset="-122"/>
                <a:cs typeface="Calibri" pitchFamily="34" charset="-120"/>
              </a:rPr>
              <a:t>INDEX PATTERNS</a:t>
            </a:r>
            <a:endParaRPr lang="en-US" sz="900"/>
          </a:p>
        </p:txBody>
      </p:sp>
      <p:sp>
        <p:nvSpPr>
          <p:cNvPr id="17" name="Text 14"/>
          <p:cNvSpPr/>
          <p:nvPr/>
        </p:nvSpPr>
        <p:spPr>
          <a:xfrm>
            <a:off x="7863840" y="4480560"/>
            <a:ext cx="3566160" cy="274320"/>
          </a:xfrm>
          <a:prstGeom prst="rect">
            <a:avLst/>
          </a:prstGeom>
          <a:noFill/>
          <a:ln/>
        </p:spPr>
        <p:txBody>
          <a:bodyPr wrap="square" lIns="0" tIns="0" rIns="0" bIns="0" rtlCol="0" anchor="ctr"/>
          <a:lstStyle/>
          <a:p>
            <a:pPr marL="0" indent="0">
              <a:buNone/>
            </a:pPr>
            <a:r>
              <a:rPr lang="en-US" sz="1300" b="1">
                <a:solidFill>
                  <a:srgbClr val="FFFFFF"/>
                </a:solidFill>
                <a:latin typeface="Consolas" pitchFamily="34" charset="0"/>
                <a:ea typeface="Consolas" pitchFamily="34" charset="-122"/>
                <a:cs typeface="Consolas" pitchFamily="34" charset="-120"/>
              </a:rPr>
              <a:t>logs-*, auditbeat-*</a:t>
            </a:r>
            <a:endParaRPr lang="en-US" sz="1300"/>
          </a:p>
        </p:txBody>
      </p:sp>
      <p:sp>
        <p:nvSpPr>
          <p:cNvPr id="18" name="Shape 15"/>
          <p:cNvSpPr/>
          <p:nvPr/>
        </p:nvSpPr>
        <p:spPr>
          <a:xfrm>
            <a:off x="640080" y="5303520"/>
            <a:ext cx="10911535" cy="1005840"/>
          </a:xfrm>
          <a:prstGeom prst="rect">
            <a:avLst/>
          </a:prstGeom>
          <a:solidFill>
            <a:srgbClr val="0F1E38"/>
          </a:solidFill>
          <a:ln w="12700">
            <a:solidFill>
              <a:srgbClr val="00D9FF"/>
            </a:solidFill>
            <a:prstDash val="solid"/>
          </a:ln>
        </p:spPr>
        <p:txBody>
          <a:bodyPr/>
          <a:lstStyle/>
          <a:p>
            <a:endParaRPr lang="en-US"/>
          </a:p>
        </p:txBody>
      </p:sp>
      <p:sp>
        <p:nvSpPr>
          <p:cNvPr id="19" name="Text 16"/>
          <p:cNvSpPr/>
          <p:nvPr/>
        </p:nvSpPr>
        <p:spPr>
          <a:xfrm>
            <a:off x="822960" y="5394960"/>
            <a:ext cx="10362895" cy="274320"/>
          </a:xfrm>
          <a:prstGeom prst="rect">
            <a:avLst/>
          </a:prstGeom>
          <a:noFill/>
          <a:ln/>
        </p:spPr>
        <p:txBody>
          <a:bodyPr wrap="square" lIns="0" tIns="0" rIns="0" bIns="0" rtlCol="0" anchor="ctr"/>
          <a:lstStyle/>
          <a:p>
            <a:pPr marL="0" indent="0">
              <a:buNone/>
            </a:pPr>
            <a:r>
              <a:rPr lang="en-US" sz="1000" b="1" kern="0" spc="300">
                <a:solidFill>
                  <a:srgbClr val="00D9FF"/>
                </a:solidFill>
                <a:latin typeface="Calibri" pitchFamily="34" charset="0"/>
                <a:ea typeface="Calibri" pitchFamily="34" charset="-122"/>
                <a:cs typeface="Calibri" pitchFamily="34" charset="-120"/>
              </a:rPr>
              <a:t>DETECTION QUERY (KQL)</a:t>
            </a:r>
            <a:endParaRPr lang="en-US" sz="1000"/>
          </a:p>
        </p:txBody>
      </p:sp>
      <p:sp>
        <p:nvSpPr>
          <p:cNvPr id="20" name="Text 17"/>
          <p:cNvSpPr/>
          <p:nvPr/>
        </p:nvSpPr>
        <p:spPr>
          <a:xfrm>
            <a:off x="822960" y="5669280"/>
            <a:ext cx="10362895" cy="548640"/>
          </a:xfrm>
          <a:prstGeom prst="rect">
            <a:avLst/>
          </a:prstGeom>
          <a:noFill/>
          <a:ln/>
        </p:spPr>
        <p:txBody>
          <a:bodyPr wrap="square" lIns="0" tIns="0" rIns="0" bIns="0" rtlCol="0" anchor="ctr"/>
          <a:lstStyle/>
          <a:p>
            <a:r>
              <a:rPr lang="en-US" sz="1600" err="1">
                <a:solidFill>
                  <a:srgbClr val="FFFFFF"/>
                </a:solidFill>
                <a:latin typeface="Consolas"/>
                <a:ea typeface="Consolas" pitchFamily="34" charset="-122"/>
                <a:cs typeface="Consolas" pitchFamily="34" charset="-120"/>
              </a:rPr>
              <a:t>auditd.log.key</a:t>
            </a:r>
            <a:r>
              <a:rPr lang="en-US" sz="1600">
                <a:solidFill>
                  <a:srgbClr val="FFFFFF"/>
                </a:solidFill>
                <a:latin typeface="Consolas"/>
                <a:ea typeface="Consolas" pitchFamily="34" charset="-122"/>
                <a:cs typeface="Consolas" pitchFamily="34" charset="-120"/>
              </a:rPr>
              <a:t> : "</a:t>
            </a:r>
            <a:r>
              <a:rPr lang="en-US" sz="1600" err="1">
                <a:solidFill>
                  <a:srgbClr val="FFFFFF"/>
                </a:solidFill>
                <a:latin typeface="Consolas"/>
                <a:ea typeface="Consolas" pitchFamily="34" charset="-122"/>
                <a:cs typeface="Consolas" pitchFamily="34" charset="-120"/>
              </a:rPr>
              <a:t>shadow_changes</a:t>
            </a:r>
            <a:r>
              <a:rPr lang="en-US" sz="1600">
                <a:solidFill>
                  <a:srgbClr val="FFFFFF"/>
                </a:solidFill>
                <a:latin typeface="Consolas"/>
                <a:ea typeface="Consolas" pitchFamily="34" charset="-122"/>
                <a:cs typeface="Consolas" pitchFamily="34" charset="-120"/>
              </a:rPr>
              <a:t>" or </a:t>
            </a:r>
            <a:r>
              <a:rPr lang="en-US" sz="1600" err="1">
                <a:solidFill>
                  <a:srgbClr val="FFFFFF"/>
                </a:solidFill>
                <a:latin typeface="Consolas"/>
                <a:ea typeface="Consolas" pitchFamily="34" charset="-122"/>
                <a:cs typeface="Consolas" pitchFamily="34" charset="-120"/>
              </a:rPr>
              <a:t>auditd.log.key</a:t>
            </a:r>
            <a:r>
              <a:rPr lang="en-US" sz="1600">
                <a:solidFill>
                  <a:srgbClr val="FFFFFF"/>
                </a:solidFill>
                <a:latin typeface="Consolas"/>
                <a:ea typeface="Consolas" pitchFamily="34" charset="-122"/>
                <a:cs typeface="Consolas" pitchFamily="34" charset="-120"/>
              </a:rPr>
              <a:t> : "</a:t>
            </a:r>
            <a:r>
              <a:rPr lang="en-US" sz="1600" err="1">
                <a:solidFill>
                  <a:srgbClr val="FFFFFF"/>
                </a:solidFill>
                <a:latin typeface="Consolas"/>
                <a:ea typeface="Consolas" pitchFamily="34" charset="-122"/>
                <a:cs typeface="Consolas" pitchFamily="34" charset="-120"/>
              </a:rPr>
              <a:t>passwd_changes</a:t>
            </a:r>
            <a:r>
              <a:rPr lang="en-US" sz="1600">
                <a:solidFill>
                  <a:srgbClr val="FFFFFF"/>
                </a:solidFill>
                <a:latin typeface="Consolas"/>
                <a:ea typeface="Consolas" pitchFamily="34" charset="-122"/>
                <a:cs typeface="Consolas" pitchFamily="34" charset="-120"/>
              </a:rPr>
              <a:t>"</a:t>
            </a:r>
            <a:br>
              <a:rPr lang="en-US"/>
            </a:br>
            <a:r>
              <a:rPr lang="en-US" sz="1200">
                <a:highlight>
                  <a:srgbClr val="FFFFFF"/>
                </a:highlight>
                <a:ea typeface="Calibri"/>
                <a:cs typeface="Calibri"/>
              </a:rPr>
              <a:t>fire an alert whenever any event has an audit key of </a:t>
            </a:r>
            <a:r>
              <a:rPr lang="en-US" sz="1200" err="1">
                <a:highlight>
                  <a:srgbClr val="FFFFFF"/>
                </a:highlight>
                <a:ea typeface="Calibri"/>
                <a:cs typeface="Calibri"/>
              </a:rPr>
              <a:t>shadow_changes</a:t>
            </a:r>
            <a:r>
              <a:rPr lang="en-US" sz="1200">
                <a:highlight>
                  <a:srgbClr val="FFFFFF"/>
                </a:highlight>
                <a:ea typeface="Calibri"/>
                <a:cs typeface="Calibri"/>
              </a:rPr>
              <a:t> or </a:t>
            </a:r>
            <a:r>
              <a:rPr lang="en-US" sz="1200" err="1">
                <a:highlight>
                  <a:srgbClr val="FFFFFF"/>
                </a:highlight>
                <a:ea typeface="Calibri"/>
                <a:cs typeface="Calibri"/>
              </a:rPr>
              <a:t>passwd_changes</a:t>
            </a:r>
            <a:r>
              <a:rPr lang="en-US" sz="1200">
                <a:highlight>
                  <a:srgbClr val="FFFFFF"/>
                </a:highlight>
                <a:ea typeface="Calibri"/>
                <a:cs typeface="Calibri"/>
              </a:rPr>
              <a:t>. So any change to the password files, or any change to the shadow password hashes, will automatically trigger this rule without anyone having to do anything</a:t>
            </a:r>
            <a:endParaRPr lang="en-US" sz="1600"/>
          </a:p>
        </p:txBody>
      </p:sp>
      <p:sp>
        <p:nvSpPr>
          <p:cNvPr id="21" name="Text 18"/>
          <p:cNvSpPr/>
          <p:nvPr/>
        </p:nvSpPr>
        <p:spPr>
          <a:xfrm>
            <a:off x="365760" y="6537960"/>
            <a:ext cx="4572000" cy="228600"/>
          </a:xfrm>
          <a:prstGeom prst="rect">
            <a:avLst/>
          </a:prstGeom>
          <a:noFill/>
          <a:ln/>
        </p:spPr>
        <p:txBody>
          <a:bodyPr wrap="square" lIns="0" tIns="0" rIns="0" bIns="0" rtlCol="0" anchor="ctr"/>
          <a:lstStyle/>
          <a:p>
            <a:pPr marL="0" indent="0" algn="l">
              <a:buNone/>
            </a:pPr>
            <a:r>
              <a:rPr lang="en-US" sz="900">
                <a:solidFill>
                  <a:srgbClr val="94A3B8"/>
                </a:solidFill>
                <a:latin typeface="Calibri" pitchFamily="34" charset="0"/>
                <a:ea typeface="Calibri" pitchFamily="34" charset="-122"/>
                <a:cs typeface="Calibri" pitchFamily="34" charset="-120"/>
              </a:rPr>
              <a:t>Incident Handling Lab  |  Elastic SIEM</a:t>
            </a:r>
            <a:endParaRPr lang="en-US" sz="900"/>
          </a:p>
        </p:txBody>
      </p:sp>
      <p:sp>
        <p:nvSpPr>
          <p:cNvPr id="22" name="Text 19"/>
          <p:cNvSpPr/>
          <p:nvPr/>
        </p:nvSpPr>
        <p:spPr>
          <a:xfrm>
            <a:off x="11094415" y="6537960"/>
            <a:ext cx="914400" cy="228600"/>
          </a:xfrm>
          <a:prstGeom prst="rect">
            <a:avLst/>
          </a:prstGeom>
          <a:noFill/>
          <a:ln/>
        </p:spPr>
        <p:txBody>
          <a:bodyPr wrap="square" lIns="0" tIns="0" rIns="0" bIns="0" rtlCol="0" anchor="ctr"/>
          <a:lstStyle/>
          <a:p>
            <a:pPr marL="0" indent="0" algn="r">
              <a:buNone/>
            </a:pPr>
            <a:r>
              <a:rPr lang="en-US" sz="900">
                <a:solidFill>
                  <a:srgbClr val="94A3B8"/>
                </a:solidFill>
                <a:latin typeface="Calibri" pitchFamily="34" charset="0"/>
                <a:ea typeface="Calibri" pitchFamily="34" charset="-122"/>
                <a:cs typeface="Calibri" pitchFamily="34" charset="-120"/>
              </a:rPr>
              <a:t>23 / 29</a:t>
            </a:r>
            <a:endParaRPr lang="en-US" sz="90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65760" y="457200"/>
            <a:ext cx="109728" cy="731520"/>
          </a:xfrm>
          <a:prstGeom prst="rect">
            <a:avLst/>
          </a:prstGeom>
          <a:solidFill>
            <a:srgbClr val="00D9FF"/>
          </a:solidFill>
          <a:ln/>
        </p:spPr>
        <p:txBody>
          <a:bodyPr/>
          <a:lstStyle/>
          <a:p>
            <a:endParaRPr lang="en-US"/>
          </a:p>
        </p:txBody>
      </p:sp>
      <p:sp>
        <p:nvSpPr>
          <p:cNvPr id="3" name="Text 1"/>
          <p:cNvSpPr/>
          <p:nvPr/>
        </p:nvSpPr>
        <p:spPr>
          <a:xfrm>
            <a:off x="640080" y="411480"/>
            <a:ext cx="10515600" cy="502920"/>
          </a:xfrm>
          <a:prstGeom prst="rect">
            <a:avLst/>
          </a:prstGeom>
          <a:noFill/>
          <a:ln/>
        </p:spPr>
        <p:txBody>
          <a:bodyPr wrap="square" lIns="0" tIns="0" rIns="0" bIns="0" rtlCol="0" anchor="t"/>
          <a:lstStyle/>
          <a:p>
            <a:pPr marL="0" indent="0">
              <a:buNone/>
            </a:pPr>
            <a:r>
              <a:rPr lang="en-US" sz="2800" b="1">
                <a:solidFill>
                  <a:srgbClr val="0F172A"/>
                </a:solidFill>
                <a:latin typeface="Calibri" pitchFamily="34" charset="0"/>
                <a:ea typeface="Calibri" pitchFamily="34" charset="-122"/>
                <a:cs typeface="Calibri" pitchFamily="34" charset="-120"/>
              </a:rPr>
              <a:t>Alert Delivery to Microsoft Teams</a:t>
            </a:r>
            <a:endParaRPr lang="en-US" sz="2800"/>
          </a:p>
        </p:txBody>
      </p:sp>
      <p:sp>
        <p:nvSpPr>
          <p:cNvPr id="4" name="Text 2"/>
          <p:cNvSpPr/>
          <p:nvPr/>
        </p:nvSpPr>
        <p:spPr>
          <a:xfrm>
            <a:off x="640080" y="868680"/>
            <a:ext cx="10515600" cy="320040"/>
          </a:xfrm>
          <a:prstGeom prst="rect">
            <a:avLst/>
          </a:prstGeom>
          <a:noFill/>
          <a:ln/>
        </p:spPr>
        <p:txBody>
          <a:bodyPr wrap="square" lIns="0" tIns="0" rIns="0" bIns="0" rtlCol="0" anchor="t"/>
          <a:lstStyle/>
          <a:p>
            <a:pPr marL="0" indent="0">
              <a:buNone/>
            </a:pPr>
            <a:r>
              <a:rPr lang="en-US" sz="1300" i="1">
                <a:solidFill>
                  <a:srgbClr val="475569"/>
                </a:solidFill>
                <a:latin typeface="Calibri" pitchFamily="34" charset="0"/>
                <a:ea typeface="Calibri" pitchFamily="34" charset="-122"/>
                <a:cs typeface="Calibri" pitchFamily="34" charset="-120"/>
              </a:rPr>
              <a:t>Closing the loop from event to SOC analyst</a:t>
            </a:r>
          </a:p>
          <a:p>
            <a:r>
              <a:rPr lang="en-US" sz="1000" i="1">
                <a:solidFill>
                  <a:srgbClr val="555555"/>
                </a:solidFill>
                <a:highlight>
                  <a:srgbClr val="FFFFFF"/>
                </a:highlight>
                <a:latin typeface="Times New Roman"/>
                <a:ea typeface="Calibri"/>
                <a:cs typeface="Times New Roman"/>
              </a:rPr>
              <a:t>Microsoft Teams channel showing the alert notification delivered by Kibana via the webhook integration, confirming the complete end-to-end pipeline from </a:t>
            </a:r>
            <a:r>
              <a:rPr lang="en-US" sz="1000" i="1" err="1">
                <a:solidFill>
                  <a:srgbClr val="555555"/>
                </a:solidFill>
                <a:highlight>
                  <a:srgbClr val="FFFFFF"/>
                </a:highlight>
                <a:latin typeface="Times New Roman"/>
                <a:ea typeface="Calibri"/>
                <a:cs typeface="Times New Roman"/>
              </a:rPr>
              <a:t>Auditd</a:t>
            </a:r>
            <a:r>
              <a:rPr lang="en-US" sz="1000" i="1">
                <a:solidFill>
                  <a:srgbClr val="555555"/>
                </a:solidFill>
                <a:highlight>
                  <a:srgbClr val="FFFFFF"/>
                </a:highlight>
                <a:latin typeface="Times New Roman"/>
                <a:ea typeface="Calibri"/>
                <a:cs typeface="Times New Roman"/>
              </a:rPr>
              <a:t> event on the Fleet Server through to a real-time notification in the SOC communication channel</a:t>
            </a:r>
            <a:endParaRPr lang="en-US"/>
          </a:p>
        </p:txBody>
      </p:sp>
      <p:pic>
        <p:nvPicPr>
          <p:cNvPr id="5" name="Image 0" descr="/home/claude/report/screenshots/fig_security_alerts.png"/>
          <p:cNvPicPr>
            <a:picLocks noChangeAspect="1"/>
          </p:cNvPicPr>
          <p:nvPr/>
        </p:nvPicPr>
        <p:blipFill>
          <a:blip r:embed="rId3"/>
          <a:srcRect/>
          <a:stretch/>
        </p:blipFill>
        <p:spPr>
          <a:xfrm>
            <a:off x="640080" y="1417320"/>
            <a:ext cx="6217920" cy="2926080"/>
          </a:xfrm>
          <a:prstGeom prst="rect">
            <a:avLst/>
          </a:prstGeom>
        </p:spPr>
      </p:pic>
      <p:sp>
        <p:nvSpPr>
          <p:cNvPr id="6" name="Text 3"/>
          <p:cNvSpPr/>
          <p:nvPr/>
        </p:nvSpPr>
        <p:spPr>
          <a:xfrm>
            <a:off x="640080" y="4389120"/>
            <a:ext cx="6217920" cy="274320"/>
          </a:xfrm>
          <a:prstGeom prst="rect">
            <a:avLst/>
          </a:prstGeom>
          <a:noFill/>
          <a:ln/>
        </p:spPr>
        <p:txBody>
          <a:bodyPr wrap="square" lIns="0" tIns="0" rIns="0" bIns="0" rtlCol="0" anchor="ctr"/>
          <a:lstStyle/>
          <a:p>
            <a:pPr marL="0" indent="0" algn="ctr">
              <a:buNone/>
            </a:pPr>
            <a:r>
              <a:rPr lang="en-US" sz="1100" i="1">
                <a:solidFill>
                  <a:srgbClr val="475569"/>
                </a:solidFill>
                <a:latin typeface="Calibri" pitchFamily="34" charset="0"/>
                <a:ea typeface="Calibri" pitchFamily="34" charset="-122"/>
                <a:cs typeface="Calibri" pitchFamily="34" charset="-120"/>
              </a:rPr>
              <a:t>Kibana Security Alerts view</a:t>
            </a:r>
            <a:endParaRPr lang="en-US" sz="1100"/>
          </a:p>
        </p:txBody>
      </p:sp>
      <p:pic>
        <p:nvPicPr>
          <p:cNvPr id="7" name="Image 1" descr="/home/claude/report/screenshots/fig_teams_alert.png"/>
          <p:cNvPicPr>
            <a:picLocks noChangeAspect="1"/>
          </p:cNvPicPr>
          <p:nvPr/>
        </p:nvPicPr>
        <p:blipFill>
          <a:blip r:embed="rId4"/>
          <a:srcRect/>
          <a:stretch/>
        </p:blipFill>
        <p:spPr>
          <a:xfrm>
            <a:off x="7132320" y="1417320"/>
            <a:ext cx="4572000" cy="2926080"/>
          </a:xfrm>
          <a:prstGeom prst="rect">
            <a:avLst/>
          </a:prstGeom>
        </p:spPr>
      </p:pic>
      <p:sp>
        <p:nvSpPr>
          <p:cNvPr id="8" name="Text 4"/>
          <p:cNvSpPr/>
          <p:nvPr/>
        </p:nvSpPr>
        <p:spPr>
          <a:xfrm>
            <a:off x="7132320" y="4389120"/>
            <a:ext cx="4572000" cy="274320"/>
          </a:xfrm>
          <a:prstGeom prst="rect">
            <a:avLst/>
          </a:prstGeom>
          <a:noFill/>
          <a:ln/>
        </p:spPr>
        <p:txBody>
          <a:bodyPr wrap="square" lIns="0" tIns="0" rIns="0" bIns="0" rtlCol="0" anchor="ctr"/>
          <a:lstStyle/>
          <a:p>
            <a:pPr marL="0" indent="0" algn="ctr">
              <a:buNone/>
            </a:pPr>
            <a:r>
              <a:rPr lang="en-US" sz="1100" i="1">
                <a:solidFill>
                  <a:srgbClr val="475569"/>
                </a:solidFill>
                <a:latin typeface="Calibri" pitchFamily="34" charset="0"/>
                <a:ea typeface="Calibri" pitchFamily="34" charset="-122"/>
                <a:cs typeface="Calibri" pitchFamily="34" charset="-120"/>
              </a:rPr>
              <a:t>Microsoft Teams incoming webhook alert</a:t>
            </a:r>
            <a:endParaRPr lang="en-US" sz="1100"/>
          </a:p>
        </p:txBody>
      </p:sp>
      <p:sp>
        <p:nvSpPr>
          <p:cNvPr id="9" name="Shape 5"/>
          <p:cNvSpPr/>
          <p:nvPr/>
        </p:nvSpPr>
        <p:spPr>
          <a:xfrm>
            <a:off x="640080" y="4800600"/>
            <a:ext cx="10911535" cy="1508760"/>
          </a:xfrm>
          <a:prstGeom prst="rect">
            <a:avLst/>
          </a:prstGeom>
          <a:solidFill>
            <a:srgbClr val="0F1E38"/>
          </a:solidFill>
          <a:ln/>
        </p:spPr>
        <p:txBody>
          <a:bodyPr/>
          <a:lstStyle/>
          <a:p>
            <a:endParaRPr lang="en-US"/>
          </a:p>
        </p:txBody>
      </p:sp>
      <p:sp>
        <p:nvSpPr>
          <p:cNvPr id="10" name="Text 6"/>
          <p:cNvSpPr/>
          <p:nvPr/>
        </p:nvSpPr>
        <p:spPr>
          <a:xfrm>
            <a:off x="822960" y="4937760"/>
            <a:ext cx="10362895" cy="274320"/>
          </a:xfrm>
          <a:prstGeom prst="rect">
            <a:avLst/>
          </a:prstGeom>
          <a:noFill/>
          <a:ln/>
        </p:spPr>
        <p:txBody>
          <a:bodyPr wrap="square" lIns="0" tIns="0" rIns="0" bIns="0" rtlCol="0" anchor="ctr"/>
          <a:lstStyle/>
          <a:p>
            <a:pPr marL="0" indent="0" algn="ctr">
              <a:buNone/>
            </a:pPr>
            <a:r>
              <a:rPr lang="en-US" sz="1100" b="1" kern="0" spc="300">
                <a:solidFill>
                  <a:srgbClr val="00D9FF"/>
                </a:solidFill>
                <a:latin typeface="Calibri" pitchFamily="34" charset="0"/>
                <a:ea typeface="Calibri" pitchFamily="34" charset="-122"/>
                <a:cs typeface="Calibri" pitchFamily="34" charset="-120"/>
              </a:rPr>
              <a:t>END-TO-END PIPELINE — 4 STEPS, UNDER 60 SECONDS</a:t>
            </a:r>
            <a:endParaRPr lang="en-US" sz="1100"/>
          </a:p>
        </p:txBody>
      </p:sp>
      <p:sp>
        <p:nvSpPr>
          <p:cNvPr id="11" name="Shape 7"/>
          <p:cNvSpPr/>
          <p:nvPr/>
        </p:nvSpPr>
        <p:spPr>
          <a:xfrm>
            <a:off x="1747990" y="5349240"/>
            <a:ext cx="512064" cy="512064"/>
          </a:xfrm>
          <a:prstGeom prst="ellipse">
            <a:avLst/>
          </a:prstGeom>
          <a:solidFill>
            <a:srgbClr val="EF4444"/>
          </a:solidFill>
          <a:ln/>
        </p:spPr>
        <p:txBody>
          <a:bodyPr/>
          <a:lstStyle/>
          <a:p>
            <a:endParaRPr lang="en-US"/>
          </a:p>
        </p:txBody>
      </p:sp>
      <p:sp>
        <p:nvSpPr>
          <p:cNvPr id="12" name="Text 8"/>
          <p:cNvSpPr/>
          <p:nvPr/>
        </p:nvSpPr>
        <p:spPr>
          <a:xfrm>
            <a:off x="1747990" y="5349240"/>
            <a:ext cx="512064" cy="512064"/>
          </a:xfrm>
          <a:prstGeom prst="rect">
            <a:avLst/>
          </a:prstGeom>
          <a:noFill/>
          <a:ln/>
        </p:spPr>
        <p:txBody>
          <a:bodyPr wrap="square" lIns="0" tIns="0" rIns="0" bIns="0" rtlCol="0" anchor="ctr"/>
          <a:lstStyle/>
          <a:p>
            <a:pPr marL="0" indent="0" algn="ctr">
              <a:buNone/>
            </a:pPr>
            <a:r>
              <a:rPr lang="en-US" sz="1700" b="1">
                <a:solidFill>
                  <a:srgbClr val="FFFFFF"/>
                </a:solidFill>
                <a:latin typeface="Calibri" pitchFamily="34" charset="0"/>
                <a:ea typeface="Calibri" pitchFamily="34" charset="-122"/>
                <a:cs typeface="Calibri" pitchFamily="34" charset="-120"/>
              </a:rPr>
              <a:t>1</a:t>
            </a:r>
            <a:endParaRPr lang="en-US" sz="1700"/>
          </a:p>
        </p:txBody>
      </p:sp>
      <p:sp>
        <p:nvSpPr>
          <p:cNvPr id="13" name="Text 9"/>
          <p:cNvSpPr/>
          <p:nvPr/>
        </p:nvSpPr>
        <p:spPr>
          <a:xfrm>
            <a:off x="640080" y="5897880"/>
            <a:ext cx="2727884" cy="274320"/>
          </a:xfrm>
          <a:prstGeom prst="rect">
            <a:avLst/>
          </a:prstGeom>
          <a:noFill/>
          <a:ln/>
        </p:spPr>
        <p:txBody>
          <a:bodyPr wrap="square" lIns="0" tIns="0" rIns="0" bIns="0" rtlCol="0" anchor="ctr"/>
          <a:lstStyle/>
          <a:p>
            <a:pPr marL="0" indent="0" algn="ctr">
              <a:buNone/>
            </a:pPr>
            <a:r>
              <a:rPr lang="en-US" sz="1100">
                <a:solidFill>
                  <a:srgbClr val="FFFFFF"/>
                </a:solidFill>
                <a:latin typeface="Calibri" pitchFamily="34" charset="0"/>
                <a:ea typeface="Calibri" pitchFamily="34" charset="-122"/>
                <a:cs typeface="Calibri" pitchFamily="34" charset="-120"/>
              </a:rPr>
              <a:t>File changed</a:t>
            </a:r>
            <a:endParaRPr lang="en-US" sz="1100"/>
          </a:p>
        </p:txBody>
      </p:sp>
      <p:sp>
        <p:nvSpPr>
          <p:cNvPr id="14" name="Text 10"/>
          <p:cNvSpPr/>
          <p:nvPr/>
        </p:nvSpPr>
        <p:spPr>
          <a:xfrm>
            <a:off x="3185084" y="5376672"/>
            <a:ext cx="365760" cy="457200"/>
          </a:xfrm>
          <a:prstGeom prst="rect">
            <a:avLst/>
          </a:prstGeom>
          <a:noFill/>
          <a:ln/>
        </p:spPr>
        <p:txBody>
          <a:bodyPr wrap="square" lIns="0" tIns="0" rIns="0" bIns="0" rtlCol="0" anchor="ctr"/>
          <a:lstStyle/>
          <a:p>
            <a:pPr marL="0" indent="0" algn="ctr">
              <a:buNone/>
            </a:pPr>
            <a:r>
              <a:rPr lang="en-US" sz="2000">
                <a:solidFill>
                  <a:srgbClr val="00D9FF"/>
                </a:solidFill>
                <a:latin typeface="Calibri" pitchFamily="34" charset="0"/>
                <a:ea typeface="Calibri" pitchFamily="34" charset="-122"/>
                <a:cs typeface="Calibri" pitchFamily="34" charset="-120"/>
              </a:rPr>
              <a:t>→</a:t>
            </a:r>
            <a:endParaRPr lang="en-US" sz="2000"/>
          </a:p>
        </p:txBody>
      </p:sp>
      <p:sp>
        <p:nvSpPr>
          <p:cNvPr id="15" name="Shape 11"/>
          <p:cNvSpPr/>
          <p:nvPr/>
        </p:nvSpPr>
        <p:spPr>
          <a:xfrm>
            <a:off x="4475874" y="5349240"/>
            <a:ext cx="512064" cy="512064"/>
          </a:xfrm>
          <a:prstGeom prst="ellipse">
            <a:avLst/>
          </a:prstGeom>
          <a:solidFill>
            <a:srgbClr val="F59E0B"/>
          </a:solidFill>
          <a:ln/>
        </p:spPr>
        <p:txBody>
          <a:bodyPr/>
          <a:lstStyle/>
          <a:p>
            <a:endParaRPr lang="en-US"/>
          </a:p>
        </p:txBody>
      </p:sp>
      <p:sp>
        <p:nvSpPr>
          <p:cNvPr id="16" name="Text 12"/>
          <p:cNvSpPr/>
          <p:nvPr/>
        </p:nvSpPr>
        <p:spPr>
          <a:xfrm>
            <a:off x="4475874" y="5349240"/>
            <a:ext cx="512064" cy="512064"/>
          </a:xfrm>
          <a:prstGeom prst="rect">
            <a:avLst/>
          </a:prstGeom>
          <a:noFill/>
          <a:ln/>
        </p:spPr>
        <p:txBody>
          <a:bodyPr wrap="square" lIns="0" tIns="0" rIns="0" bIns="0" rtlCol="0" anchor="ctr"/>
          <a:lstStyle/>
          <a:p>
            <a:pPr marL="0" indent="0" algn="ctr">
              <a:buNone/>
            </a:pPr>
            <a:r>
              <a:rPr lang="en-US" sz="1700" b="1">
                <a:solidFill>
                  <a:srgbClr val="FFFFFF"/>
                </a:solidFill>
                <a:latin typeface="Calibri" pitchFamily="34" charset="0"/>
                <a:ea typeface="Calibri" pitchFamily="34" charset="-122"/>
                <a:cs typeface="Calibri" pitchFamily="34" charset="-120"/>
              </a:rPr>
              <a:t>2</a:t>
            </a:r>
            <a:endParaRPr lang="en-US" sz="1700"/>
          </a:p>
        </p:txBody>
      </p:sp>
      <p:sp>
        <p:nvSpPr>
          <p:cNvPr id="17" name="Text 13"/>
          <p:cNvSpPr/>
          <p:nvPr/>
        </p:nvSpPr>
        <p:spPr>
          <a:xfrm>
            <a:off x="3367964" y="5897880"/>
            <a:ext cx="2727884" cy="274320"/>
          </a:xfrm>
          <a:prstGeom prst="rect">
            <a:avLst/>
          </a:prstGeom>
          <a:noFill/>
          <a:ln/>
        </p:spPr>
        <p:txBody>
          <a:bodyPr wrap="square" lIns="0" tIns="0" rIns="0" bIns="0" rtlCol="0" anchor="ctr"/>
          <a:lstStyle/>
          <a:p>
            <a:pPr marL="0" indent="0" algn="ctr">
              <a:buNone/>
            </a:pPr>
            <a:r>
              <a:rPr lang="en-US" sz="1100">
                <a:solidFill>
                  <a:srgbClr val="FFFFFF"/>
                </a:solidFill>
                <a:latin typeface="Calibri" pitchFamily="34" charset="0"/>
                <a:ea typeface="Calibri" pitchFamily="34" charset="-122"/>
                <a:cs typeface="Calibri" pitchFamily="34" charset="-120"/>
              </a:rPr>
              <a:t>Auditd logs event</a:t>
            </a:r>
            <a:endParaRPr lang="en-US" sz="1100"/>
          </a:p>
        </p:txBody>
      </p:sp>
      <p:sp>
        <p:nvSpPr>
          <p:cNvPr id="18" name="Text 14"/>
          <p:cNvSpPr/>
          <p:nvPr/>
        </p:nvSpPr>
        <p:spPr>
          <a:xfrm>
            <a:off x="5912968" y="5376672"/>
            <a:ext cx="365760" cy="457200"/>
          </a:xfrm>
          <a:prstGeom prst="rect">
            <a:avLst/>
          </a:prstGeom>
          <a:noFill/>
          <a:ln/>
        </p:spPr>
        <p:txBody>
          <a:bodyPr wrap="square" lIns="0" tIns="0" rIns="0" bIns="0" rtlCol="0" anchor="ctr"/>
          <a:lstStyle/>
          <a:p>
            <a:pPr marL="0" indent="0" algn="ctr">
              <a:buNone/>
            </a:pPr>
            <a:r>
              <a:rPr lang="en-US" sz="2000">
                <a:solidFill>
                  <a:srgbClr val="00D9FF"/>
                </a:solidFill>
                <a:latin typeface="Calibri" pitchFamily="34" charset="0"/>
                <a:ea typeface="Calibri" pitchFamily="34" charset="-122"/>
                <a:cs typeface="Calibri" pitchFamily="34" charset="-120"/>
              </a:rPr>
              <a:t>→</a:t>
            </a:r>
            <a:endParaRPr lang="en-US" sz="2000"/>
          </a:p>
        </p:txBody>
      </p:sp>
      <p:sp>
        <p:nvSpPr>
          <p:cNvPr id="19" name="Shape 15"/>
          <p:cNvSpPr/>
          <p:nvPr/>
        </p:nvSpPr>
        <p:spPr>
          <a:xfrm>
            <a:off x="7203758" y="5349240"/>
            <a:ext cx="512064" cy="512064"/>
          </a:xfrm>
          <a:prstGeom prst="ellipse">
            <a:avLst/>
          </a:prstGeom>
          <a:solidFill>
            <a:srgbClr val="00D9FF"/>
          </a:solidFill>
          <a:ln/>
        </p:spPr>
        <p:txBody>
          <a:bodyPr/>
          <a:lstStyle/>
          <a:p>
            <a:endParaRPr lang="en-US"/>
          </a:p>
        </p:txBody>
      </p:sp>
      <p:sp>
        <p:nvSpPr>
          <p:cNvPr id="20" name="Text 16"/>
          <p:cNvSpPr/>
          <p:nvPr/>
        </p:nvSpPr>
        <p:spPr>
          <a:xfrm>
            <a:off x="7203758" y="5349240"/>
            <a:ext cx="512064" cy="512064"/>
          </a:xfrm>
          <a:prstGeom prst="rect">
            <a:avLst/>
          </a:prstGeom>
          <a:noFill/>
          <a:ln/>
        </p:spPr>
        <p:txBody>
          <a:bodyPr wrap="square" lIns="0" tIns="0" rIns="0" bIns="0" rtlCol="0" anchor="ctr"/>
          <a:lstStyle/>
          <a:p>
            <a:pPr marL="0" indent="0" algn="ctr">
              <a:buNone/>
            </a:pPr>
            <a:r>
              <a:rPr lang="en-US" sz="1700" b="1">
                <a:solidFill>
                  <a:srgbClr val="FFFFFF"/>
                </a:solidFill>
                <a:latin typeface="Calibri" pitchFamily="34" charset="0"/>
                <a:ea typeface="Calibri" pitchFamily="34" charset="-122"/>
                <a:cs typeface="Calibri" pitchFamily="34" charset="-120"/>
              </a:rPr>
              <a:t>3</a:t>
            </a:r>
            <a:endParaRPr lang="en-US" sz="1700"/>
          </a:p>
        </p:txBody>
      </p:sp>
      <p:sp>
        <p:nvSpPr>
          <p:cNvPr id="21" name="Text 17"/>
          <p:cNvSpPr/>
          <p:nvPr/>
        </p:nvSpPr>
        <p:spPr>
          <a:xfrm>
            <a:off x="6095848" y="5897880"/>
            <a:ext cx="2727884" cy="274320"/>
          </a:xfrm>
          <a:prstGeom prst="rect">
            <a:avLst/>
          </a:prstGeom>
          <a:noFill/>
          <a:ln/>
        </p:spPr>
        <p:txBody>
          <a:bodyPr wrap="square" lIns="0" tIns="0" rIns="0" bIns="0" rtlCol="0" anchor="ctr"/>
          <a:lstStyle/>
          <a:p>
            <a:pPr marL="0" indent="0" algn="ctr">
              <a:buNone/>
            </a:pPr>
            <a:r>
              <a:rPr lang="en-US" sz="1100">
                <a:solidFill>
                  <a:srgbClr val="FFFFFF"/>
                </a:solidFill>
                <a:latin typeface="Calibri" pitchFamily="34" charset="0"/>
                <a:ea typeface="Calibri" pitchFamily="34" charset="-122"/>
                <a:cs typeface="Calibri" pitchFamily="34" charset="-120"/>
              </a:rPr>
              <a:t>Rule fires in Kibana</a:t>
            </a:r>
            <a:endParaRPr lang="en-US" sz="1100"/>
          </a:p>
        </p:txBody>
      </p:sp>
      <p:sp>
        <p:nvSpPr>
          <p:cNvPr id="22" name="Text 18"/>
          <p:cNvSpPr/>
          <p:nvPr/>
        </p:nvSpPr>
        <p:spPr>
          <a:xfrm>
            <a:off x="8640851" y="5376672"/>
            <a:ext cx="365760" cy="457200"/>
          </a:xfrm>
          <a:prstGeom prst="rect">
            <a:avLst/>
          </a:prstGeom>
          <a:noFill/>
          <a:ln/>
        </p:spPr>
        <p:txBody>
          <a:bodyPr wrap="square" lIns="0" tIns="0" rIns="0" bIns="0" rtlCol="0" anchor="ctr"/>
          <a:lstStyle/>
          <a:p>
            <a:pPr marL="0" indent="0" algn="ctr">
              <a:buNone/>
            </a:pPr>
            <a:r>
              <a:rPr lang="en-US" sz="2000">
                <a:solidFill>
                  <a:srgbClr val="00D9FF"/>
                </a:solidFill>
                <a:latin typeface="Calibri" pitchFamily="34" charset="0"/>
                <a:ea typeface="Calibri" pitchFamily="34" charset="-122"/>
                <a:cs typeface="Calibri" pitchFamily="34" charset="-120"/>
              </a:rPr>
              <a:t>→</a:t>
            </a:r>
            <a:endParaRPr lang="en-US" sz="2000"/>
          </a:p>
        </p:txBody>
      </p:sp>
      <p:sp>
        <p:nvSpPr>
          <p:cNvPr id="23" name="Shape 19"/>
          <p:cNvSpPr/>
          <p:nvPr/>
        </p:nvSpPr>
        <p:spPr>
          <a:xfrm>
            <a:off x="9931641" y="5349240"/>
            <a:ext cx="512064" cy="512064"/>
          </a:xfrm>
          <a:prstGeom prst="ellipse">
            <a:avLst/>
          </a:prstGeom>
          <a:solidFill>
            <a:srgbClr val="10B981"/>
          </a:solidFill>
          <a:ln/>
        </p:spPr>
        <p:txBody>
          <a:bodyPr/>
          <a:lstStyle/>
          <a:p>
            <a:endParaRPr lang="en-US"/>
          </a:p>
        </p:txBody>
      </p:sp>
      <p:sp>
        <p:nvSpPr>
          <p:cNvPr id="24" name="Text 20"/>
          <p:cNvSpPr/>
          <p:nvPr/>
        </p:nvSpPr>
        <p:spPr>
          <a:xfrm>
            <a:off x="9931641" y="5349240"/>
            <a:ext cx="512064" cy="512064"/>
          </a:xfrm>
          <a:prstGeom prst="rect">
            <a:avLst/>
          </a:prstGeom>
          <a:noFill/>
          <a:ln/>
        </p:spPr>
        <p:txBody>
          <a:bodyPr wrap="square" lIns="0" tIns="0" rIns="0" bIns="0" rtlCol="0" anchor="ctr"/>
          <a:lstStyle/>
          <a:p>
            <a:pPr marL="0" indent="0" algn="ctr">
              <a:buNone/>
            </a:pPr>
            <a:r>
              <a:rPr lang="en-US" sz="1700" b="1">
                <a:solidFill>
                  <a:srgbClr val="FFFFFF"/>
                </a:solidFill>
                <a:latin typeface="Calibri" pitchFamily="34" charset="0"/>
                <a:ea typeface="Calibri" pitchFamily="34" charset="-122"/>
                <a:cs typeface="Calibri" pitchFamily="34" charset="-120"/>
              </a:rPr>
              <a:t>4</a:t>
            </a:r>
            <a:endParaRPr lang="en-US" sz="1700"/>
          </a:p>
        </p:txBody>
      </p:sp>
      <p:sp>
        <p:nvSpPr>
          <p:cNvPr id="25" name="Text 21"/>
          <p:cNvSpPr/>
          <p:nvPr/>
        </p:nvSpPr>
        <p:spPr>
          <a:xfrm>
            <a:off x="8823731" y="5897880"/>
            <a:ext cx="2727884" cy="274320"/>
          </a:xfrm>
          <a:prstGeom prst="rect">
            <a:avLst/>
          </a:prstGeom>
          <a:noFill/>
          <a:ln/>
        </p:spPr>
        <p:txBody>
          <a:bodyPr wrap="square" lIns="0" tIns="0" rIns="0" bIns="0" rtlCol="0" anchor="ctr"/>
          <a:lstStyle/>
          <a:p>
            <a:pPr marL="0" indent="0" algn="ctr">
              <a:buNone/>
            </a:pPr>
            <a:r>
              <a:rPr lang="en-US" sz="1100">
                <a:solidFill>
                  <a:srgbClr val="FFFFFF"/>
                </a:solidFill>
                <a:latin typeface="Calibri" pitchFamily="34" charset="0"/>
                <a:ea typeface="Calibri" pitchFamily="34" charset="-122"/>
                <a:cs typeface="Calibri" pitchFamily="34" charset="-120"/>
              </a:rPr>
              <a:t>Teams notification</a:t>
            </a:r>
            <a:endParaRPr lang="en-US" sz="1100"/>
          </a:p>
        </p:txBody>
      </p:sp>
      <p:sp>
        <p:nvSpPr>
          <p:cNvPr id="26" name="Text 22"/>
          <p:cNvSpPr/>
          <p:nvPr/>
        </p:nvSpPr>
        <p:spPr>
          <a:xfrm>
            <a:off x="365760" y="6537960"/>
            <a:ext cx="4572000" cy="228600"/>
          </a:xfrm>
          <a:prstGeom prst="rect">
            <a:avLst/>
          </a:prstGeom>
          <a:noFill/>
          <a:ln/>
        </p:spPr>
        <p:txBody>
          <a:bodyPr wrap="square" lIns="0" tIns="0" rIns="0" bIns="0" rtlCol="0" anchor="ctr"/>
          <a:lstStyle/>
          <a:p>
            <a:pPr marL="0" indent="0" algn="l">
              <a:buNone/>
            </a:pPr>
            <a:r>
              <a:rPr lang="en-US" sz="900">
                <a:solidFill>
                  <a:srgbClr val="94A3B8"/>
                </a:solidFill>
                <a:latin typeface="Calibri" pitchFamily="34" charset="0"/>
                <a:ea typeface="Calibri" pitchFamily="34" charset="-122"/>
                <a:cs typeface="Calibri" pitchFamily="34" charset="-120"/>
              </a:rPr>
              <a:t>Incident Handling Lab  |  Elastic SIEM</a:t>
            </a:r>
            <a:endParaRPr lang="en-US" sz="900"/>
          </a:p>
        </p:txBody>
      </p:sp>
      <p:sp>
        <p:nvSpPr>
          <p:cNvPr id="27" name="Text 23"/>
          <p:cNvSpPr/>
          <p:nvPr/>
        </p:nvSpPr>
        <p:spPr>
          <a:xfrm>
            <a:off x="11094415" y="6537960"/>
            <a:ext cx="914400" cy="228600"/>
          </a:xfrm>
          <a:prstGeom prst="rect">
            <a:avLst/>
          </a:prstGeom>
          <a:noFill/>
          <a:ln/>
        </p:spPr>
        <p:txBody>
          <a:bodyPr wrap="square" lIns="0" tIns="0" rIns="0" bIns="0" rtlCol="0" anchor="ctr"/>
          <a:lstStyle/>
          <a:p>
            <a:pPr marL="0" indent="0" algn="r">
              <a:buNone/>
            </a:pPr>
            <a:r>
              <a:rPr lang="en-US" sz="900">
                <a:solidFill>
                  <a:srgbClr val="94A3B8"/>
                </a:solidFill>
                <a:latin typeface="Calibri" pitchFamily="34" charset="0"/>
                <a:ea typeface="Calibri" pitchFamily="34" charset="-122"/>
                <a:cs typeface="Calibri" pitchFamily="34" charset="-120"/>
              </a:rPr>
              <a:t>24 / 29</a:t>
            </a:r>
            <a:endParaRPr lang="en-US" sz="90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65760" y="457200"/>
            <a:ext cx="109728" cy="731520"/>
          </a:xfrm>
          <a:prstGeom prst="rect">
            <a:avLst/>
          </a:prstGeom>
          <a:solidFill>
            <a:srgbClr val="00D9FF"/>
          </a:solidFill>
          <a:ln/>
        </p:spPr>
        <p:txBody>
          <a:bodyPr/>
          <a:lstStyle/>
          <a:p>
            <a:endParaRPr lang="en-US"/>
          </a:p>
        </p:txBody>
      </p:sp>
      <p:sp>
        <p:nvSpPr>
          <p:cNvPr id="3" name="Text 1"/>
          <p:cNvSpPr/>
          <p:nvPr/>
        </p:nvSpPr>
        <p:spPr>
          <a:xfrm>
            <a:off x="640080" y="411480"/>
            <a:ext cx="10515600" cy="502920"/>
          </a:xfrm>
          <a:prstGeom prst="rect">
            <a:avLst/>
          </a:prstGeom>
          <a:noFill/>
          <a:ln/>
        </p:spPr>
        <p:txBody>
          <a:bodyPr wrap="square" lIns="0" tIns="0" rIns="0" bIns="0" rtlCol="0" anchor="t"/>
          <a:lstStyle/>
          <a:p>
            <a:pPr marL="0" indent="0">
              <a:buNone/>
            </a:pPr>
            <a:r>
              <a:rPr lang="en-US" sz="2800" b="1">
                <a:solidFill>
                  <a:srgbClr val="0F172A"/>
                </a:solidFill>
                <a:latin typeface="Calibri" pitchFamily="34" charset="0"/>
                <a:ea typeface="Calibri" pitchFamily="34" charset="-122"/>
                <a:cs typeface="Calibri" pitchFamily="34" charset="-120"/>
              </a:rPr>
              <a:t>Key Findings &amp; Insights</a:t>
            </a:r>
            <a:endParaRPr lang="en-US" sz="2800"/>
          </a:p>
        </p:txBody>
      </p:sp>
      <p:sp>
        <p:nvSpPr>
          <p:cNvPr id="4" name="Text 2"/>
          <p:cNvSpPr/>
          <p:nvPr/>
        </p:nvSpPr>
        <p:spPr>
          <a:xfrm>
            <a:off x="640080" y="868680"/>
            <a:ext cx="10515600" cy="320040"/>
          </a:xfrm>
          <a:prstGeom prst="rect">
            <a:avLst/>
          </a:prstGeom>
          <a:noFill/>
          <a:ln/>
        </p:spPr>
        <p:txBody>
          <a:bodyPr wrap="square" lIns="0" tIns="0" rIns="0" bIns="0" rtlCol="0" anchor="t"/>
          <a:lstStyle/>
          <a:p>
            <a:pPr marL="0" indent="0">
              <a:buNone/>
            </a:pPr>
            <a:r>
              <a:rPr lang="en-US" sz="1300" i="1">
                <a:solidFill>
                  <a:srgbClr val="475569"/>
                </a:solidFill>
                <a:latin typeface="Calibri" pitchFamily="34" charset="0"/>
                <a:ea typeface="Calibri" pitchFamily="34" charset="-122"/>
                <a:cs typeface="Calibri" pitchFamily="34" charset="-120"/>
              </a:rPr>
              <a:t>What the end-to-end build taught us</a:t>
            </a:r>
            <a:endParaRPr lang="en-US" sz="1300"/>
          </a:p>
        </p:txBody>
      </p:sp>
      <p:sp>
        <p:nvSpPr>
          <p:cNvPr id="5" name="Shape 3"/>
          <p:cNvSpPr/>
          <p:nvPr/>
        </p:nvSpPr>
        <p:spPr>
          <a:xfrm>
            <a:off x="640080" y="1371600"/>
            <a:ext cx="10911535" cy="932688"/>
          </a:xfrm>
          <a:prstGeom prst="rect">
            <a:avLst/>
          </a:prstGeom>
          <a:solidFill>
            <a:srgbClr val="F7F9FC"/>
          </a:solidFill>
          <a:ln w="6350">
            <a:solidFill>
              <a:srgbClr val="E2E8F0"/>
            </a:solidFill>
            <a:prstDash val="solid"/>
          </a:ln>
        </p:spPr>
        <p:txBody>
          <a:bodyPr/>
          <a:lstStyle/>
          <a:p>
            <a:endParaRPr lang="en-US"/>
          </a:p>
        </p:txBody>
      </p:sp>
      <p:sp>
        <p:nvSpPr>
          <p:cNvPr id="6" name="Shape 4"/>
          <p:cNvSpPr/>
          <p:nvPr/>
        </p:nvSpPr>
        <p:spPr>
          <a:xfrm>
            <a:off x="640080" y="1371600"/>
            <a:ext cx="91440" cy="932688"/>
          </a:xfrm>
          <a:prstGeom prst="rect">
            <a:avLst/>
          </a:prstGeom>
          <a:solidFill>
            <a:srgbClr val="00D9FF"/>
          </a:solidFill>
          <a:ln/>
        </p:spPr>
        <p:txBody>
          <a:bodyPr/>
          <a:lstStyle/>
          <a:p>
            <a:endParaRPr lang="en-US"/>
          </a:p>
        </p:txBody>
      </p:sp>
      <p:sp>
        <p:nvSpPr>
          <p:cNvPr id="7" name="Shape 5"/>
          <p:cNvSpPr/>
          <p:nvPr/>
        </p:nvSpPr>
        <p:spPr>
          <a:xfrm>
            <a:off x="868680" y="1545336"/>
            <a:ext cx="585216" cy="585216"/>
          </a:xfrm>
          <a:prstGeom prst="ellipse">
            <a:avLst/>
          </a:prstGeom>
          <a:solidFill>
            <a:srgbClr val="162B48"/>
          </a:solidFill>
          <a:ln/>
        </p:spPr>
        <p:txBody>
          <a:bodyPr/>
          <a:lstStyle/>
          <a:p>
            <a:endParaRPr lang="en-US"/>
          </a:p>
        </p:txBody>
      </p:sp>
      <p:pic>
        <p:nvPicPr>
          <p:cNvPr id="8" name="Image 0" descr="preencoded.png"/>
          <p:cNvPicPr>
            <a:picLocks noChangeAspect="1"/>
          </p:cNvPicPr>
          <p:nvPr/>
        </p:nvPicPr>
        <p:blipFill>
          <a:blip r:embed="rId3"/>
          <a:stretch>
            <a:fillRect/>
          </a:stretch>
        </p:blipFill>
        <p:spPr>
          <a:xfrm>
            <a:off x="978408" y="1655064"/>
            <a:ext cx="365760" cy="365760"/>
          </a:xfrm>
          <a:prstGeom prst="rect">
            <a:avLst/>
          </a:prstGeom>
        </p:spPr>
      </p:pic>
      <p:sp>
        <p:nvSpPr>
          <p:cNvPr id="9" name="Text 6"/>
          <p:cNvSpPr/>
          <p:nvPr/>
        </p:nvSpPr>
        <p:spPr>
          <a:xfrm>
            <a:off x="1600200" y="1463040"/>
            <a:ext cx="9905695" cy="365760"/>
          </a:xfrm>
          <a:prstGeom prst="rect">
            <a:avLst/>
          </a:prstGeom>
          <a:noFill/>
          <a:ln/>
        </p:spPr>
        <p:txBody>
          <a:bodyPr wrap="square" lIns="0" tIns="0" rIns="0" bIns="0" rtlCol="0" anchor="ctr"/>
          <a:lstStyle/>
          <a:p>
            <a:pPr marL="0" indent="0">
              <a:buNone/>
            </a:pPr>
            <a:r>
              <a:rPr lang="en-US" sz="1400" b="1">
                <a:solidFill>
                  <a:srgbClr val="0F172A"/>
                </a:solidFill>
                <a:latin typeface="Calibri" pitchFamily="34" charset="0"/>
                <a:ea typeface="Calibri" pitchFamily="34" charset="-122"/>
                <a:cs typeface="Calibri" pitchFamily="34" charset="-120"/>
              </a:rPr>
              <a:t>Centralised log collection is transformative</a:t>
            </a:r>
            <a:endParaRPr lang="en-US" sz="1400"/>
          </a:p>
        </p:txBody>
      </p:sp>
      <p:sp>
        <p:nvSpPr>
          <p:cNvPr id="10" name="Text 7"/>
          <p:cNvSpPr/>
          <p:nvPr/>
        </p:nvSpPr>
        <p:spPr>
          <a:xfrm>
            <a:off x="1600200" y="1783080"/>
            <a:ext cx="9905695" cy="502920"/>
          </a:xfrm>
          <a:prstGeom prst="rect">
            <a:avLst/>
          </a:prstGeom>
          <a:noFill/>
          <a:ln/>
        </p:spPr>
        <p:txBody>
          <a:bodyPr wrap="square" lIns="0" tIns="0" rIns="0" bIns="0" rtlCol="0" anchor="t"/>
          <a:lstStyle/>
          <a:p>
            <a:pPr marL="0" indent="0">
              <a:buNone/>
            </a:pPr>
            <a:r>
              <a:rPr lang="en-US" sz="1100">
                <a:solidFill>
                  <a:srgbClr val="475569"/>
                </a:solidFill>
                <a:latin typeface="Calibri" pitchFamily="34" charset="0"/>
                <a:ea typeface="Calibri" pitchFamily="34" charset="-122"/>
                <a:cs typeface="Calibri" pitchFamily="34" charset="-120"/>
              </a:rPr>
              <a:t>Before the SIEM, investigating a failed login meant SSHing into the target to read files. After, one KQL query covers every monitored machine in seconds.</a:t>
            </a:r>
            <a:endParaRPr lang="en-US" sz="1100"/>
          </a:p>
        </p:txBody>
      </p:sp>
      <p:sp>
        <p:nvSpPr>
          <p:cNvPr id="11" name="Shape 8"/>
          <p:cNvSpPr/>
          <p:nvPr/>
        </p:nvSpPr>
        <p:spPr>
          <a:xfrm>
            <a:off x="640080" y="2368296"/>
            <a:ext cx="10911535" cy="932688"/>
          </a:xfrm>
          <a:prstGeom prst="rect">
            <a:avLst/>
          </a:prstGeom>
          <a:solidFill>
            <a:srgbClr val="F7F9FC"/>
          </a:solidFill>
          <a:ln w="6350">
            <a:solidFill>
              <a:srgbClr val="E2E8F0"/>
            </a:solidFill>
            <a:prstDash val="solid"/>
          </a:ln>
        </p:spPr>
        <p:txBody>
          <a:bodyPr/>
          <a:lstStyle/>
          <a:p>
            <a:endParaRPr lang="en-US"/>
          </a:p>
        </p:txBody>
      </p:sp>
      <p:sp>
        <p:nvSpPr>
          <p:cNvPr id="12" name="Shape 9"/>
          <p:cNvSpPr/>
          <p:nvPr/>
        </p:nvSpPr>
        <p:spPr>
          <a:xfrm>
            <a:off x="640080" y="2368296"/>
            <a:ext cx="91440" cy="932688"/>
          </a:xfrm>
          <a:prstGeom prst="rect">
            <a:avLst/>
          </a:prstGeom>
          <a:solidFill>
            <a:srgbClr val="EF4444"/>
          </a:solidFill>
          <a:ln/>
        </p:spPr>
        <p:txBody>
          <a:bodyPr/>
          <a:lstStyle/>
          <a:p>
            <a:endParaRPr lang="en-US"/>
          </a:p>
        </p:txBody>
      </p:sp>
      <p:sp>
        <p:nvSpPr>
          <p:cNvPr id="13" name="Shape 10"/>
          <p:cNvSpPr/>
          <p:nvPr/>
        </p:nvSpPr>
        <p:spPr>
          <a:xfrm>
            <a:off x="868680" y="2542032"/>
            <a:ext cx="585216" cy="585216"/>
          </a:xfrm>
          <a:prstGeom prst="ellipse">
            <a:avLst/>
          </a:prstGeom>
          <a:solidFill>
            <a:srgbClr val="162B48"/>
          </a:solidFill>
          <a:ln/>
        </p:spPr>
        <p:txBody>
          <a:bodyPr/>
          <a:lstStyle/>
          <a:p>
            <a:endParaRPr lang="en-US"/>
          </a:p>
        </p:txBody>
      </p:sp>
      <p:pic>
        <p:nvPicPr>
          <p:cNvPr id="14" name="Image 1" descr="preencoded.png"/>
          <p:cNvPicPr>
            <a:picLocks noChangeAspect="1"/>
          </p:cNvPicPr>
          <p:nvPr/>
        </p:nvPicPr>
        <p:blipFill>
          <a:blip r:embed="rId4"/>
          <a:stretch>
            <a:fillRect/>
          </a:stretch>
        </p:blipFill>
        <p:spPr>
          <a:xfrm>
            <a:off x="978408" y="2651760"/>
            <a:ext cx="365760" cy="365760"/>
          </a:xfrm>
          <a:prstGeom prst="rect">
            <a:avLst/>
          </a:prstGeom>
        </p:spPr>
      </p:pic>
      <p:sp>
        <p:nvSpPr>
          <p:cNvPr id="15" name="Text 11"/>
          <p:cNvSpPr/>
          <p:nvPr/>
        </p:nvSpPr>
        <p:spPr>
          <a:xfrm>
            <a:off x="1600200" y="2459736"/>
            <a:ext cx="9905695" cy="365760"/>
          </a:xfrm>
          <a:prstGeom prst="rect">
            <a:avLst/>
          </a:prstGeom>
          <a:noFill/>
          <a:ln/>
        </p:spPr>
        <p:txBody>
          <a:bodyPr wrap="square" lIns="0" tIns="0" rIns="0" bIns="0" rtlCol="0" anchor="ctr"/>
          <a:lstStyle/>
          <a:p>
            <a:pPr marL="0" indent="0">
              <a:buNone/>
            </a:pPr>
            <a:r>
              <a:rPr lang="en-US" sz="1400" b="1">
                <a:solidFill>
                  <a:srgbClr val="0F172A"/>
                </a:solidFill>
                <a:latin typeface="Calibri" pitchFamily="34" charset="0"/>
                <a:ea typeface="Calibri" pitchFamily="34" charset="-122"/>
                <a:cs typeface="Calibri" pitchFamily="34" charset="-120"/>
              </a:rPr>
              <a:t>Brute force attacks have a loud, consistent signature</a:t>
            </a:r>
            <a:endParaRPr lang="en-US" sz="1400"/>
          </a:p>
        </p:txBody>
      </p:sp>
      <p:sp>
        <p:nvSpPr>
          <p:cNvPr id="16" name="Text 12"/>
          <p:cNvSpPr/>
          <p:nvPr/>
        </p:nvSpPr>
        <p:spPr>
          <a:xfrm>
            <a:off x="1600200" y="2779776"/>
            <a:ext cx="9905695" cy="502920"/>
          </a:xfrm>
          <a:prstGeom prst="rect">
            <a:avLst/>
          </a:prstGeom>
          <a:noFill/>
          <a:ln/>
        </p:spPr>
        <p:txBody>
          <a:bodyPr wrap="square" lIns="0" tIns="0" rIns="0" bIns="0" rtlCol="0" anchor="t"/>
          <a:lstStyle/>
          <a:p>
            <a:pPr marL="0" indent="0">
              <a:buNone/>
            </a:pPr>
            <a:r>
              <a:rPr lang="en-US" sz="1100">
                <a:solidFill>
                  <a:srgbClr val="475569"/>
                </a:solidFill>
                <a:latin typeface="Calibri" pitchFamily="34" charset="0"/>
                <a:ea typeface="Calibri" pitchFamily="34" charset="-122"/>
                <a:cs typeface="Calibri" pitchFamily="34" charset="-120"/>
              </a:rPr>
              <a:t>Many failure events from one source IP in a narrow time window — distinctive and well understood, yet still the top breach vector for many organizations.</a:t>
            </a:r>
            <a:endParaRPr lang="en-US" sz="1100"/>
          </a:p>
        </p:txBody>
      </p:sp>
      <p:sp>
        <p:nvSpPr>
          <p:cNvPr id="17" name="Shape 13"/>
          <p:cNvSpPr/>
          <p:nvPr/>
        </p:nvSpPr>
        <p:spPr>
          <a:xfrm>
            <a:off x="640080" y="3364992"/>
            <a:ext cx="10911535" cy="932688"/>
          </a:xfrm>
          <a:prstGeom prst="rect">
            <a:avLst/>
          </a:prstGeom>
          <a:solidFill>
            <a:srgbClr val="F7F9FC"/>
          </a:solidFill>
          <a:ln w="6350">
            <a:solidFill>
              <a:srgbClr val="E2E8F0"/>
            </a:solidFill>
            <a:prstDash val="solid"/>
          </a:ln>
        </p:spPr>
        <p:txBody>
          <a:bodyPr/>
          <a:lstStyle/>
          <a:p>
            <a:endParaRPr lang="en-US"/>
          </a:p>
        </p:txBody>
      </p:sp>
      <p:sp>
        <p:nvSpPr>
          <p:cNvPr id="18" name="Shape 14"/>
          <p:cNvSpPr/>
          <p:nvPr/>
        </p:nvSpPr>
        <p:spPr>
          <a:xfrm>
            <a:off x="640080" y="3364992"/>
            <a:ext cx="91440" cy="932688"/>
          </a:xfrm>
          <a:prstGeom prst="rect">
            <a:avLst/>
          </a:prstGeom>
          <a:solidFill>
            <a:srgbClr val="F59E0B"/>
          </a:solidFill>
          <a:ln/>
        </p:spPr>
        <p:txBody>
          <a:bodyPr/>
          <a:lstStyle/>
          <a:p>
            <a:endParaRPr lang="en-US"/>
          </a:p>
        </p:txBody>
      </p:sp>
      <p:sp>
        <p:nvSpPr>
          <p:cNvPr id="19" name="Shape 15"/>
          <p:cNvSpPr/>
          <p:nvPr/>
        </p:nvSpPr>
        <p:spPr>
          <a:xfrm>
            <a:off x="868680" y="3538728"/>
            <a:ext cx="585216" cy="585216"/>
          </a:xfrm>
          <a:prstGeom prst="ellipse">
            <a:avLst/>
          </a:prstGeom>
          <a:solidFill>
            <a:srgbClr val="162B48"/>
          </a:solidFill>
          <a:ln/>
        </p:spPr>
        <p:txBody>
          <a:bodyPr/>
          <a:lstStyle/>
          <a:p>
            <a:endParaRPr lang="en-US"/>
          </a:p>
        </p:txBody>
      </p:sp>
      <p:pic>
        <p:nvPicPr>
          <p:cNvPr id="20" name="Image 2" descr="preencoded.png"/>
          <p:cNvPicPr>
            <a:picLocks noChangeAspect="1"/>
          </p:cNvPicPr>
          <p:nvPr/>
        </p:nvPicPr>
        <p:blipFill>
          <a:blip r:embed="rId5"/>
          <a:stretch>
            <a:fillRect/>
          </a:stretch>
        </p:blipFill>
        <p:spPr>
          <a:xfrm>
            <a:off x="978408" y="3648456"/>
            <a:ext cx="365760" cy="365760"/>
          </a:xfrm>
          <a:prstGeom prst="rect">
            <a:avLst/>
          </a:prstGeom>
        </p:spPr>
      </p:pic>
      <p:sp>
        <p:nvSpPr>
          <p:cNvPr id="21" name="Text 16"/>
          <p:cNvSpPr/>
          <p:nvPr/>
        </p:nvSpPr>
        <p:spPr>
          <a:xfrm>
            <a:off x="1600200" y="3456432"/>
            <a:ext cx="9905695" cy="365760"/>
          </a:xfrm>
          <a:prstGeom prst="rect">
            <a:avLst/>
          </a:prstGeom>
          <a:noFill/>
          <a:ln/>
        </p:spPr>
        <p:txBody>
          <a:bodyPr wrap="square" lIns="0" tIns="0" rIns="0" bIns="0" rtlCol="0" anchor="ctr"/>
          <a:lstStyle/>
          <a:p>
            <a:pPr marL="0" indent="0">
              <a:buNone/>
            </a:pPr>
            <a:r>
              <a:rPr lang="en-US" sz="1400" b="1">
                <a:solidFill>
                  <a:srgbClr val="0F172A"/>
                </a:solidFill>
                <a:latin typeface="Calibri" pitchFamily="34" charset="0"/>
                <a:ea typeface="Calibri" pitchFamily="34" charset="-122"/>
                <a:cs typeface="Calibri" pitchFamily="34" charset="-120"/>
              </a:rPr>
              <a:t>The failure/success distinction matters enormously</a:t>
            </a:r>
            <a:endParaRPr lang="en-US" sz="1400"/>
          </a:p>
        </p:txBody>
      </p:sp>
      <p:sp>
        <p:nvSpPr>
          <p:cNvPr id="22" name="Text 17"/>
          <p:cNvSpPr/>
          <p:nvPr/>
        </p:nvSpPr>
        <p:spPr>
          <a:xfrm>
            <a:off x="1600200" y="3776472"/>
            <a:ext cx="9905695" cy="502920"/>
          </a:xfrm>
          <a:prstGeom prst="rect">
            <a:avLst/>
          </a:prstGeom>
          <a:noFill/>
          <a:ln/>
        </p:spPr>
        <p:txBody>
          <a:bodyPr wrap="square" lIns="0" tIns="0" rIns="0" bIns="0" rtlCol="0" anchor="t"/>
          <a:lstStyle/>
          <a:p>
            <a:pPr marL="0" indent="0">
              <a:buNone/>
            </a:pPr>
            <a:r>
              <a:rPr lang="en-US" sz="1100">
                <a:solidFill>
                  <a:srgbClr val="475569"/>
                </a:solidFill>
                <a:latin typeface="Calibri" pitchFamily="34" charset="0"/>
                <a:ea typeface="Calibri" pitchFamily="34" charset="-122"/>
                <a:cs typeface="Calibri" pitchFamily="34" charset="-120"/>
              </a:rPr>
              <a:t>Finding one successful login hidden among thousands of failures is the single most important skill in this kind of data.</a:t>
            </a:r>
            <a:endParaRPr lang="en-US" sz="1100"/>
          </a:p>
        </p:txBody>
      </p:sp>
      <p:sp>
        <p:nvSpPr>
          <p:cNvPr id="23" name="Shape 18"/>
          <p:cNvSpPr/>
          <p:nvPr/>
        </p:nvSpPr>
        <p:spPr>
          <a:xfrm>
            <a:off x="640080" y="4361688"/>
            <a:ext cx="10911535" cy="932688"/>
          </a:xfrm>
          <a:prstGeom prst="rect">
            <a:avLst/>
          </a:prstGeom>
          <a:solidFill>
            <a:srgbClr val="F7F9FC"/>
          </a:solidFill>
          <a:ln w="6350">
            <a:solidFill>
              <a:srgbClr val="E2E8F0"/>
            </a:solidFill>
            <a:prstDash val="solid"/>
          </a:ln>
        </p:spPr>
        <p:txBody>
          <a:bodyPr/>
          <a:lstStyle/>
          <a:p>
            <a:endParaRPr lang="en-US"/>
          </a:p>
        </p:txBody>
      </p:sp>
      <p:sp>
        <p:nvSpPr>
          <p:cNvPr id="24" name="Shape 19"/>
          <p:cNvSpPr/>
          <p:nvPr/>
        </p:nvSpPr>
        <p:spPr>
          <a:xfrm>
            <a:off x="640080" y="4361688"/>
            <a:ext cx="91440" cy="932688"/>
          </a:xfrm>
          <a:prstGeom prst="rect">
            <a:avLst/>
          </a:prstGeom>
          <a:solidFill>
            <a:srgbClr val="A78BFA"/>
          </a:solidFill>
          <a:ln/>
        </p:spPr>
        <p:txBody>
          <a:bodyPr/>
          <a:lstStyle/>
          <a:p>
            <a:endParaRPr lang="en-US"/>
          </a:p>
        </p:txBody>
      </p:sp>
      <p:sp>
        <p:nvSpPr>
          <p:cNvPr id="25" name="Shape 20"/>
          <p:cNvSpPr/>
          <p:nvPr/>
        </p:nvSpPr>
        <p:spPr>
          <a:xfrm>
            <a:off x="868680" y="4535424"/>
            <a:ext cx="585216" cy="585216"/>
          </a:xfrm>
          <a:prstGeom prst="ellipse">
            <a:avLst/>
          </a:prstGeom>
          <a:solidFill>
            <a:srgbClr val="162B48"/>
          </a:solidFill>
          <a:ln/>
        </p:spPr>
        <p:txBody>
          <a:bodyPr/>
          <a:lstStyle/>
          <a:p>
            <a:endParaRPr lang="en-US"/>
          </a:p>
        </p:txBody>
      </p:sp>
      <p:pic>
        <p:nvPicPr>
          <p:cNvPr id="26" name="Image 3" descr="preencoded.png"/>
          <p:cNvPicPr>
            <a:picLocks noChangeAspect="1"/>
          </p:cNvPicPr>
          <p:nvPr/>
        </p:nvPicPr>
        <p:blipFill>
          <a:blip r:embed="rId6"/>
          <a:stretch>
            <a:fillRect/>
          </a:stretch>
        </p:blipFill>
        <p:spPr>
          <a:xfrm>
            <a:off x="978408" y="4645152"/>
            <a:ext cx="365760" cy="365760"/>
          </a:xfrm>
          <a:prstGeom prst="rect">
            <a:avLst/>
          </a:prstGeom>
        </p:spPr>
      </p:pic>
      <p:sp>
        <p:nvSpPr>
          <p:cNvPr id="27" name="Text 21"/>
          <p:cNvSpPr/>
          <p:nvPr/>
        </p:nvSpPr>
        <p:spPr>
          <a:xfrm>
            <a:off x="1600200" y="4453128"/>
            <a:ext cx="9905695" cy="365760"/>
          </a:xfrm>
          <a:prstGeom prst="rect">
            <a:avLst/>
          </a:prstGeom>
          <a:noFill/>
          <a:ln/>
        </p:spPr>
        <p:txBody>
          <a:bodyPr wrap="square" lIns="0" tIns="0" rIns="0" bIns="0" rtlCol="0" anchor="ctr"/>
          <a:lstStyle/>
          <a:p>
            <a:pPr marL="0" indent="0">
              <a:buNone/>
            </a:pPr>
            <a:r>
              <a:rPr lang="en-US" sz="1400" b="1">
                <a:solidFill>
                  <a:srgbClr val="0F172A"/>
                </a:solidFill>
                <a:latin typeface="Calibri" pitchFamily="34" charset="0"/>
                <a:ea typeface="Calibri" pitchFamily="34" charset="-122"/>
                <a:cs typeface="Calibri" pitchFamily="34" charset="-120"/>
              </a:rPr>
              <a:t>Kernel-level FIM catches what nothing else can</a:t>
            </a:r>
            <a:endParaRPr lang="en-US" sz="1400"/>
          </a:p>
        </p:txBody>
      </p:sp>
      <p:sp>
        <p:nvSpPr>
          <p:cNvPr id="28" name="Text 22"/>
          <p:cNvSpPr/>
          <p:nvPr/>
        </p:nvSpPr>
        <p:spPr>
          <a:xfrm>
            <a:off x="1600200" y="4773168"/>
            <a:ext cx="9905695" cy="502920"/>
          </a:xfrm>
          <a:prstGeom prst="rect">
            <a:avLst/>
          </a:prstGeom>
          <a:noFill/>
          <a:ln/>
        </p:spPr>
        <p:txBody>
          <a:bodyPr wrap="square" lIns="0" tIns="0" rIns="0" bIns="0" rtlCol="0" anchor="t"/>
          <a:lstStyle/>
          <a:p>
            <a:pPr marL="0" indent="0">
              <a:buNone/>
            </a:pPr>
            <a:r>
              <a:rPr lang="en-US" sz="1100">
                <a:solidFill>
                  <a:srgbClr val="475569"/>
                </a:solidFill>
                <a:latin typeface="Calibri" pitchFamily="34" charset="0"/>
                <a:ea typeface="Calibri" pitchFamily="34" charset="-122"/>
                <a:cs typeface="Calibri" pitchFamily="34" charset="-120"/>
              </a:rPr>
              <a:t>An attacker can hide process activity, mask network traffic, or clear syslog — but changing a file on a machine running Auditd always leaves a record.</a:t>
            </a:r>
            <a:endParaRPr lang="en-US" sz="1100"/>
          </a:p>
        </p:txBody>
      </p:sp>
      <p:sp>
        <p:nvSpPr>
          <p:cNvPr id="29" name="Shape 23"/>
          <p:cNvSpPr/>
          <p:nvPr/>
        </p:nvSpPr>
        <p:spPr>
          <a:xfrm>
            <a:off x="640080" y="5358384"/>
            <a:ext cx="10911535" cy="932688"/>
          </a:xfrm>
          <a:prstGeom prst="rect">
            <a:avLst/>
          </a:prstGeom>
          <a:solidFill>
            <a:srgbClr val="F7F9FC"/>
          </a:solidFill>
          <a:ln w="6350">
            <a:solidFill>
              <a:srgbClr val="E2E8F0"/>
            </a:solidFill>
            <a:prstDash val="solid"/>
          </a:ln>
        </p:spPr>
        <p:txBody>
          <a:bodyPr/>
          <a:lstStyle/>
          <a:p>
            <a:endParaRPr lang="en-US"/>
          </a:p>
        </p:txBody>
      </p:sp>
      <p:sp>
        <p:nvSpPr>
          <p:cNvPr id="30" name="Shape 24"/>
          <p:cNvSpPr/>
          <p:nvPr/>
        </p:nvSpPr>
        <p:spPr>
          <a:xfrm>
            <a:off x="640080" y="5358384"/>
            <a:ext cx="91440" cy="932688"/>
          </a:xfrm>
          <a:prstGeom prst="rect">
            <a:avLst/>
          </a:prstGeom>
          <a:solidFill>
            <a:srgbClr val="10B981"/>
          </a:solidFill>
          <a:ln/>
        </p:spPr>
        <p:txBody>
          <a:bodyPr/>
          <a:lstStyle/>
          <a:p>
            <a:endParaRPr lang="en-US"/>
          </a:p>
        </p:txBody>
      </p:sp>
      <p:sp>
        <p:nvSpPr>
          <p:cNvPr id="31" name="Shape 25"/>
          <p:cNvSpPr/>
          <p:nvPr/>
        </p:nvSpPr>
        <p:spPr>
          <a:xfrm>
            <a:off x="868680" y="5532120"/>
            <a:ext cx="585216" cy="585216"/>
          </a:xfrm>
          <a:prstGeom prst="ellipse">
            <a:avLst/>
          </a:prstGeom>
          <a:solidFill>
            <a:srgbClr val="162B48"/>
          </a:solidFill>
          <a:ln/>
        </p:spPr>
        <p:txBody>
          <a:bodyPr/>
          <a:lstStyle/>
          <a:p>
            <a:endParaRPr lang="en-US"/>
          </a:p>
        </p:txBody>
      </p:sp>
      <p:pic>
        <p:nvPicPr>
          <p:cNvPr id="32" name="Image 4" descr="preencoded.png"/>
          <p:cNvPicPr>
            <a:picLocks noChangeAspect="1"/>
          </p:cNvPicPr>
          <p:nvPr/>
        </p:nvPicPr>
        <p:blipFill>
          <a:blip r:embed="rId7"/>
          <a:stretch>
            <a:fillRect/>
          </a:stretch>
        </p:blipFill>
        <p:spPr>
          <a:xfrm>
            <a:off x="978408" y="5641848"/>
            <a:ext cx="365760" cy="365760"/>
          </a:xfrm>
          <a:prstGeom prst="rect">
            <a:avLst/>
          </a:prstGeom>
        </p:spPr>
      </p:pic>
      <p:sp>
        <p:nvSpPr>
          <p:cNvPr id="33" name="Text 26"/>
          <p:cNvSpPr/>
          <p:nvPr/>
        </p:nvSpPr>
        <p:spPr>
          <a:xfrm>
            <a:off x="1600200" y="5449824"/>
            <a:ext cx="9905695" cy="365760"/>
          </a:xfrm>
          <a:prstGeom prst="rect">
            <a:avLst/>
          </a:prstGeom>
          <a:noFill/>
          <a:ln/>
        </p:spPr>
        <p:txBody>
          <a:bodyPr wrap="square" lIns="0" tIns="0" rIns="0" bIns="0" rtlCol="0" anchor="ctr"/>
          <a:lstStyle/>
          <a:p>
            <a:pPr marL="0" indent="0">
              <a:buNone/>
            </a:pPr>
            <a:r>
              <a:rPr lang="en-US" sz="1400" b="1">
                <a:solidFill>
                  <a:srgbClr val="0F172A"/>
                </a:solidFill>
                <a:latin typeface="Calibri" pitchFamily="34" charset="0"/>
                <a:ea typeface="Calibri" pitchFamily="34" charset="-122"/>
                <a:cs typeface="Calibri" pitchFamily="34" charset="-120"/>
              </a:rPr>
              <a:t>Alerting pipelines turn forensic tools into operational ones</a:t>
            </a:r>
            <a:endParaRPr lang="en-US" sz="1400"/>
          </a:p>
        </p:txBody>
      </p:sp>
      <p:sp>
        <p:nvSpPr>
          <p:cNvPr id="34" name="Text 27"/>
          <p:cNvSpPr/>
          <p:nvPr/>
        </p:nvSpPr>
        <p:spPr>
          <a:xfrm>
            <a:off x="1600200" y="5769864"/>
            <a:ext cx="9905695" cy="502920"/>
          </a:xfrm>
          <a:prstGeom prst="rect">
            <a:avLst/>
          </a:prstGeom>
          <a:noFill/>
          <a:ln/>
        </p:spPr>
        <p:txBody>
          <a:bodyPr wrap="square" lIns="0" tIns="0" rIns="0" bIns="0" rtlCol="0" anchor="t"/>
          <a:lstStyle/>
          <a:p>
            <a:pPr marL="0" indent="0">
              <a:buNone/>
            </a:pPr>
            <a:r>
              <a:rPr lang="en-US" sz="1100">
                <a:solidFill>
                  <a:srgbClr val="475569"/>
                </a:solidFill>
                <a:latin typeface="Calibri" pitchFamily="34" charset="0"/>
                <a:ea typeface="Calibri" pitchFamily="34" charset="-122"/>
                <a:cs typeface="Calibri" pitchFamily="34" charset="-120"/>
              </a:rPr>
              <a:t>A SIEM that only shows you what happened yesterday is valuable. One that alerts in real time lets you respond before the attacker achieves their goal.</a:t>
            </a:r>
            <a:endParaRPr lang="en-US" sz="1100"/>
          </a:p>
        </p:txBody>
      </p:sp>
      <p:sp>
        <p:nvSpPr>
          <p:cNvPr id="35" name="Text 28"/>
          <p:cNvSpPr/>
          <p:nvPr/>
        </p:nvSpPr>
        <p:spPr>
          <a:xfrm>
            <a:off x="365760" y="6537960"/>
            <a:ext cx="4572000" cy="228600"/>
          </a:xfrm>
          <a:prstGeom prst="rect">
            <a:avLst/>
          </a:prstGeom>
          <a:noFill/>
          <a:ln/>
        </p:spPr>
        <p:txBody>
          <a:bodyPr wrap="square" lIns="0" tIns="0" rIns="0" bIns="0" rtlCol="0" anchor="ctr"/>
          <a:lstStyle/>
          <a:p>
            <a:pPr marL="0" indent="0" algn="l">
              <a:buNone/>
            </a:pPr>
            <a:r>
              <a:rPr lang="en-US" sz="900">
                <a:solidFill>
                  <a:srgbClr val="94A3B8"/>
                </a:solidFill>
                <a:latin typeface="Calibri" pitchFamily="34" charset="0"/>
                <a:ea typeface="Calibri" pitchFamily="34" charset="-122"/>
                <a:cs typeface="Calibri" pitchFamily="34" charset="-120"/>
              </a:rPr>
              <a:t>Incident Handling Lab  |  Elastic SIEM</a:t>
            </a:r>
            <a:endParaRPr lang="en-US" sz="900"/>
          </a:p>
        </p:txBody>
      </p:sp>
      <p:sp>
        <p:nvSpPr>
          <p:cNvPr id="36" name="Text 29"/>
          <p:cNvSpPr/>
          <p:nvPr/>
        </p:nvSpPr>
        <p:spPr>
          <a:xfrm>
            <a:off x="11094415" y="6537960"/>
            <a:ext cx="914400" cy="228600"/>
          </a:xfrm>
          <a:prstGeom prst="rect">
            <a:avLst/>
          </a:prstGeom>
          <a:noFill/>
          <a:ln/>
        </p:spPr>
        <p:txBody>
          <a:bodyPr wrap="square" lIns="0" tIns="0" rIns="0" bIns="0" rtlCol="0" anchor="ctr"/>
          <a:lstStyle/>
          <a:p>
            <a:pPr marL="0" indent="0" algn="r">
              <a:buNone/>
            </a:pPr>
            <a:r>
              <a:rPr lang="en-US" sz="900">
                <a:solidFill>
                  <a:srgbClr val="94A3B8"/>
                </a:solidFill>
                <a:latin typeface="Calibri" pitchFamily="34" charset="0"/>
                <a:ea typeface="Calibri" pitchFamily="34" charset="-122"/>
                <a:cs typeface="Calibri" pitchFamily="34" charset="-120"/>
              </a:rPr>
              <a:t>25 / 29</a:t>
            </a:r>
            <a:endParaRPr lang="en-US" sz="90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65760" y="457200"/>
            <a:ext cx="109728" cy="731520"/>
          </a:xfrm>
          <a:prstGeom prst="rect">
            <a:avLst/>
          </a:prstGeom>
          <a:solidFill>
            <a:srgbClr val="00D9FF"/>
          </a:solidFill>
          <a:ln/>
        </p:spPr>
        <p:txBody>
          <a:bodyPr/>
          <a:lstStyle/>
          <a:p>
            <a:endParaRPr lang="en-US"/>
          </a:p>
        </p:txBody>
      </p:sp>
      <p:sp>
        <p:nvSpPr>
          <p:cNvPr id="3" name="Text 1"/>
          <p:cNvSpPr/>
          <p:nvPr/>
        </p:nvSpPr>
        <p:spPr>
          <a:xfrm>
            <a:off x="640080" y="411480"/>
            <a:ext cx="10515600" cy="502920"/>
          </a:xfrm>
          <a:prstGeom prst="rect">
            <a:avLst/>
          </a:prstGeom>
          <a:noFill/>
          <a:ln/>
        </p:spPr>
        <p:txBody>
          <a:bodyPr wrap="square" lIns="0" tIns="0" rIns="0" bIns="0" rtlCol="0" anchor="t"/>
          <a:lstStyle/>
          <a:p>
            <a:pPr marL="0" indent="0">
              <a:buNone/>
            </a:pPr>
            <a:r>
              <a:rPr lang="en-US" sz="2800" b="1">
                <a:solidFill>
                  <a:srgbClr val="0F172A"/>
                </a:solidFill>
                <a:latin typeface="Calibri" pitchFamily="34" charset="0"/>
                <a:ea typeface="Calibri" pitchFamily="34" charset="-122"/>
                <a:cs typeface="Calibri" pitchFamily="34" charset="-120"/>
              </a:rPr>
              <a:t>Lessons Learned — Practical Gotchas</a:t>
            </a:r>
            <a:endParaRPr lang="en-US" sz="2800"/>
          </a:p>
        </p:txBody>
      </p:sp>
      <p:sp>
        <p:nvSpPr>
          <p:cNvPr id="4" name="Text 2"/>
          <p:cNvSpPr/>
          <p:nvPr/>
        </p:nvSpPr>
        <p:spPr>
          <a:xfrm>
            <a:off x="640080" y="868680"/>
            <a:ext cx="10515600" cy="320040"/>
          </a:xfrm>
          <a:prstGeom prst="rect">
            <a:avLst/>
          </a:prstGeom>
          <a:noFill/>
          <a:ln/>
        </p:spPr>
        <p:txBody>
          <a:bodyPr wrap="square" lIns="0" tIns="0" rIns="0" bIns="0" rtlCol="0" anchor="t"/>
          <a:lstStyle/>
          <a:p>
            <a:pPr marL="0" indent="0">
              <a:buNone/>
            </a:pPr>
            <a:r>
              <a:rPr lang="en-US" sz="1300" i="1">
                <a:solidFill>
                  <a:srgbClr val="475569"/>
                </a:solidFill>
                <a:latin typeface="Calibri" pitchFamily="34" charset="0"/>
                <a:ea typeface="Calibri" pitchFamily="34" charset="-122"/>
                <a:cs typeface="Calibri" pitchFamily="34" charset="-120"/>
              </a:rPr>
              <a:t>Things we only learned by running into them</a:t>
            </a:r>
            <a:endParaRPr lang="en-US" sz="1300"/>
          </a:p>
        </p:txBody>
      </p:sp>
      <p:sp>
        <p:nvSpPr>
          <p:cNvPr id="5" name="Shape 3"/>
          <p:cNvSpPr/>
          <p:nvPr/>
        </p:nvSpPr>
        <p:spPr>
          <a:xfrm>
            <a:off x="640080" y="1371600"/>
            <a:ext cx="5440680" cy="1508760"/>
          </a:xfrm>
          <a:prstGeom prst="rect">
            <a:avLst/>
          </a:prstGeom>
          <a:solidFill>
            <a:srgbClr val="FFFFFF"/>
          </a:solidFill>
          <a:ln w="12700">
            <a:solidFill>
              <a:srgbClr val="E2E8F0"/>
            </a:solidFill>
            <a:prstDash val="solid"/>
          </a:ln>
          <a:effectLst>
            <a:outerShdw blurRad="101600" dist="38100" dir="5400000" algn="bl" rotWithShape="0">
              <a:srgbClr val="000000">
                <a:alpha val="12000"/>
              </a:srgbClr>
            </a:outerShdw>
          </a:effectLst>
        </p:spPr>
        <p:txBody>
          <a:bodyPr/>
          <a:lstStyle/>
          <a:p>
            <a:endParaRPr lang="en-US"/>
          </a:p>
        </p:txBody>
      </p:sp>
      <p:sp>
        <p:nvSpPr>
          <p:cNvPr id="6" name="Shape 4"/>
          <p:cNvSpPr/>
          <p:nvPr/>
        </p:nvSpPr>
        <p:spPr>
          <a:xfrm>
            <a:off x="868680" y="1737360"/>
            <a:ext cx="731520" cy="731520"/>
          </a:xfrm>
          <a:prstGeom prst="rect">
            <a:avLst/>
          </a:prstGeom>
          <a:solidFill>
            <a:srgbClr val="F59E0B">
              <a:alpha val="15000"/>
            </a:srgbClr>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1005840" y="1874520"/>
            <a:ext cx="457200" cy="457200"/>
          </a:xfrm>
          <a:prstGeom prst="rect">
            <a:avLst/>
          </a:prstGeom>
        </p:spPr>
      </p:pic>
      <p:sp>
        <p:nvSpPr>
          <p:cNvPr id="8" name="Text 5"/>
          <p:cNvSpPr/>
          <p:nvPr/>
        </p:nvSpPr>
        <p:spPr>
          <a:xfrm>
            <a:off x="5166360" y="1554480"/>
            <a:ext cx="731520" cy="274320"/>
          </a:xfrm>
          <a:prstGeom prst="rect">
            <a:avLst/>
          </a:prstGeom>
          <a:noFill/>
          <a:ln/>
        </p:spPr>
        <p:txBody>
          <a:bodyPr wrap="square" lIns="0" tIns="0" rIns="0" bIns="0" rtlCol="0" anchor="ctr"/>
          <a:lstStyle/>
          <a:p>
            <a:pPr marL="0" indent="0" algn="r">
              <a:buNone/>
            </a:pPr>
            <a:r>
              <a:rPr lang="en-US" sz="1100" b="1" kern="0" spc="200">
                <a:solidFill>
                  <a:srgbClr val="94A3B8"/>
                </a:solidFill>
                <a:latin typeface="Consolas" pitchFamily="34" charset="0"/>
                <a:ea typeface="Consolas" pitchFamily="34" charset="-122"/>
                <a:cs typeface="Consolas" pitchFamily="34" charset="-120"/>
              </a:rPr>
              <a:t>01</a:t>
            </a:r>
            <a:endParaRPr lang="en-US" sz="1100"/>
          </a:p>
        </p:txBody>
      </p:sp>
      <p:sp>
        <p:nvSpPr>
          <p:cNvPr id="9" name="Text 6"/>
          <p:cNvSpPr/>
          <p:nvPr/>
        </p:nvSpPr>
        <p:spPr>
          <a:xfrm>
            <a:off x="1783080" y="1691640"/>
            <a:ext cx="4114800" cy="411480"/>
          </a:xfrm>
          <a:prstGeom prst="rect">
            <a:avLst/>
          </a:prstGeom>
          <a:noFill/>
          <a:ln/>
        </p:spPr>
        <p:txBody>
          <a:bodyPr wrap="square" lIns="0" tIns="0" rIns="0" bIns="0" rtlCol="0" anchor="t"/>
          <a:lstStyle/>
          <a:p>
            <a:pPr marL="0" indent="0">
              <a:buNone/>
            </a:pPr>
            <a:r>
              <a:rPr lang="en-US" sz="1400" b="1">
                <a:solidFill>
                  <a:srgbClr val="0F172A"/>
                </a:solidFill>
                <a:latin typeface="Calibri" pitchFamily="34" charset="0"/>
                <a:ea typeface="Calibri" pitchFamily="34" charset="-122"/>
                <a:cs typeface="Calibri" pitchFamily="34" charset="-120"/>
              </a:rPr>
              <a:t>Enrollment tokens expire quickly</a:t>
            </a:r>
            <a:endParaRPr lang="en-US" sz="1400"/>
          </a:p>
        </p:txBody>
      </p:sp>
      <p:sp>
        <p:nvSpPr>
          <p:cNvPr id="10" name="Text 7"/>
          <p:cNvSpPr/>
          <p:nvPr/>
        </p:nvSpPr>
        <p:spPr>
          <a:xfrm>
            <a:off x="1783080" y="2103120"/>
            <a:ext cx="4114800" cy="640080"/>
          </a:xfrm>
          <a:prstGeom prst="rect">
            <a:avLst/>
          </a:prstGeom>
          <a:noFill/>
          <a:ln/>
        </p:spPr>
        <p:txBody>
          <a:bodyPr wrap="square" lIns="0" tIns="0" rIns="0" bIns="0" rtlCol="0" anchor="t"/>
          <a:lstStyle/>
          <a:p>
            <a:pPr marL="0" indent="0">
              <a:buNone/>
            </a:pPr>
            <a:r>
              <a:rPr lang="en-US" sz="1050">
                <a:solidFill>
                  <a:srgbClr val="475569"/>
                </a:solidFill>
                <a:latin typeface="Calibri" pitchFamily="34" charset="0"/>
                <a:ea typeface="Calibri" pitchFamily="34" charset="-122"/>
                <a:cs typeface="Calibri" pitchFamily="34" charset="-120"/>
              </a:rPr>
              <a:t>If Kibana's first-login token sits around, generate a new one.</a:t>
            </a:r>
            <a:endParaRPr lang="en-US" sz="1050"/>
          </a:p>
        </p:txBody>
      </p:sp>
      <p:sp>
        <p:nvSpPr>
          <p:cNvPr id="11" name="Shape 8"/>
          <p:cNvSpPr/>
          <p:nvPr/>
        </p:nvSpPr>
        <p:spPr>
          <a:xfrm>
            <a:off x="6309360" y="1371600"/>
            <a:ext cx="5440680" cy="1508760"/>
          </a:xfrm>
          <a:prstGeom prst="rect">
            <a:avLst/>
          </a:prstGeom>
          <a:solidFill>
            <a:srgbClr val="FFFFFF"/>
          </a:solidFill>
          <a:ln w="12700">
            <a:solidFill>
              <a:srgbClr val="E2E8F0"/>
            </a:solidFill>
            <a:prstDash val="solid"/>
          </a:ln>
          <a:effectLst>
            <a:outerShdw blurRad="101600" dist="38100" dir="5400000" algn="bl" rotWithShape="0">
              <a:srgbClr val="000000">
                <a:alpha val="12000"/>
              </a:srgbClr>
            </a:outerShdw>
          </a:effectLst>
        </p:spPr>
        <p:txBody>
          <a:bodyPr/>
          <a:lstStyle/>
          <a:p>
            <a:endParaRPr lang="en-US"/>
          </a:p>
        </p:txBody>
      </p:sp>
      <p:sp>
        <p:nvSpPr>
          <p:cNvPr id="12" name="Shape 9"/>
          <p:cNvSpPr/>
          <p:nvPr/>
        </p:nvSpPr>
        <p:spPr>
          <a:xfrm>
            <a:off x="6537960" y="1737360"/>
            <a:ext cx="731520" cy="731520"/>
          </a:xfrm>
          <a:prstGeom prst="rect">
            <a:avLst/>
          </a:prstGeom>
          <a:solidFill>
            <a:srgbClr val="F59E0B">
              <a:alpha val="15000"/>
            </a:srgbClr>
          </a:solidFill>
          <a:ln/>
        </p:spPr>
        <p:txBody>
          <a:bodyPr/>
          <a:lstStyle/>
          <a:p>
            <a:endParaRPr lang="en-US"/>
          </a:p>
        </p:txBody>
      </p:sp>
      <p:pic>
        <p:nvPicPr>
          <p:cNvPr id="13" name="Image 1" descr="preencoded.png"/>
          <p:cNvPicPr>
            <a:picLocks noChangeAspect="1"/>
          </p:cNvPicPr>
          <p:nvPr/>
        </p:nvPicPr>
        <p:blipFill>
          <a:blip r:embed="rId4"/>
          <a:stretch>
            <a:fillRect/>
          </a:stretch>
        </p:blipFill>
        <p:spPr>
          <a:xfrm>
            <a:off x="6675120" y="1874520"/>
            <a:ext cx="457200" cy="457200"/>
          </a:xfrm>
          <a:prstGeom prst="rect">
            <a:avLst/>
          </a:prstGeom>
        </p:spPr>
      </p:pic>
      <p:sp>
        <p:nvSpPr>
          <p:cNvPr id="14" name="Text 10"/>
          <p:cNvSpPr/>
          <p:nvPr/>
        </p:nvSpPr>
        <p:spPr>
          <a:xfrm>
            <a:off x="10835640" y="1554480"/>
            <a:ext cx="731520" cy="274320"/>
          </a:xfrm>
          <a:prstGeom prst="rect">
            <a:avLst/>
          </a:prstGeom>
          <a:noFill/>
          <a:ln/>
        </p:spPr>
        <p:txBody>
          <a:bodyPr wrap="square" lIns="0" tIns="0" rIns="0" bIns="0" rtlCol="0" anchor="ctr"/>
          <a:lstStyle/>
          <a:p>
            <a:pPr marL="0" indent="0" algn="r">
              <a:buNone/>
            </a:pPr>
            <a:r>
              <a:rPr lang="en-US" sz="1100" b="1" kern="0" spc="200">
                <a:solidFill>
                  <a:srgbClr val="94A3B8"/>
                </a:solidFill>
                <a:latin typeface="Consolas" pitchFamily="34" charset="0"/>
                <a:ea typeface="Consolas" pitchFamily="34" charset="-122"/>
                <a:cs typeface="Consolas" pitchFamily="34" charset="-120"/>
              </a:rPr>
              <a:t>02</a:t>
            </a:r>
            <a:endParaRPr lang="en-US" sz="1100"/>
          </a:p>
        </p:txBody>
      </p:sp>
      <p:sp>
        <p:nvSpPr>
          <p:cNvPr id="15" name="Text 11"/>
          <p:cNvSpPr/>
          <p:nvPr/>
        </p:nvSpPr>
        <p:spPr>
          <a:xfrm>
            <a:off x="7452360" y="1691640"/>
            <a:ext cx="4114800" cy="411480"/>
          </a:xfrm>
          <a:prstGeom prst="rect">
            <a:avLst/>
          </a:prstGeom>
          <a:noFill/>
          <a:ln/>
        </p:spPr>
        <p:txBody>
          <a:bodyPr wrap="square" lIns="0" tIns="0" rIns="0" bIns="0" rtlCol="0" anchor="t"/>
          <a:lstStyle/>
          <a:p>
            <a:pPr marL="0" indent="0">
              <a:buNone/>
            </a:pPr>
            <a:r>
              <a:rPr lang="en-US" sz="1400" b="1">
                <a:solidFill>
                  <a:srgbClr val="0F172A"/>
                </a:solidFill>
                <a:latin typeface="Calibri" pitchFamily="34" charset="0"/>
                <a:ea typeface="Calibri" pitchFamily="34" charset="-122"/>
                <a:cs typeface="Calibri" pitchFamily="34" charset="-120"/>
              </a:rPr>
              <a:t>Port 8220 must be open on Fleet</a:t>
            </a:r>
            <a:endParaRPr lang="en-US" sz="1400"/>
          </a:p>
        </p:txBody>
      </p:sp>
      <p:sp>
        <p:nvSpPr>
          <p:cNvPr id="16" name="Text 12"/>
          <p:cNvSpPr/>
          <p:nvPr/>
        </p:nvSpPr>
        <p:spPr>
          <a:xfrm>
            <a:off x="7452360" y="2103120"/>
            <a:ext cx="4114800" cy="640080"/>
          </a:xfrm>
          <a:prstGeom prst="rect">
            <a:avLst/>
          </a:prstGeom>
          <a:noFill/>
          <a:ln/>
        </p:spPr>
        <p:txBody>
          <a:bodyPr wrap="square" lIns="0" tIns="0" rIns="0" bIns="0" rtlCol="0" anchor="t"/>
          <a:lstStyle/>
          <a:p>
            <a:pPr marL="0" indent="0">
              <a:buNone/>
            </a:pPr>
            <a:r>
              <a:rPr lang="en-US" sz="1050">
                <a:solidFill>
                  <a:srgbClr val="475569"/>
                </a:solidFill>
                <a:latin typeface="Calibri" pitchFamily="34" charset="0"/>
                <a:ea typeface="Calibri" pitchFamily="34" charset="-122"/>
                <a:cs typeface="Calibri" pitchFamily="34" charset="-120"/>
              </a:rPr>
              <a:t>In production, firewalls between hosts and Fleet break enrollment silently.</a:t>
            </a:r>
            <a:endParaRPr lang="en-US" sz="1050"/>
          </a:p>
        </p:txBody>
      </p:sp>
      <p:sp>
        <p:nvSpPr>
          <p:cNvPr id="17" name="Shape 13"/>
          <p:cNvSpPr/>
          <p:nvPr/>
        </p:nvSpPr>
        <p:spPr>
          <a:xfrm>
            <a:off x="640080" y="3017520"/>
            <a:ext cx="5440680" cy="1508760"/>
          </a:xfrm>
          <a:prstGeom prst="rect">
            <a:avLst/>
          </a:prstGeom>
          <a:solidFill>
            <a:srgbClr val="FFFFFF"/>
          </a:solidFill>
          <a:ln w="12700">
            <a:solidFill>
              <a:srgbClr val="E2E8F0"/>
            </a:solidFill>
            <a:prstDash val="solid"/>
          </a:ln>
          <a:effectLst>
            <a:outerShdw blurRad="101600" dist="38100" dir="5400000" algn="bl" rotWithShape="0">
              <a:srgbClr val="000000">
                <a:alpha val="12000"/>
              </a:srgbClr>
            </a:outerShdw>
          </a:effectLst>
        </p:spPr>
        <p:txBody>
          <a:bodyPr/>
          <a:lstStyle/>
          <a:p>
            <a:endParaRPr lang="en-US"/>
          </a:p>
        </p:txBody>
      </p:sp>
      <p:sp>
        <p:nvSpPr>
          <p:cNvPr id="18" name="Shape 14"/>
          <p:cNvSpPr/>
          <p:nvPr/>
        </p:nvSpPr>
        <p:spPr>
          <a:xfrm>
            <a:off x="868680" y="3383280"/>
            <a:ext cx="731520" cy="731520"/>
          </a:xfrm>
          <a:prstGeom prst="rect">
            <a:avLst/>
          </a:prstGeom>
          <a:solidFill>
            <a:srgbClr val="F59E0B">
              <a:alpha val="15000"/>
            </a:srgbClr>
          </a:solidFill>
          <a:ln/>
        </p:spPr>
        <p:txBody>
          <a:bodyPr/>
          <a:lstStyle/>
          <a:p>
            <a:endParaRPr lang="en-US"/>
          </a:p>
        </p:txBody>
      </p:sp>
      <p:pic>
        <p:nvPicPr>
          <p:cNvPr id="19" name="Image 2" descr="preencoded.png"/>
          <p:cNvPicPr>
            <a:picLocks noChangeAspect="1"/>
          </p:cNvPicPr>
          <p:nvPr/>
        </p:nvPicPr>
        <p:blipFill>
          <a:blip r:embed="rId5"/>
          <a:stretch>
            <a:fillRect/>
          </a:stretch>
        </p:blipFill>
        <p:spPr>
          <a:xfrm>
            <a:off x="1005840" y="3520440"/>
            <a:ext cx="457200" cy="457200"/>
          </a:xfrm>
          <a:prstGeom prst="rect">
            <a:avLst/>
          </a:prstGeom>
        </p:spPr>
      </p:pic>
      <p:sp>
        <p:nvSpPr>
          <p:cNvPr id="20" name="Text 15"/>
          <p:cNvSpPr/>
          <p:nvPr/>
        </p:nvSpPr>
        <p:spPr>
          <a:xfrm>
            <a:off x="5166360" y="3200400"/>
            <a:ext cx="731520" cy="274320"/>
          </a:xfrm>
          <a:prstGeom prst="rect">
            <a:avLst/>
          </a:prstGeom>
          <a:noFill/>
          <a:ln/>
        </p:spPr>
        <p:txBody>
          <a:bodyPr wrap="square" lIns="0" tIns="0" rIns="0" bIns="0" rtlCol="0" anchor="ctr"/>
          <a:lstStyle/>
          <a:p>
            <a:pPr marL="0" indent="0" algn="r">
              <a:buNone/>
            </a:pPr>
            <a:r>
              <a:rPr lang="en-US" sz="1100" b="1" kern="0" spc="200">
                <a:solidFill>
                  <a:srgbClr val="94A3B8"/>
                </a:solidFill>
                <a:latin typeface="Consolas" pitchFamily="34" charset="0"/>
                <a:ea typeface="Consolas" pitchFamily="34" charset="-122"/>
                <a:cs typeface="Consolas" pitchFamily="34" charset="-120"/>
              </a:rPr>
              <a:t>03</a:t>
            </a:r>
            <a:endParaRPr lang="en-US" sz="1100"/>
          </a:p>
        </p:txBody>
      </p:sp>
      <p:sp>
        <p:nvSpPr>
          <p:cNvPr id="21" name="Text 16"/>
          <p:cNvSpPr/>
          <p:nvPr/>
        </p:nvSpPr>
        <p:spPr>
          <a:xfrm>
            <a:off x="1783080" y="3337560"/>
            <a:ext cx="4114800" cy="411480"/>
          </a:xfrm>
          <a:prstGeom prst="rect">
            <a:avLst/>
          </a:prstGeom>
          <a:noFill/>
          <a:ln/>
        </p:spPr>
        <p:txBody>
          <a:bodyPr wrap="square" lIns="0" tIns="0" rIns="0" bIns="0" rtlCol="0" anchor="t"/>
          <a:lstStyle/>
          <a:p>
            <a:pPr marL="0" indent="0">
              <a:buNone/>
            </a:pPr>
            <a:r>
              <a:rPr lang="en-US" sz="1400" b="1">
                <a:solidFill>
                  <a:srgbClr val="0F172A"/>
                </a:solidFill>
                <a:latin typeface="Calibri" pitchFamily="34" charset="0"/>
                <a:ea typeface="Calibri" pitchFamily="34" charset="-122"/>
                <a:cs typeface="Calibri" pitchFamily="34" charset="-120"/>
              </a:rPr>
              <a:t>Windows Defender may flag the agent</a:t>
            </a:r>
            <a:endParaRPr lang="en-US" sz="1400"/>
          </a:p>
        </p:txBody>
      </p:sp>
      <p:sp>
        <p:nvSpPr>
          <p:cNvPr id="22" name="Text 17"/>
          <p:cNvSpPr/>
          <p:nvPr/>
        </p:nvSpPr>
        <p:spPr>
          <a:xfrm>
            <a:off x="1783080" y="3749040"/>
            <a:ext cx="4114800" cy="640080"/>
          </a:xfrm>
          <a:prstGeom prst="rect">
            <a:avLst/>
          </a:prstGeom>
          <a:noFill/>
          <a:ln/>
        </p:spPr>
        <p:txBody>
          <a:bodyPr wrap="square" lIns="0" tIns="0" rIns="0" bIns="0" rtlCol="0" anchor="t"/>
          <a:lstStyle/>
          <a:p>
            <a:pPr marL="0" indent="0">
              <a:buNone/>
            </a:pPr>
            <a:r>
              <a:rPr lang="en-US" sz="1050">
                <a:solidFill>
                  <a:srgbClr val="475569"/>
                </a:solidFill>
                <a:latin typeface="Calibri" pitchFamily="34" charset="0"/>
                <a:ea typeface="Calibri" pitchFamily="34" charset="-122"/>
                <a:cs typeface="Calibri" pitchFamily="34" charset="-120"/>
              </a:rPr>
              <a:t>Pre-configure Defender exclusions for the Elastic Agent binary paths.</a:t>
            </a:r>
            <a:endParaRPr lang="en-US" sz="1050"/>
          </a:p>
        </p:txBody>
      </p:sp>
      <p:sp>
        <p:nvSpPr>
          <p:cNvPr id="23" name="Shape 18"/>
          <p:cNvSpPr/>
          <p:nvPr/>
        </p:nvSpPr>
        <p:spPr>
          <a:xfrm>
            <a:off x="6309360" y="3017520"/>
            <a:ext cx="5440680" cy="1508760"/>
          </a:xfrm>
          <a:prstGeom prst="rect">
            <a:avLst/>
          </a:prstGeom>
          <a:solidFill>
            <a:srgbClr val="FFFFFF"/>
          </a:solidFill>
          <a:ln w="12700">
            <a:solidFill>
              <a:srgbClr val="E2E8F0"/>
            </a:solidFill>
            <a:prstDash val="solid"/>
          </a:ln>
          <a:effectLst>
            <a:outerShdw blurRad="101600" dist="38100" dir="5400000" algn="bl" rotWithShape="0">
              <a:srgbClr val="000000">
                <a:alpha val="12000"/>
              </a:srgbClr>
            </a:outerShdw>
          </a:effectLst>
        </p:spPr>
        <p:txBody>
          <a:bodyPr/>
          <a:lstStyle/>
          <a:p>
            <a:endParaRPr lang="en-US"/>
          </a:p>
        </p:txBody>
      </p:sp>
      <p:sp>
        <p:nvSpPr>
          <p:cNvPr id="24" name="Shape 19"/>
          <p:cNvSpPr/>
          <p:nvPr/>
        </p:nvSpPr>
        <p:spPr>
          <a:xfrm>
            <a:off x="6537960" y="3383280"/>
            <a:ext cx="731520" cy="731520"/>
          </a:xfrm>
          <a:prstGeom prst="rect">
            <a:avLst/>
          </a:prstGeom>
          <a:solidFill>
            <a:srgbClr val="F59E0B">
              <a:alpha val="15000"/>
            </a:srgbClr>
          </a:solidFill>
          <a:ln/>
        </p:spPr>
        <p:txBody>
          <a:bodyPr/>
          <a:lstStyle/>
          <a:p>
            <a:endParaRPr lang="en-US"/>
          </a:p>
        </p:txBody>
      </p:sp>
      <p:pic>
        <p:nvPicPr>
          <p:cNvPr id="25" name="Image 3" descr="preencoded.png"/>
          <p:cNvPicPr>
            <a:picLocks noChangeAspect="1"/>
          </p:cNvPicPr>
          <p:nvPr/>
        </p:nvPicPr>
        <p:blipFill>
          <a:blip r:embed="rId6"/>
          <a:stretch>
            <a:fillRect/>
          </a:stretch>
        </p:blipFill>
        <p:spPr>
          <a:xfrm>
            <a:off x="6675120" y="3520440"/>
            <a:ext cx="457200" cy="457200"/>
          </a:xfrm>
          <a:prstGeom prst="rect">
            <a:avLst/>
          </a:prstGeom>
        </p:spPr>
      </p:pic>
      <p:sp>
        <p:nvSpPr>
          <p:cNvPr id="26" name="Text 20"/>
          <p:cNvSpPr/>
          <p:nvPr/>
        </p:nvSpPr>
        <p:spPr>
          <a:xfrm>
            <a:off x="10835640" y="3200400"/>
            <a:ext cx="731520" cy="274320"/>
          </a:xfrm>
          <a:prstGeom prst="rect">
            <a:avLst/>
          </a:prstGeom>
          <a:noFill/>
          <a:ln/>
        </p:spPr>
        <p:txBody>
          <a:bodyPr wrap="square" lIns="0" tIns="0" rIns="0" bIns="0" rtlCol="0" anchor="ctr"/>
          <a:lstStyle/>
          <a:p>
            <a:pPr marL="0" indent="0" algn="r">
              <a:buNone/>
            </a:pPr>
            <a:r>
              <a:rPr lang="en-US" sz="1100" b="1" kern="0" spc="200">
                <a:solidFill>
                  <a:srgbClr val="94A3B8"/>
                </a:solidFill>
                <a:latin typeface="Consolas" pitchFamily="34" charset="0"/>
                <a:ea typeface="Consolas" pitchFamily="34" charset="-122"/>
                <a:cs typeface="Consolas" pitchFamily="34" charset="-120"/>
              </a:rPr>
              <a:t>04</a:t>
            </a:r>
            <a:endParaRPr lang="en-US" sz="1100"/>
          </a:p>
        </p:txBody>
      </p:sp>
      <p:sp>
        <p:nvSpPr>
          <p:cNvPr id="27" name="Text 21"/>
          <p:cNvSpPr/>
          <p:nvPr/>
        </p:nvSpPr>
        <p:spPr>
          <a:xfrm>
            <a:off x="7452360" y="3337560"/>
            <a:ext cx="4114800" cy="411480"/>
          </a:xfrm>
          <a:prstGeom prst="rect">
            <a:avLst/>
          </a:prstGeom>
          <a:noFill/>
          <a:ln/>
        </p:spPr>
        <p:txBody>
          <a:bodyPr wrap="square" lIns="0" tIns="0" rIns="0" bIns="0" rtlCol="0" anchor="t"/>
          <a:lstStyle/>
          <a:p>
            <a:pPr marL="0" indent="0">
              <a:buNone/>
            </a:pPr>
            <a:r>
              <a:rPr lang="en-US" sz="1400" b="1">
                <a:solidFill>
                  <a:srgbClr val="0F172A"/>
                </a:solidFill>
                <a:latin typeface="Calibri" pitchFamily="34" charset="0"/>
                <a:ea typeface="Calibri" pitchFamily="34" charset="-122"/>
                <a:cs typeface="Calibri" pitchFamily="34" charset="-120"/>
              </a:rPr>
              <a:t>Auditd rule specificity matters</a:t>
            </a:r>
            <a:endParaRPr lang="en-US" sz="1400"/>
          </a:p>
        </p:txBody>
      </p:sp>
      <p:sp>
        <p:nvSpPr>
          <p:cNvPr id="28" name="Text 22"/>
          <p:cNvSpPr/>
          <p:nvPr/>
        </p:nvSpPr>
        <p:spPr>
          <a:xfrm>
            <a:off x="7452360" y="3749040"/>
            <a:ext cx="4114800" cy="640080"/>
          </a:xfrm>
          <a:prstGeom prst="rect">
            <a:avLst/>
          </a:prstGeom>
          <a:noFill/>
          <a:ln/>
        </p:spPr>
        <p:txBody>
          <a:bodyPr wrap="square" lIns="0" tIns="0" rIns="0" bIns="0" rtlCol="0" anchor="t"/>
          <a:lstStyle/>
          <a:p>
            <a:pPr marL="0" indent="0">
              <a:buNone/>
            </a:pPr>
            <a:r>
              <a:rPr lang="en-US" sz="1050">
                <a:solidFill>
                  <a:srgbClr val="475569"/>
                </a:solidFill>
                <a:latin typeface="Calibri" pitchFamily="34" charset="0"/>
                <a:ea typeface="Calibri" pitchFamily="34" charset="-122"/>
                <a:cs typeface="Calibri" pitchFamily="34" charset="-120"/>
              </a:rPr>
              <a:t>Monitoring a broad directory tree produces too much noise. Target specific high-value files.</a:t>
            </a:r>
            <a:endParaRPr lang="en-US" sz="1050"/>
          </a:p>
        </p:txBody>
      </p:sp>
      <p:sp>
        <p:nvSpPr>
          <p:cNvPr id="29" name="Shape 23"/>
          <p:cNvSpPr/>
          <p:nvPr/>
        </p:nvSpPr>
        <p:spPr>
          <a:xfrm>
            <a:off x="640080" y="4663440"/>
            <a:ext cx="5440680" cy="1508760"/>
          </a:xfrm>
          <a:prstGeom prst="rect">
            <a:avLst/>
          </a:prstGeom>
          <a:solidFill>
            <a:srgbClr val="FFFFFF"/>
          </a:solidFill>
          <a:ln w="12700">
            <a:solidFill>
              <a:srgbClr val="E2E8F0"/>
            </a:solidFill>
            <a:prstDash val="solid"/>
          </a:ln>
          <a:effectLst>
            <a:outerShdw blurRad="101600" dist="38100" dir="5400000" algn="bl" rotWithShape="0">
              <a:srgbClr val="000000">
                <a:alpha val="12000"/>
              </a:srgbClr>
            </a:outerShdw>
          </a:effectLst>
        </p:spPr>
        <p:txBody>
          <a:bodyPr/>
          <a:lstStyle/>
          <a:p>
            <a:endParaRPr lang="en-US"/>
          </a:p>
        </p:txBody>
      </p:sp>
      <p:sp>
        <p:nvSpPr>
          <p:cNvPr id="30" name="Shape 24"/>
          <p:cNvSpPr/>
          <p:nvPr/>
        </p:nvSpPr>
        <p:spPr>
          <a:xfrm>
            <a:off x="868680" y="5029200"/>
            <a:ext cx="731520" cy="731520"/>
          </a:xfrm>
          <a:prstGeom prst="rect">
            <a:avLst/>
          </a:prstGeom>
          <a:solidFill>
            <a:srgbClr val="F59E0B">
              <a:alpha val="15000"/>
            </a:srgbClr>
          </a:solidFill>
          <a:ln/>
        </p:spPr>
        <p:txBody>
          <a:bodyPr/>
          <a:lstStyle/>
          <a:p>
            <a:endParaRPr lang="en-US"/>
          </a:p>
        </p:txBody>
      </p:sp>
      <p:pic>
        <p:nvPicPr>
          <p:cNvPr id="31" name="Image 4" descr="preencoded.png"/>
          <p:cNvPicPr>
            <a:picLocks noChangeAspect="1"/>
          </p:cNvPicPr>
          <p:nvPr/>
        </p:nvPicPr>
        <p:blipFill>
          <a:blip r:embed="rId7"/>
          <a:stretch>
            <a:fillRect/>
          </a:stretch>
        </p:blipFill>
        <p:spPr>
          <a:xfrm>
            <a:off x="1005840" y="5166360"/>
            <a:ext cx="457200" cy="457200"/>
          </a:xfrm>
          <a:prstGeom prst="rect">
            <a:avLst/>
          </a:prstGeom>
        </p:spPr>
      </p:pic>
      <p:sp>
        <p:nvSpPr>
          <p:cNvPr id="32" name="Text 25"/>
          <p:cNvSpPr/>
          <p:nvPr/>
        </p:nvSpPr>
        <p:spPr>
          <a:xfrm>
            <a:off x="5166360" y="4846320"/>
            <a:ext cx="731520" cy="274320"/>
          </a:xfrm>
          <a:prstGeom prst="rect">
            <a:avLst/>
          </a:prstGeom>
          <a:noFill/>
          <a:ln/>
        </p:spPr>
        <p:txBody>
          <a:bodyPr wrap="square" lIns="0" tIns="0" rIns="0" bIns="0" rtlCol="0" anchor="ctr"/>
          <a:lstStyle/>
          <a:p>
            <a:pPr marL="0" indent="0" algn="r">
              <a:buNone/>
            </a:pPr>
            <a:r>
              <a:rPr lang="en-US" sz="1100" b="1" kern="0" spc="200">
                <a:solidFill>
                  <a:srgbClr val="94A3B8"/>
                </a:solidFill>
                <a:latin typeface="Consolas" pitchFamily="34" charset="0"/>
                <a:ea typeface="Consolas" pitchFamily="34" charset="-122"/>
                <a:cs typeface="Consolas" pitchFamily="34" charset="-120"/>
              </a:rPr>
              <a:t>05</a:t>
            </a:r>
            <a:endParaRPr lang="en-US" sz="1100"/>
          </a:p>
        </p:txBody>
      </p:sp>
      <p:sp>
        <p:nvSpPr>
          <p:cNvPr id="33" name="Text 26"/>
          <p:cNvSpPr/>
          <p:nvPr/>
        </p:nvSpPr>
        <p:spPr>
          <a:xfrm>
            <a:off x="1783080" y="4983480"/>
            <a:ext cx="4114800" cy="411480"/>
          </a:xfrm>
          <a:prstGeom prst="rect">
            <a:avLst/>
          </a:prstGeom>
          <a:noFill/>
          <a:ln/>
        </p:spPr>
        <p:txBody>
          <a:bodyPr wrap="square" lIns="0" tIns="0" rIns="0" bIns="0" rtlCol="0" anchor="t"/>
          <a:lstStyle/>
          <a:p>
            <a:pPr marL="0" indent="0">
              <a:buNone/>
            </a:pPr>
            <a:r>
              <a:rPr lang="en-US" sz="1400" b="1">
                <a:solidFill>
                  <a:srgbClr val="0F172A"/>
                </a:solidFill>
                <a:latin typeface="Calibri" pitchFamily="34" charset="0"/>
                <a:ea typeface="Calibri" pitchFamily="34" charset="-122"/>
                <a:cs typeface="Calibri" pitchFamily="34" charset="-120"/>
              </a:rPr>
              <a:t>DEB install blocks remote upgrades</a:t>
            </a:r>
            <a:endParaRPr lang="en-US" sz="1400"/>
          </a:p>
        </p:txBody>
      </p:sp>
      <p:sp>
        <p:nvSpPr>
          <p:cNvPr id="34" name="Text 27"/>
          <p:cNvSpPr/>
          <p:nvPr/>
        </p:nvSpPr>
        <p:spPr>
          <a:xfrm>
            <a:off x="1783080" y="5394960"/>
            <a:ext cx="4114800" cy="640080"/>
          </a:xfrm>
          <a:prstGeom prst="rect">
            <a:avLst/>
          </a:prstGeom>
          <a:noFill/>
          <a:ln/>
        </p:spPr>
        <p:txBody>
          <a:bodyPr wrap="square" lIns="0" tIns="0" rIns="0" bIns="0" rtlCol="0" anchor="t"/>
          <a:lstStyle/>
          <a:p>
            <a:pPr marL="0" indent="0">
              <a:buNone/>
            </a:pPr>
            <a:r>
              <a:rPr lang="en-US" sz="1050">
                <a:solidFill>
                  <a:srgbClr val="475569"/>
                </a:solidFill>
                <a:latin typeface="Calibri" pitchFamily="34" charset="0"/>
                <a:ea typeface="Calibri" pitchFamily="34" charset="-122"/>
                <a:cs typeface="Calibri" pitchFamily="34" charset="-120"/>
              </a:rPr>
              <a:t>Use the TAR installer instead if agents need to be upgraded via Fleet.</a:t>
            </a:r>
            <a:endParaRPr lang="en-US" sz="1050"/>
          </a:p>
        </p:txBody>
      </p:sp>
      <p:sp>
        <p:nvSpPr>
          <p:cNvPr id="35" name="Shape 28"/>
          <p:cNvSpPr/>
          <p:nvPr/>
        </p:nvSpPr>
        <p:spPr>
          <a:xfrm>
            <a:off x="6309360" y="4663440"/>
            <a:ext cx="5440680" cy="1508760"/>
          </a:xfrm>
          <a:prstGeom prst="rect">
            <a:avLst/>
          </a:prstGeom>
          <a:solidFill>
            <a:srgbClr val="FFFFFF"/>
          </a:solidFill>
          <a:ln w="12700">
            <a:solidFill>
              <a:srgbClr val="E2E8F0"/>
            </a:solidFill>
            <a:prstDash val="solid"/>
          </a:ln>
          <a:effectLst>
            <a:outerShdw blurRad="101600" dist="38100" dir="5400000" algn="bl" rotWithShape="0">
              <a:srgbClr val="000000">
                <a:alpha val="12000"/>
              </a:srgbClr>
            </a:outerShdw>
          </a:effectLst>
        </p:spPr>
        <p:txBody>
          <a:bodyPr/>
          <a:lstStyle/>
          <a:p>
            <a:endParaRPr lang="en-US"/>
          </a:p>
        </p:txBody>
      </p:sp>
      <p:sp>
        <p:nvSpPr>
          <p:cNvPr id="36" name="Shape 29"/>
          <p:cNvSpPr/>
          <p:nvPr/>
        </p:nvSpPr>
        <p:spPr>
          <a:xfrm>
            <a:off x="6537960" y="5029200"/>
            <a:ext cx="731520" cy="731520"/>
          </a:xfrm>
          <a:prstGeom prst="rect">
            <a:avLst/>
          </a:prstGeom>
          <a:solidFill>
            <a:srgbClr val="F59E0B">
              <a:alpha val="15000"/>
            </a:srgbClr>
          </a:solidFill>
          <a:ln/>
        </p:spPr>
        <p:txBody>
          <a:bodyPr/>
          <a:lstStyle/>
          <a:p>
            <a:endParaRPr lang="en-US"/>
          </a:p>
        </p:txBody>
      </p:sp>
      <p:pic>
        <p:nvPicPr>
          <p:cNvPr id="37" name="Image 5" descr="preencoded.png"/>
          <p:cNvPicPr>
            <a:picLocks noChangeAspect="1"/>
          </p:cNvPicPr>
          <p:nvPr/>
        </p:nvPicPr>
        <p:blipFill>
          <a:blip r:embed="rId8"/>
          <a:stretch>
            <a:fillRect/>
          </a:stretch>
        </p:blipFill>
        <p:spPr>
          <a:xfrm>
            <a:off x="6675120" y="5166360"/>
            <a:ext cx="457200" cy="457200"/>
          </a:xfrm>
          <a:prstGeom prst="rect">
            <a:avLst/>
          </a:prstGeom>
        </p:spPr>
      </p:pic>
      <p:sp>
        <p:nvSpPr>
          <p:cNvPr id="38" name="Text 30"/>
          <p:cNvSpPr/>
          <p:nvPr/>
        </p:nvSpPr>
        <p:spPr>
          <a:xfrm>
            <a:off x="10835640" y="4846320"/>
            <a:ext cx="731520" cy="274320"/>
          </a:xfrm>
          <a:prstGeom prst="rect">
            <a:avLst/>
          </a:prstGeom>
          <a:noFill/>
          <a:ln/>
        </p:spPr>
        <p:txBody>
          <a:bodyPr wrap="square" lIns="0" tIns="0" rIns="0" bIns="0" rtlCol="0" anchor="ctr"/>
          <a:lstStyle/>
          <a:p>
            <a:pPr marL="0" indent="0" algn="r">
              <a:buNone/>
            </a:pPr>
            <a:r>
              <a:rPr lang="en-US" sz="1100" b="1" kern="0" spc="200">
                <a:solidFill>
                  <a:srgbClr val="94A3B8"/>
                </a:solidFill>
                <a:latin typeface="Consolas" pitchFamily="34" charset="0"/>
                <a:ea typeface="Consolas" pitchFamily="34" charset="-122"/>
                <a:cs typeface="Consolas" pitchFamily="34" charset="-120"/>
              </a:rPr>
              <a:t>06</a:t>
            </a:r>
            <a:endParaRPr lang="en-US" sz="1100"/>
          </a:p>
        </p:txBody>
      </p:sp>
      <p:sp>
        <p:nvSpPr>
          <p:cNvPr id="39" name="Text 31"/>
          <p:cNvSpPr/>
          <p:nvPr/>
        </p:nvSpPr>
        <p:spPr>
          <a:xfrm>
            <a:off x="7452360" y="4983480"/>
            <a:ext cx="4114800" cy="411480"/>
          </a:xfrm>
          <a:prstGeom prst="rect">
            <a:avLst/>
          </a:prstGeom>
          <a:noFill/>
          <a:ln/>
        </p:spPr>
        <p:txBody>
          <a:bodyPr wrap="square" lIns="0" tIns="0" rIns="0" bIns="0" rtlCol="0" anchor="t"/>
          <a:lstStyle/>
          <a:p>
            <a:pPr marL="0" indent="0">
              <a:buNone/>
            </a:pPr>
            <a:r>
              <a:rPr lang="en-US" sz="1400" b="1">
                <a:solidFill>
                  <a:srgbClr val="0F172A"/>
                </a:solidFill>
                <a:latin typeface="Calibri" pitchFamily="34" charset="0"/>
                <a:ea typeface="Calibri" pitchFamily="34" charset="-122"/>
                <a:cs typeface="Calibri" pitchFamily="34" charset="-120"/>
              </a:rPr>
              <a:t>TLS fingerprints must match exactly</a:t>
            </a:r>
            <a:endParaRPr lang="en-US" sz="1400"/>
          </a:p>
        </p:txBody>
      </p:sp>
      <p:sp>
        <p:nvSpPr>
          <p:cNvPr id="40" name="Text 32"/>
          <p:cNvSpPr/>
          <p:nvPr/>
        </p:nvSpPr>
        <p:spPr>
          <a:xfrm>
            <a:off x="7452360" y="5394960"/>
            <a:ext cx="4114800" cy="640080"/>
          </a:xfrm>
          <a:prstGeom prst="rect">
            <a:avLst/>
          </a:prstGeom>
          <a:noFill/>
          <a:ln/>
        </p:spPr>
        <p:txBody>
          <a:bodyPr wrap="square" lIns="0" tIns="0" rIns="0" bIns="0" rtlCol="0" anchor="t"/>
          <a:lstStyle/>
          <a:p>
            <a:pPr marL="0" indent="0">
              <a:buNone/>
            </a:pPr>
            <a:r>
              <a:rPr lang="en-US" sz="1050">
                <a:solidFill>
                  <a:srgbClr val="475569"/>
                </a:solidFill>
                <a:latin typeface="Calibri" pitchFamily="34" charset="0"/>
                <a:ea typeface="Calibri" pitchFamily="34" charset="-122"/>
                <a:cs typeface="Calibri" pitchFamily="34" charset="-120"/>
              </a:rPr>
              <a:t>The CA in /etc/elasticsearch/certs can differ from what's actually served — verify the fingerprint.</a:t>
            </a:r>
            <a:endParaRPr lang="en-US" sz="1050"/>
          </a:p>
        </p:txBody>
      </p:sp>
      <p:sp>
        <p:nvSpPr>
          <p:cNvPr id="41" name="Text 33"/>
          <p:cNvSpPr/>
          <p:nvPr/>
        </p:nvSpPr>
        <p:spPr>
          <a:xfrm>
            <a:off x="365760" y="6537960"/>
            <a:ext cx="4572000" cy="228600"/>
          </a:xfrm>
          <a:prstGeom prst="rect">
            <a:avLst/>
          </a:prstGeom>
          <a:noFill/>
          <a:ln/>
        </p:spPr>
        <p:txBody>
          <a:bodyPr wrap="square" lIns="0" tIns="0" rIns="0" bIns="0" rtlCol="0" anchor="ctr"/>
          <a:lstStyle/>
          <a:p>
            <a:pPr marL="0" indent="0" algn="l">
              <a:buNone/>
            </a:pPr>
            <a:r>
              <a:rPr lang="en-US" sz="900">
                <a:solidFill>
                  <a:srgbClr val="94A3B8"/>
                </a:solidFill>
                <a:latin typeface="Calibri" pitchFamily="34" charset="0"/>
                <a:ea typeface="Calibri" pitchFamily="34" charset="-122"/>
                <a:cs typeface="Calibri" pitchFamily="34" charset="-120"/>
              </a:rPr>
              <a:t>Incident Handling Lab  |  Elastic SIEM</a:t>
            </a:r>
            <a:endParaRPr lang="en-US" sz="900"/>
          </a:p>
        </p:txBody>
      </p:sp>
      <p:sp>
        <p:nvSpPr>
          <p:cNvPr id="42" name="Text 34"/>
          <p:cNvSpPr/>
          <p:nvPr/>
        </p:nvSpPr>
        <p:spPr>
          <a:xfrm>
            <a:off x="11094415" y="6537960"/>
            <a:ext cx="914400" cy="228600"/>
          </a:xfrm>
          <a:prstGeom prst="rect">
            <a:avLst/>
          </a:prstGeom>
          <a:noFill/>
          <a:ln/>
        </p:spPr>
        <p:txBody>
          <a:bodyPr wrap="square" lIns="0" tIns="0" rIns="0" bIns="0" rtlCol="0" anchor="ctr"/>
          <a:lstStyle/>
          <a:p>
            <a:pPr marL="0" indent="0" algn="r">
              <a:buNone/>
            </a:pPr>
            <a:r>
              <a:rPr lang="en-US" sz="900">
                <a:solidFill>
                  <a:srgbClr val="94A3B8"/>
                </a:solidFill>
                <a:latin typeface="Calibri" pitchFamily="34" charset="0"/>
                <a:ea typeface="Calibri" pitchFamily="34" charset="-122"/>
                <a:cs typeface="Calibri" pitchFamily="34" charset="-120"/>
              </a:rPr>
              <a:t>26 / 29</a:t>
            </a:r>
            <a:endParaRPr lang="en-US" sz="90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65760" y="457200"/>
            <a:ext cx="109728" cy="731520"/>
          </a:xfrm>
          <a:prstGeom prst="rect">
            <a:avLst/>
          </a:prstGeom>
          <a:solidFill>
            <a:srgbClr val="00D9FF"/>
          </a:solidFill>
          <a:ln/>
        </p:spPr>
        <p:txBody>
          <a:bodyPr/>
          <a:lstStyle/>
          <a:p>
            <a:endParaRPr lang="en-US"/>
          </a:p>
        </p:txBody>
      </p:sp>
      <p:sp>
        <p:nvSpPr>
          <p:cNvPr id="3" name="Text 1"/>
          <p:cNvSpPr/>
          <p:nvPr/>
        </p:nvSpPr>
        <p:spPr>
          <a:xfrm>
            <a:off x="640080" y="411480"/>
            <a:ext cx="10515600" cy="502920"/>
          </a:xfrm>
          <a:prstGeom prst="rect">
            <a:avLst/>
          </a:prstGeom>
          <a:noFill/>
          <a:ln/>
        </p:spPr>
        <p:txBody>
          <a:bodyPr wrap="square" lIns="0" tIns="0" rIns="0" bIns="0" rtlCol="0" anchor="t"/>
          <a:lstStyle/>
          <a:p>
            <a:pPr marL="0" indent="0">
              <a:buNone/>
            </a:pPr>
            <a:r>
              <a:rPr lang="en-US" sz="2800" b="1">
                <a:solidFill>
                  <a:srgbClr val="0F172A"/>
                </a:solidFill>
                <a:latin typeface="Calibri" pitchFamily="34" charset="0"/>
                <a:ea typeface="Calibri" pitchFamily="34" charset="-122"/>
                <a:cs typeface="Calibri" pitchFamily="34" charset="-120"/>
              </a:rPr>
              <a:t>Potential Improvements</a:t>
            </a:r>
            <a:endParaRPr lang="en-US" sz="2800"/>
          </a:p>
        </p:txBody>
      </p:sp>
      <p:sp>
        <p:nvSpPr>
          <p:cNvPr id="4" name="Text 2"/>
          <p:cNvSpPr/>
          <p:nvPr/>
        </p:nvSpPr>
        <p:spPr>
          <a:xfrm>
            <a:off x="640080" y="868680"/>
            <a:ext cx="10515600" cy="320040"/>
          </a:xfrm>
          <a:prstGeom prst="rect">
            <a:avLst/>
          </a:prstGeom>
          <a:noFill/>
          <a:ln/>
        </p:spPr>
        <p:txBody>
          <a:bodyPr wrap="square" lIns="0" tIns="0" rIns="0" bIns="0" rtlCol="0" anchor="t"/>
          <a:lstStyle/>
          <a:p>
            <a:pPr marL="0" indent="0">
              <a:buNone/>
            </a:pPr>
            <a:r>
              <a:rPr lang="en-US" sz="1300" i="1">
                <a:solidFill>
                  <a:srgbClr val="475569"/>
                </a:solidFill>
                <a:latin typeface="Calibri" pitchFamily="34" charset="0"/>
                <a:ea typeface="Calibri" pitchFamily="34" charset="-122"/>
                <a:cs typeface="Calibri" pitchFamily="34" charset="-120"/>
              </a:rPr>
              <a:t>How to push this lab toward a production-grade SOC</a:t>
            </a:r>
            <a:endParaRPr lang="en-US" sz="1300"/>
          </a:p>
        </p:txBody>
      </p:sp>
      <p:sp>
        <p:nvSpPr>
          <p:cNvPr id="5" name="Shape 3"/>
          <p:cNvSpPr/>
          <p:nvPr/>
        </p:nvSpPr>
        <p:spPr>
          <a:xfrm>
            <a:off x="640080" y="1417320"/>
            <a:ext cx="3657600" cy="1508760"/>
          </a:xfrm>
          <a:prstGeom prst="rect">
            <a:avLst/>
          </a:prstGeom>
          <a:solidFill>
            <a:srgbClr val="FFFFFF"/>
          </a:solidFill>
          <a:ln w="12700">
            <a:solidFill>
              <a:srgbClr val="E2E8F0"/>
            </a:solidFill>
            <a:prstDash val="solid"/>
          </a:ln>
          <a:effectLst>
            <a:outerShdw blurRad="101600" dist="38100" dir="5400000" algn="bl" rotWithShape="0">
              <a:srgbClr val="000000">
                <a:alpha val="12000"/>
              </a:srgbClr>
            </a:outerShdw>
          </a:effectLst>
        </p:spPr>
        <p:txBody>
          <a:bodyPr/>
          <a:lstStyle/>
          <a:p>
            <a:endParaRPr lang="en-US"/>
          </a:p>
        </p:txBody>
      </p:sp>
      <p:sp>
        <p:nvSpPr>
          <p:cNvPr id="6" name="Shape 4"/>
          <p:cNvSpPr/>
          <p:nvPr/>
        </p:nvSpPr>
        <p:spPr>
          <a:xfrm>
            <a:off x="640080" y="1417320"/>
            <a:ext cx="3657600" cy="73152"/>
          </a:xfrm>
          <a:prstGeom prst="rect">
            <a:avLst/>
          </a:prstGeom>
          <a:solidFill>
            <a:srgbClr val="A78BFA"/>
          </a:solidFill>
          <a:ln/>
        </p:spPr>
        <p:txBody>
          <a:bodyPr/>
          <a:lstStyle/>
          <a:p>
            <a:endParaRPr lang="en-US"/>
          </a:p>
        </p:txBody>
      </p:sp>
      <p:sp>
        <p:nvSpPr>
          <p:cNvPr id="7" name="Shape 5"/>
          <p:cNvSpPr/>
          <p:nvPr/>
        </p:nvSpPr>
        <p:spPr>
          <a:xfrm>
            <a:off x="914400" y="1691640"/>
            <a:ext cx="594360" cy="594360"/>
          </a:xfrm>
          <a:prstGeom prst="ellipse">
            <a:avLst/>
          </a:prstGeom>
          <a:solidFill>
            <a:srgbClr val="A78BFA">
              <a:alpha val="20000"/>
            </a:srgbClr>
          </a:solidFill>
          <a:ln/>
        </p:spPr>
        <p:txBody>
          <a:bodyPr/>
          <a:lstStyle/>
          <a:p>
            <a:endParaRPr lang="en-US"/>
          </a:p>
        </p:txBody>
      </p:sp>
      <p:pic>
        <p:nvPicPr>
          <p:cNvPr id="8" name="Image 0" descr="preencoded.png"/>
          <p:cNvPicPr>
            <a:picLocks noChangeAspect="1"/>
          </p:cNvPicPr>
          <p:nvPr/>
        </p:nvPicPr>
        <p:blipFill>
          <a:blip r:embed="rId3"/>
          <a:stretch>
            <a:fillRect/>
          </a:stretch>
        </p:blipFill>
        <p:spPr>
          <a:xfrm>
            <a:off x="1024128" y="1801368"/>
            <a:ext cx="365760" cy="365760"/>
          </a:xfrm>
          <a:prstGeom prst="rect">
            <a:avLst/>
          </a:prstGeom>
        </p:spPr>
      </p:pic>
      <p:sp>
        <p:nvSpPr>
          <p:cNvPr id="9" name="Text 6"/>
          <p:cNvSpPr/>
          <p:nvPr/>
        </p:nvSpPr>
        <p:spPr>
          <a:xfrm>
            <a:off x="1600200" y="1737360"/>
            <a:ext cx="2514600" cy="457200"/>
          </a:xfrm>
          <a:prstGeom prst="rect">
            <a:avLst/>
          </a:prstGeom>
          <a:noFill/>
          <a:ln/>
        </p:spPr>
        <p:txBody>
          <a:bodyPr wrap="square" lIns="0" tIns="0" rIns="0" bIns="0" rtlCol="0" anchor="t"/>
          <a:lstStyle/>
          <a:p>
            <a:pPr marL="0" indent="0">
              <a:buNone/>
            </a:pPr>
            <a:r>
              <a:rPr lang="en-US" sz="1400" b="1">
                <a:solidFill>
                  <a:srgbClr val="0F172A"/>
                </a:solidFill>
                <a:latin typeface="Calibri" pitchFamily="34" charset="0"/>
                <a:ea typeface="Calibri" pitchFamily="34" charset="-122"/>
                <a:cs typeface="Calibri" pitchFamily="34" charset="-120"/>
              </a:rPr>
              <a:t>Rich Sysmon config</a:t>
            </a:r>
            <a:endParaRPr lang="en-US" sz="1400"/>
          </a:p>
        </p:txBody>
      </p:sp>
      <p:sp>
        <p:nvSpPr>
          <p:cNvPr id="10" name="Text 7"/>
          <p:cNvSpPr/>
          <p:nvPr/>
        </p:nvSpPr>
        <p:spPr>
          <a:xfrm>
            <a:off x="914400" y="2331720"/>
            <a:ext cx="3154680" cy="548640"/>
          </a:xfrm>
          <a:prstGeom prst="rect">
            <a:avLst/>
          </a:prstGeom>
          <a:noFill/>
          <a:ln/>
        </p:spPr>
        <p:txBody>
          <a:bodyPr wrap="square" lIns="0" tIns="0" rIns="0" bIns="0" rtlCol="0" anchor="t"/>
          <a:lstStyle/>
          <a:p>
            <a:pPr marL="0" indent="0">
              <a:buNone/>
            </a:pPr>
            <a:r>
              <a:rPr lang="en-US" sz="1050">
                <a:solidFill>
                  <a:srgbClr val="475569"/>
                </a:solidFill>
                <a:latin typeface="Calibri" pitchFamily="34" charset="0"/>
                <a:ea typeface="Calibri" pitchFamily="34" charset="-122"/>
                <a:cs typeface="Calibri" pitchFamily="34" charset="-120"/>
              </a:rPr>
              <a:t>Full process creation, parent-child chains, registry, DNS, named pipes</a:t>
            </a:r>
            <a:endParaRPr lang="en-US" sz="1050"/>
          </a:p>
        </p:txBody>
      </p:sp>
      <p:sp>
        <p:nvSpPr>
          <p:cNvPr id="11" name="Shape 8"/>
          <p:cNvSpPr/>
          <p:nvPr/>
        </p:nvSpPr>
        <p:spPr>
          <a:xfrm>
            <a:off x="4498848" y="1417320"/>
            <a:ext cx="3657600" cy="1508760"/>
          </a:xfrm>
          <a:prstGeom prst="rect">
            <a:avLst/>
          </a:prstGeom>
          <a:solidFill>
            <a:srgbClr val="FFFFFF"/>
          </a:solidFill>
          <a:ln w="12700">
            <a:solidFill>
              <a:srgbClr val="E2E8F0"/>
            </a:solidFill>
            <a:prstDash val="solid"/>
          </a:ln>
          <a:effectLst>
            <a:outerShdw blurRad="101600" dist="38100" dir="5400000" algn="bl" rotWithShape="0">
              <a:srgbClr val="000000">
                <a:alpha val="12000"/>
              </a:srgbClr>
            </a:outerShdw>
          </a:effectLst>
        </p:spPr>
        <p:txBody>
          <a:bodyPr/>
          <a:lstStyle/>
          <a:p>
            <a:endParaRPr lang="en-US"/>
          </a:p>
        </p:txBody>
      </p:sp>
      <p:sp>
        <p:nvSpPr>
          <p:cNvPr id="12" name="Shape 9"/>
          <p:cNvSpPr/>
          <p:nvPr/>
        </p:nvSpPr>
        <p:spPr>
          <a:xfrm>
            <a:off x="4498848" y="1417320"/>
            <a:ext cx="3657600" cy="73152"/>
          </a:xfrm>
          <a:prstGeom prst="rect">
            <a:avLst/>
          </a:prstGeom>
          <a:solidFill>
            <a:srgbClr val="A78BFA"/>
          </a:solidFill>
          <a:ln/>
        </p:spPr>
        <p:txBody>
          <a:bodyPr/>
          <a:lstStyle/>
          <a:p>
            <a:endParaRPr lang="en-US"/>
          </a:p>
        </p:txBody>
      </p:sp>
      <p:sp>
        <p:nvSpPr>
          <p:cNvPr id="13" name="Shape 10"/>
          <p:cNvSpPr/>
          <p:nvPr/>
        </p:nvSpPr>
        <p:spPr>
          <a:xfrm>
            <a:off x="4773168" y="1691640"/>
            <a:ext cx="594360" cy="594360"/>
          </a:xfrm>
          <a:prstGeom prst="ellipse">
            <a:avLst/>
          </a:prstGeom>
          <a:solidFill>
            <a:srgbClr val="A78BFA">
              <a:alpha val="20000"/>
            </a:srgbClr>
          </a:solidFill>
          <a:ln/>
        </p:spPr>
        <p:txBody>
          <a:bodyPr/>
          <a:lstStyle/>
          <a:p>
            <a:endParaRPr lang="en-US"/>
          </a:p>
        </p:txBody>
      </p:sp>
      <p:pic>
        <p:nvPicPr>
          <p:cNvPr id="14" name="Image 1" descr="preencoded.png"/>
          <p:cNvPicPr>
            <a:picLocks noChangeAspect="1"/>
          </p:cNvPicPr>
          <p:nvPr/>
        </p:nvPicPr>
        <p:blipFill>
          <a:blip r:embed="rId4"/>
          <a:stretch>
            <a:fillRect/>
          </a:stretch>
        </p:blipFill>
        <p:spPr>
          <a:xfrm>
            <a:off x="4882896" y="1801368"/>
            <a:ext cx="365760" cy="365760"/>
          </a:xfrm>
          <a:prstGeom prst="rect">
            <a:avLst/>
          </a:prstGeom>
        </p:spPr>
      </p:pic>
      <p:sp>
        <p:nvSpPr>
          <p:cNvPr id="15" name="Text 11"/>
          <p:cNvSpPr/>
          <p:nvPr/>
        </p:nvSpPr>
        <p:spPr>
          <a:xfrm>
            <a:off x="5458968" y="1737360"/>
            <a:ext cx="2514600" cy="457200"/>
          </a:xfrm>
          <a:prstGeom prst="rect">
            <a:avLst/>
          </a:prstGeom>
          <a:noFill/>
          <a:ln/>
        </p:spPr>
        <p:txBody>
          <a:bodyPr wrap="square" lIns="0" tIns="0" rIns="0" bIns="0" rtlCol="0" anchor="t"/>
          <a:lstStyle/>
          <a:p>
            <a:pPr marL="0" indent="0">
              <a:buNone/>
            </a:pPr>
            <a:r>
              <a:rPr lang="en-US" sz="1400" b="1">
                <a:solidFill>
                  <a:srgbClr val="0F172A"/>
                </a:solidFill>
                <a:latin typeface="Calibri" pitchFamily="34" charset="0"/>
                <a:ea typeface="Calibri" pitchFamily="34" charset="-122"/>
                <a:cs typeface="Calibri" pitchFamily="34" charset="-120"/>
              </a:rPr>
              <a:t>MITRE ATT&amp;CK mapping</a:t>
            </a:r>
            <a:endParaRPr lang="en-US" sz="1400"/>
          </a:p>
        </p:txBody>
      </p:sp>
      <p:sp>
        <p:nvSpPr>
          <p:cNvPr id="16" name="Text 12"/>
          <p:cNvSpPr/>
          <p:nvPr/>
        </p:nvSpPr>
        <p:spPr>
          <a:xfrm>
            <a:off x="4773168" y="2331720"/>
            <a:ext cx="3154680" cy="548640"/>
          </a:xfrm>
          <a:prstGeom prst="rect">
            <a:avLst/>
          </a:prstGeom>
          <a:noFill/>
          <a:ln/>
        </p:spPr>
        <p:txBody>
          <a:bodyPr wrap="square" lIns="0" tIns="0" rIns="0" bIns="0" rtlCol="0" anchor="t"/>
          <a:lstStyle/>
          <a:p>
            <a:pPr marL="0" indent="0">
              <a:buNone/>
            </a:pPr>
            <a:r>
              <a:rPr lang="en-US" sz="1050">
                <a:solidFill>
                  <a:srgbClr val="475569"/>
                </a:solidFill>
                <a:latin typeface="Calibri" pitchFamily="34" charset="0"/>
                <a:ea typeface="Calibri" pitchFamily="34" charset="-122"/>
                <a:cs typeface="Calibri" pitchFamily="34" charset="-120"/>
              </a:rPr>
              <a:t>Align detection rules to ATT&amp;CK techniques for coverage analysis</a:t>
            </a:r>
            <a:endParaRPr lang="en-US" sz="1050"/>
          </a:p>
        </p:txBody>
      </p:sp>
      <p:sp>
        <p:nvSpPr>
          <p:cNvPr id="17" name="Shape 13"/>
          <p:cNvSpPr/>
          <p:nvPr/>
        </p:nvSpPr>
        <p:spPr>
          <a:xfrm>
            <a:off x="8357616" y="1417320"/>
            <a:ext cx="3657600" cy="1508760"/>
          </a:xfrm>
          <a:prstGeom prst="rect">
            <a:avLst/>
          </a:prstGeom>
          <a:solidFill>
            <a:srgbClr val="FFFFFF"/>
          </a:solidFill>
          <a:ln w="12700">
            <a:solidFill>
              <a:srgbClr val="E2E8F0"/>
            </a:solidFill>
            <a:prstDash val="solid"/>
          </a:ln>
          <a:effectLst>
            <a:outerShdw blurRad="101600" dist="38100" dir="5400000" algn="bl" rotWithShape="0">
              <a:srgbClr val="000000">
                <a:alpha val="12000"/>
              </a:srgbClr>
            </a:outerShdw>
          </a:effectLst>
        </p:spPr>
        <p:txBody>
          <a:bodyPr/>
          <a:lstStyle/>
          <a:p>
            <a:endParaRPr lang="en-US"/>
          </a:p>
        </p:txBody>
      </p:sp>
      <p:sp>
        <p:nvSpPr>
          <p:cNvPr id="18" name="Shape 14"/>
          <p:cNvSpPr/>
          <p:nvPr/>
        </p:nvSpPr>
        <p:spPr>
          <a:xfrm>
            <a:off x="8357616" y="1417320"/>
            <a:ext cx="3657600" cy="73152"/>
          </a:xfrm>
          <a:prstGeom prst="rect">
            <a:avLst/>
          </a:prstGeom>
          <a:solidFill>
            <a:srgbClr val="A78BFA"/>
          </a:solidFill>
          <a:ln/>
        </p:spPr>
        <p:txBody>
          <a:bodyPr/>
          <a:lstStyle/>
          <a:p>
            <a:endParaRPr lang="en-US"/>
          </a:p>
        </p:txBody>
      </p:sp>
      <p:sp>
        <p:nvSpPr>
          <p:cNvPr id="19" name="Shape 15"/>
          <p:cNvSpPr/>
          <p:nvPr/>
        </p:nvSpPr>
        <p:spPr>
          <a:xfrm>
            <a:off x="8631936" y="1691640"/>
            <a:ext cx="594360" cy="594360"/>
          </a:xfrm>
          <a:prstGeom prst="ellipse">
            <a:avLst/>
          </a:prstGeom>
          <a:solidFill>
            <a:srgbClr val="A78BFA">
              <a:alpha val="20000"/>
            </a:srgbClr>
          </a:solidFill>
          <a:ln/>
        </p:spPr>
        <p:txBody>
          <a:bodyPr/>
          <a:lstStyle/>
          <a:p>
            <a:endParaRPr lang="en-US"/>
          </a:p>
        </p:txBody>
      </p:sp>
      <p:pic>
        <p:nvPicPr>
          <p:cNvPr id="20" name="Image 2" descr="preencoded.png"/>
          <p:cNvPicPr>
            <a:picLocks noChangeAspect="1"/>
          </p:cNvPicPr>
          <p:nvPr/>
        </p:nvPicPr>
        <p:blipFill>
          <a:blip r:embed="rId5"/>
          <a:stretch>
            <a:fillRect/>
          </a:stretch>
        </p:blipFill>
        <p:spPr>
          <a:xfrm>
            <a:off x="8741664" y="1801368"/>
            <a:ext cx="365760" cy="365760"/>
          </a:xfrm>
          <a:prstGeom prst="rect">
            <a:avLst/>
          </a:prstGeom>
        </p:spPr>
      </p:pic>
      <p:sp>
        <p:nvSpPr>
          <p:cNvPr id="21" name="Text 16"/>
          <p:cNvSpPr/>
          <p:nvPr/>
        </p:nvSpPr>
        <p:spPr>
          <a:xfrm>
            <a:off x="9317736" y="1737360"/>
            <a:ext cx="2514600" cy="457200"/>
          </a:xfrm>
          <a:prstGeom prst="rect">
            <a:avLst/>
          </a:prstGeom>
          <a:noFill/>
          <a:ln/>
        </p:spPr>
        <p:txBody>
          <a:bodyPr wrap="square" lIns="0" tIns="0" rIns="0" bIns="0" rtlCol="0" anchor="t"/>
          <a:lstStyle/>
          <a:p>
            <a:pPr marL="0" indent="0">
              <a:buNone/>
            </a:pPr>
            <a:r>
              <a:rPr lang="en-US" sz="1400" b="1">
                <a:solidFill>
                  <a:srgbClr val="0F172A"/>
                </a:solidFill>
                <a:latin typeface="Calibri" pitchFamily="34" charset="0"/>
                <a:ea typeface="Calibri" pitchFamily="34" charset="-122"/>
                <a:cs typeface="Calibri" pitchFamily="34" charset="-120"/>
              </a:rPr>
              <a:t>GeoIP enrichment</a:t>
            </a:r>
            <a:endParaRPr lang="en-US" sz="1400"/>
          </a:p>
        </p:txBody>
      </p:sp>
      <p:sp>
        <p:nvSpPr>
          <p:cNvPr id="22" name="Text 17"/>
          <p:cNvSpPr/>
          <p:nvPr/>
        </p:nvSpPr>
        <p:spPr>
          <a:xfrm>
            <a:off x="8631936" y="2331720"/>
            <a:ext cx="3154680" cy="548640"/>
          </a:xfrm>
          <a:prstGeom prst="rect">
            <a:avLst/>
          </a:prstGeom>
          <a:noFill/>
          <a:ln/>
        </p:spPr>
        <p:txBody>
          <a:bodyPr wrap="square" lIns="0" tIns="0" rIns="0" bIns="0" rtlCol="0" anchor="t"/>
          <a:lstStyle/>
          <a:p>
            <a:pPr marL="0" indent="0">
              <a:buNone/>
            </a:pPr>
            <a:r>
              <a:rPr lang="en-US" sz="1050">
                <a:solidFill>
                  <a:srgbClr val="475569"/>
                </a:solidFill>
                <a:latin typeface="Calibri" pitchFamily="34" charset="0"/>
                <a:ea typeface="Calibri" pitchFamily="34" charset="-122"/>
                <a:cs typeface="Calibri" pitchFamily="34" charset="-120"/>
              </a:rPr>
              <a:t>Translate source IPs to country/city in Logstash; map view in Kibana</a:t>
            </a:r>
            <a:endParaRPr lang="en-US" sz="1050"/>
          </a:p>
        </p:txBody>
      </p:sp>
      <p:sp>
        <p:nvSpPr>
          <p:cNvPr id="23" name="Shape 18"/>
          <p:cNvSpPr/>
          <p:nvPr/>
        </p:nvSpPr>
        <p:spPr>
          <a:xfrm>
            <a:off x="640080" y="3246120"/>
            <a:ext cx="3657600" cy="1508760"/>
          </a:xfrm>
          <a:prstGeom prst="rect">
            <a:avLst/>
          </a:prstGeom>
          <a:solidFill>
            <a:srgbClr val="FFFFFF"/>
          </a:solidFill>
          <a:ln w="12700">
            <a:solidFill>
              <a:srgbClr val="E2E8F0"/>
            </a:solidFill>
            <a:prstDash val="solid"/>
          </a:ln>
          <a:effectLst>
            <a:outerShdw blurRad="101600" dist="38100" dir="5400000" algn="bl" rotWithShape="0">
              <a:srgbClr val="000000">
                <a:alpha val="12000"/>
              </a:srgbClr>
            </a:outerShdw>
          </a:effectLst>
        </p:spPr>
        <p:txBody>
          <a:bodyPr/>
          <a:lstStyle/>
          <a:p>
            <a:endParaRPr lang="en-US"/>
          </a:p>
        </p:txBody>
      </p:sp>
      <p:sp>
        <p:nvSpPr>
          <p:cNvPr id="24" name="Shape 19"/>
          <p:cNvSpPr/>
          <p:nvPr/>
        </p:nvSpPr>
        <p:spPr>
          <a:xfrm>
            <a:off x="640080" y="3246120"/>
            <a:ext cx="3657600" cy="73152"/>
          </a:xfrm>
          <a:prstGeom prst="rect">
            <a:avLst/>
          </a:prstGeom>
          <a:solidFill>
            <a:srgbClr val="A78BFA"/>
          </a:solidFill>
          <a:ln/>
        </p:spPr>
        <p:txBody>
          <a:bodyPr/>
          <a:lstStyle/>
          <a:p>
            <a:endParaRPr lang="en-US"/>
          </a:p>
        </p:txBody>
      </p:sp>
      <p:sp>
        <p:nvSpPr>
          <p:cNvPr id="25" name="Shape 20"/>
          <p:cNvSpPr/>
          <p:nvPr/>
        </p:nvSpPr>
        <p:spPr>
          <a:xfrm>
            <a:off x="914400" y="3520440"/>
            <a:ext cx="594360" cy="594360"/>
          </a:xfrm>
          <a:prstGeom prst="ellipse">
            <a:avLst/>
          </a:prstGeom>
          <a:solidFill>
            <a:srgbClr val="A78BFA">
              <a:alpha val="20000"/>
            </a:srgbClr>
          </a:solidFill>
          <a:ln/>
        </p:spPr>
        <p:txBody>
          <a:bodyPr/>
          <a:lstStyle/>
          <a:p>
            <a:endParaRPr lang="en-US"/>
          </a:p>
        </p:txBody>
      </p:sp>
      <p:pic>
        <p:nvPicPr>
          <p:cNvPr id="26" name="Image 3" descr="preencoded.png"/>
          <p:cNvPicPr>
            <a:picLocks noChangeAspect="1"/>
          </p:cNvPicPr>
          <p:nvPr/>
        </p:nvPicPr>
        <p:blipFill>
          <a:blip r:embed="rId6"/>
          <a:stretch>
            <a:fillRect/>
          </a:stretch>
        </p:blipFill>
        <p:spPr>
          <a:xfrm>
            <a:off x="1024128" y="3630168"/>
            <a:ext cx="365760" cy="365760"/>
          </a:xfrm>
          <a:prstGeom prst="rect">
            <a:avLst/>
          </a:prstGeom>
        </p:spPr>
      </p:pic>
      <p:sp>
        <p:nvSpPr>
          <p:cNvPr id="27" name="Text 21"/>
          <p:cNvSpPr/>
          <p:nvPr/>
        </p:nvSpPr>
        <p:spPr>
          <a:xfrm>
            <a:off x="1600200" y="3566160"/>
            <a:ext cx="2514600" cy="457200"/>
          </a:xfrm>
          <a:prstGeom prst="rect">
            <a:avLst/>
          </a:prstGeom>
          <a:noFill/>
          <a:ln/>
        </p:spPr>
        <p:txBody>
          <a:bodyPr wrap="square" lIns="0" tIns="0" rIns="0" bIns="0" rtlCol="0" anchor="t"/>
          <a:lstStyle/>
          <a:p>
            <a:pPr marL="0" indent="0">
              <a:buNone/>
            </a:pPr>
            <a:r>
              <a:rPr lang="en-US" sz="1400" b="1">
                <a:solidFill>
                  <a:srgbClr val="0F172A"/>
                </a:solidFill>
                <a:latin typeface="Calibri" pitchFamily="34" charset="0"/>
                <a:ea typeface="Calibri" pitchFamily="34" charset="-122"/>
                <a:cs typeface="Calibri" pitchFamily="34" charset="-120"/>
              </a:rPr>
              <a:t>Threat intel feeds</a:t>
            </a:r>
            <a:endParaRPr lang="en-US" sz="1400"/>
          </a:p>
        </p:txBody>
      </p:sp>
      <p:sp>
        <p:nvSpPr>
          <p:cNvPr id="28" name="Text 22"/>
          <p:cNvSpPr/>
          <p:nvPr/>
        </p:nvSpPr>
        <p:spPr>
          <a:xfrm>
            <a:off x="914400" y="4160520"/>
            <a:ext cx="3154680" cy="548640"/>
          </a:xfrm>
          <a:prstGeom prst="rect">
            <a:avLst/>
          </a:prstGeom>
          <a:noFill/>
          <a:ln/>
        </p:spPr>
        <p:txBody>
          <a:bodyPr wrap="square" lIns="0" tIns="0" rIns="0" bIns="0" rtlCol="0" anchor="t"/>
          <a:lstStyle/>
          <a:p>
            <a:pPr marL="0" indent="0">
              <a:buNone/>
            </a:pPr>
            <a:r>
              <a:rPr lang="en-US" sz="1050">
                <a:solidFill>
                  <a:srgbClr val="475569"/>
                </a:solidFill>
                <a:latin typeface="Calibri" pitchFamily="34" charset="0"/>
                <a:ea typeface="Calibri" pitchFamily="34" charset="-122"/>
                <a:cs typeface="Calibri" pitchFamily="34" charset="-120"/>
              </a:rPr>
              <a:t>MISP or Elastic TI to flag known-bad IPs, hashes, and domains</a:t>
            </a:r>
            <a:endParaRPr lang="en-US" sz="1050"/>
          </a:p>
        </p:txBody>
      </p:sp>
      <p:sp>
        <p:nvSpPr>
          <p:cNvPr id="29" name="Shape 23"/>
          <p:cNvSpPr/>
          <p:nvPr/>
        </p:nvSpPr>
        <p:spPr>
          <a:xfrm>
            <a:off x="4498848" y="3246120"/>
            <a:ext cx="3657600" cy="1508760"/>
          </a:xfrm>
          <a:prstGeom prst="rect">
            <a:avLst/>
          </a:prstGeom>
          <a:solidFill>
            <a:srgbClr val="FFFFFF"/>
          </a:solidFill>
          <a:ln w="12700">
            <a:solidFill>
              <a:srgbClr val="E2E8F0"/>
            </a:solidFill>
            <a:prstDash val="solid"/>
          </a:ln>
          <a:effectLst>
            <a:outerShdw blurRad="101600" dist="38100" dir="5400000" algn="bl" rotWithShape="0">
              <a:srgbClr val="000000">
                <a:alpha val="12000"/>
              </a:srgbClr>
            </a:outerShdw>
          </a:effectLst>
        </p:spPr>
        <p:txBody>
          <a:bodyPr/>
          <a:lstStyle/>
          <a:p>
            <a:endParaRPr lang="en-US"/>
          </a:p>
        </p:txBody>
      </p:sp>
      <p:sp>
        <p:nvSpPr>
          <p:cNvPr id="30" name="Shape 24"/>
          <p:cNvSpPr/>
          <p:nvPr/>
        </p:nvSpPr>
        <p:spPr>
          <a:xfrm>
            <a:off x="4498848" y="3246120"/>
            <a:ext cx="3657600" cy="73152"/>
          </a:xfrm>
          <a:prstGeom prst="rect">
            <a:avLst/>
          </a:prstGeom>
          <a:solidFill>
            <a:srgbClr val="A78BFA"/>
          </a:solidFill>
          <a:ln/>
        </p:spPr>
        <p:txBody>
          <a:bodyPr/>
          <a:lstStyle/>
          <a:p>
            <a:endParaRPr lang="en-US"/>
          </a:p>
        </p:txBody>
      </p:sp>
      <p:sp>
        <p:nvSpPr>
          <p:cNvPr id="31" name="Shape 25"/>
          <p:cNvSpPr/>
          <p:nvPr/>
        </p:nvSpPr>
        <p:spPr>
          <a:xfrm>
            <a:off x="4773168" y="3520440"/>
            <a:ext cx="594360" cy="594360"/>
          </a:xfrm>
          <a:prstGeom prst="ellipse">
            <a:avLst/>
          </a:prstGeom>
          <a:solidFill>
            <a:srgbClr val="A78BFA">
              <a:alpha val="20000"/>
            </a:srgbClr>
          </a:solidFill>
          <a:ln/>
        </p:spPr>
        <p:txBody>
          <a:bodyPr/>
          <a:lstStyle/>
          <a:p>
            <a:endParaRPr lang="en-US"/>
          </a:p>
        </p:txBody>
      </p:sp>
      <p:pic>
        <p:nvPicPr>
          <p:cNvPr id="32" name="Image 4" descr="preencoded.png"/>
          <p:cNvPicPr>
            <a:picLocks noChangeAspect="1"/>
          </p:cNvPicPr>
          <p:nvPr/>
        </p:nvPicPr>
        <p:blipFill>
          <a:blip r:embed="rId7"/>
          <a:stretch>
            <a:fillRect/>
          </a:stretch>
        </p:blipFill>
        <p:spPr>
          <a:xfrm>
            <a:off x="4882896" y="3630168"/>
            <a:ext cx="365760" cy="365760"/>
          </a:xfrm>
          <a:prstGeom prst="rect">
            <a:avLst/>
          </a:prstGeom>
        </p:spPr>
      </p:pic>
      <p:sp>
        <p:nvSpPr>
          <p:cNvPr id="33" name="Text 26"/>
          <p:cNvSpPr/>
          <p:nvPr/>
        </p:nvSpPr>
        <p:spPr>
          <a:xfrm>
            <a:off x="5458968" y="3566160"/>
            <a:ext cx="2514600" cy="457200"/>
          </a:xfrm>
          <a:prstGeom prst="rect">
            <a:avLst/>
          </a:prstGeom>
          <a:noFill/>
          <a:ln/>
        </p:spPr>
        <p:txBody>
          <a:bodyPr wrap="square" lIns="0" tIns="0" rIns="0" bIns="0" rtlCol="0" anchor="t"/>
          <a:lstStyle/>
          <a:p>
            <a:pPr marL="0" indent="0">
              <a:buNone/>
            </a:pPr>
            <a:r>
              <a:rPr lang="en-US" sz="1400" b="1">
                <a:solidFill>
                  <a:srgbClr val="0F172A"/>
                </a:solidFill>
                <a:latin typeface="Calibri" pitchFamily="34" charset="0"/>
                <a:ea typeface="Calibri" pitchFamily="34" charset="-122"/>
                <a:cs typeface="Calibri" pitchFamily="34" charset="-120"/>
              </a:rPr>
              <a:t>Infra-as-code rebuild</a:t>
            </a:r>
            <a:endParaRPr lang="en-US" sz="1400"/>
          </a:p>
        </p:txBody>
      </p:sp>
      <p:sp>
        <p:nvSpPr>
          <p:cNvPr id="34" name="Text 27"/>
          <p:cNvSpPr/>
          <p:nvPr/>
        </p:nvSpPr>
        <p:spPr>
          <a:xfrm>
            <a:off x="4773168" y="4160520"/>
            <a:ext cx="3154680" cy="548640"/>
          </a:xfrm>
          <a:prstGeom prst="rect">
            <a:avLst/>
          </a:prstGeom>
          <a:noFill/>
          <a:ln/>
        </p:spPr>
        <p:txBody>
          <a:bodyPr wrap="square" lIns="0" tIns="0" rIns="0" bIns="0" rtlCol="0" anchor="t"/>
          <a:lstStyle/>
          <a:p>
            <a:pPr marL="0" indent="0">
              <a:buNone/>
            </a:pPr>
            <a:r>
              <a:rPr lang="en-US" sz="1050">
                <a:solidFill>
                  <a:srgbClr val="475569"/>
                </a:solidFill>
                <a:latin typeface="Calibri" pitchFamily="34" charset="0"/>
                <a:ea typeface="Calibri" pitchFamily="34" charset="-122"/>
                <a:cs typeface="Calibri" pitchFamily="34" charset="-120"/>
              </a:rPr>
              <a:t>Ansible playbooks to reproduce the whole lab with one command</a:t>
            </a:r>
            <a:endParaRPr lang="en-US" sz="1050"/>
          </a:p>
        </p:txBody>
      </p:sp>
      <p:sp>
        <p:nvSpPr>
          <p:cNvPr id="35" name="Shape 28"/>
          <p:cNvSpPr/>
          <p:nvPr/>
        </p:nvSpPr>
        <p:spPr>
          <a:xfrm>
            <a:off x="8357616" y="3246120"/>
            <a:ext cx="3657600" cy="1508760"/>
          </a:xfrm>
          <a:prstGeom prst="rect">
            <a:avLst/>
          </a:prstGeom>
          <a:solidFill>
            <a:srgbClr val="FFFFFF"/>
          </a:solidFill>
          <a:ln w="12700">
            <a:solidFill>
              <a:srgbClr val="E2E8F0"/>
            </a:solidFill>
            <a:prstDash val="solid"/>
          </a:ln>
          <a:effectLst>
            <a:outerShdw blurRad="101600" dist="38100" dir="5400000" algn="bl" rotWithShape="0">
              <a:srgbClr val="000000">
                <a:alpha val="12000"/>
              </a:srgbClr>
            </a:outerShdw>
          </a:effectLst>
        </p:spPr>
        <p:txBody>
          <a:bodyPr/>
          <a:lstStyle/>
          <a:p>
            <a:endParaRPr lang="en-US"/>
          </a:p>
        </p:txBody>
      </p:sp>
      <p:sp>
        <p:nvSpPr>
          <p:cNvPr id="36" name="Shape 29"/>
          <p:cNvSpPr/>
          <p:nvPr/>
        </p:nvSpPr>
        <p:spPr>
          <a:xfrm>
            <a:off x="8357616" y="3246120"/>
            <a:ext cx="3657600" cy="73152"/>
          </a:xfrm>
          <a:prstGeom prst="rect">
            <a:avLst/>
          </a:prstGeom>
          <a:solidFill>
            <a:srgbClr val="A78BFA"/>
          </a:solidFill>
          <a:ln/>
        </p:spPr>
        <p:txBody>
          <a:bodyPr/>
          <a:lstStyle/>
          <a:p>
            <a:endParaRPr lang="en-US"/>
          </a:p>
        </p:txBody>
      </p:sp>
      <p:sp>
        <p:nvSpPr>
          <p:cNvPr id="37" name="Shape 30"/>
          <p:cNvSpPr/>
          <p:nvPr/>
        </p:nvSpPr>
        <p:spPr>
          <a:xfrm>
            <a:off x="8631936" y="3520440"/>
            <a:ext cx="594360" cy="594360"/>
          </a:xfrm>
          <a:prstGeom prst="ellipse">
            <a:avLst/>
          </a:prstGeom>
          <a:solidFill>
            <a:srgbClr val="A78BFA">
              <a:alpha val="20000"/>
            </a:srgbClr>
          </a:solidFill>
          <a:ln/>
        </p:spPr>
        <p:txBody>
          <a:bodyPr/>
          <a:lstStyle/>
          <a:p>
            <a:endParaRPr lang="en-US"/>
          </a:p>
        </p:txBody>
      </p:sp>
      <p:pic>
        <p:nvPicPr>
          <p:cNvPr id="38" name="Image 5" descr="preencoded.png"/>
          <p:cNvPicPr>
            <a:picLocks noChangeAspect="1"/>
          </p:cNvPicPr>
          <p:nvPr/>
        </p:nvPicPr>
        <p:blipFill>
          <a:blip r:embed="rId8"/>
          <a:stretch>
            <a:fillRect/>
          </a:stretch>
        </p:blipFill>
        <p:spPr>
          <a:xfrm>
            <a:off x="8741664" y="3630168"/>
            <a:ext cx="365760" cy="365760"/>
          </a:xfrm>
          <a:prstGeom prst="rect">
            <a:avLst/>
          </a:prstGeom>
        </p:spPr>
      </p:pic>
      <p:sp>
        <p:nvSpPr>
          <p:cNvPr id="39" name="Text 31"/>
          <p:cNvSpPr/>
          <p:nvPr/>
        </p:nvSpPr>
        <p:spPr>
          <a:xfrm>
            <a:off x="9317736" y="3566160"/>
            <a:ext cx="2514600" cy="457200"/>
          </a:xfrm>
          <a:prstGeom prst="rect">
            <a:avLst/>
          </a:prstGeom>
          <a:noFill/>
          <a:ln/>
        </p:spPr>
        <p:txBody>
          <a:bodyPr wrap="square" lIns="0" tIns="0" rIns="0" bIns="0" rtlCol="0" anchor="t"/>
          <a:lstStyle/>
          <a:p>
            <a:pPr marL="0" indent="0">
              <a:buNone/>
            </a:pPr>
            <a:r>
              <a:rPr lang="en-US" sz="1400" b="1">
                <a:solidFill>
                  <a:srgbClr val="0F172A"/>
                </a:solidFill>
                <a:latin typeface="Calibri" pitchFamily="34" charset="0"/>
                <a:ea typeface="Calibri" pitchFamily="34" charset="-122"/>
                <a:cs typeface="Calibri" pitchFamily="34" charset="-120"/>
              </a:rPr>
              <a:t>Full attack chain</a:t>
            </a:r>
            <a:endParaRPr lang="en-US" sz="1400"/>
          </a:p>
        </p:txBody>
      </p:sp>
      <p:sp>
        <p:nvSpPr>
          <p:cNvPr id="40" name="Text 32"/>
          <p:cNvSpPr/>
          <p:nvPr/>
        </p:nvSpPr>
        <p:spPr>
          <a:xfrm>
            <a:off x="8631936" y="4160520"/>
            <a:ext cx="3154680" cy="548640"/>
          </a:xfrm>
          <a:prstGeom prst="rect">
            <a:avLst/>
          </a:prstGeom>
          <a:noFill/>
          <a:ln/>
        </p:spPr>
        <p:txBody>
          <a:bodyPr wrap="square" lIns="0" tIns="0" rIns="0" bIns="0" rtlCol="0" anchor="t"/>
          <a:lstStyle/>
          <a:p>
            <a:pPr marL="0" indent="0">
              <a:buNone/>
            </a:pPr>
            <a:r>
              <a:rPr lang="en-US" sz="1050">
                <a:solidFill>
                  <a:srgbClr val="475569"/>
                </a:solidFill>
                <a:latin typeface="Calibri" pitchFamily="34" charset="0"/>
                <a:ea typeface="Calibri" pitchFamily="34" charset="-122"/>
                <a:cs typeface="Calibri" pitchFamily="34" charset="-120"/>
              </a:rPr>
              <a:t>Initial access → privilege escalation → lateral movement → exfil</a:t>
            </a:r>
            <a:endParaRPr lang="en-US" sz="1050"/>
          </a:p>
        </p:txBody>
      </p:sp>
      <p:sp>
        <p:nvSpPr>
          <p:cNvPr id="41" name="Text 33"/>
          <p:cNvSpPr/>
          <p:nvPr/>
        </p:nvSpPr>
        <p:spPr>
          <a:xfrm>
            <a:off x="640080" y="6080760"/>
            <a:ext cx="10911535" cy="274320"/>
          </a:xfrm>
          <a:prstGeom prst="rect">
            <a:avLst/>
          </a:prstGeom>
          <a:noFill/>
          <a:ln/>
        </p:spPr>
        <p:txBody>
          <a:bodyPr wrap="square" lIns="0" tIns="0" rIns="0" bIns="0" rtlCol="0" anchor="ctr"/>
          <a:lstStyle/>
          <a:p>
            <a:pPr marL="0" indent="0" algn="ctr">
              <a:buNone/>
            </a:pPr>
            <a:r>
              <a:rPr lang="en-US" sz="1200" i="1">
                <a:solidFill>
                  <a:srgbClr val="475569"/>
                </a:solidFill>
                <a:latin typeface="Calibri" pitchFamily="34" charset="0"/>
                <a:ea typeface="Calibri" pitchFamily="34" charset="-122"/>
                <a:cs typeface="Calibri" pitchFamily="34" charset="-120"/>
              </a:rPr>
              <a:t>The stack scales — with time, this lab could evolve into a genuine production SOC reference implementation.</a:t>
            </a:r>
            <a:endParaRPr lang="en-US" sz="1200"/>
          </a:p>
        </p:txBody>
      </p:sp>
      <p:sp>
        <p:nvSpPr>
          <p:cNvPr id="42" name="Text 34"/>
          <p:cNvSpPr/>
          <p:nvPr/>
        </p:nvSpPr>
        <p:spPr>
          <a:xfrm>
            <a:off x="365760" y="6537960"/>
            <a:ext cx="4572000" cy="228600"/>
          </a:xfrm>
          <a:prstGeom prst="rect">
            <a:avLst/>
          </a:prstGeom>
          <a:noFill/>
          <a:ln/>
        </p:spPr>
        <p:txBody>
          <a:bodyPr wrap="square" lIns="0" tIns="0" rIns="0" bIns="0" rtlCol="0" anchor="ctr"/>
          <a:lstStyle/>
          <a:p>
            <a:pPr marL="0" indent="0" algn="l">
              <a:buNone/>
            </a:pPr>
            <a:r>
              <a:rPr lang="en-US" sz="900">
                <a:solidFill>
                  <a:srgbClr val="94A3B8"/>
                </a:solidFill>
                <a:latin typeface="Calibri" pitchFamily="34" charset="0"/>
                <a:ea typeface="Calibri" pitchFamily="34" charset="-122"/>
                <a:cs typeface="Calibri" pitchFamily="34" charset="-120"/>
              </a:rPr>
              <a:t>Incident Handling Lab  |  Elastic SIEM</a:t>
            </a:r>
            <a:endParaRPr lang="en-US" sz="900"/>
          </a:p>
        </p:txBody>
      </p:sp>
      <p:sp>
        <p:nvSpPr>
          <p:cNvPr id="43" name="Text 35"/>
          <p:cNvSpPr/>
          <p:nvPr/>
        </p:nvSpPr>
        <p:spPr>
          <a:xfrm>
            <a:off x="11094415" y="6537960"/>
            <a:ext cx="914400" cy="228600"/>
          </a:xfrm>
          <a:prstGeom prst="rect">
            <a:avLst/>
          </a:prstGeom>
          <a:noFill/>
          <a:ln/>
        </p:spPr>
        <p:txBody>
          <a:bodyPr wrap="square" lIns="0" tIns="0" rIns="0" bIns="0" rtlCol="0" anchor="ctr"/>
          <a:lstStyle/>
          <a:p>
            <a:pPr marL="0" indent="0" algn="r">
              <a:buNone/>
            </a:pPr>
            <a:r>
              <a:rPr lang="en-US" sz="900">
                <a:solidFill>
                  <a:srgbClr val="94A3B8"/>
                </a:solidFill>
                <a:latin typeface="Calibri" pitchFamily="34" charset="0"/>
                <a:ea typeface="Calibri" pitchFamily="34" charset="-122"/>
                <a:cs typeface="Calibri" pitchFamily="34" charset="-120"/>
              </a:rPr>
              <a:t>27 / 29</a:t>
            </a:r>
            <a:endParaRPr lang="en-US" sz="90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65760" y="457200"/>
            <a:ext cx="109728" cy="731520"/>
          </a:xfrm>
          <a:prstGeom prst="rect">
            <a:avLst/>
          </a:prstGeom>
          <a:solidFill>
            <a:srgbClr val="00D9FF"/>
          </a:solidFill>
          <a:ln/>
        </p:spPr>
        <p:txBody>
          <a:bodyPr/>
          <a:lstStyle/>
          <a:p>
            <a:endParaRPr lang="en-US"/>
          </a:p>
        </p:txBody>
      </p:sp>
      <p:sp>
        <p:nvSpPr>
          <p:cNvPr id="3" name="Text 1"/>
          <p:cNvSpPr/>
          <p:nvPr/>
        </p:nvSpPr>
        <p:spPr>
          <a:xfrm>
            <a:off x="640080" y="411480"/>
            <a:ext cx="10515600" cy="502920"/>
          </a:xfrm>
          <a:prstGeom prst="rect">
            <a:avLst/>
          </a:prstGeom>
          <a:noFill/>
          <a:ln/>
        </p:spPr>
        <p:txBody>
          <a:bodyPr wrap="square" lIns="0" tIns="0" rIns="0" bIns="0" rtlCol="0" anchor="t"/>
          <a:lstStyle/>
          <a:p>
            <a:pPr marL="0" indent="0">
              <a:buNone/>
            </a:pPr>
            <a:r>
              <a:rPr lang="en-US" sz="2800" b="1">
                <a:solidFill>
                  <a:srgbClr val="0F172A"/>
                </a:solidFill>
                <a:latin typeface="Calibri" pitchFamily="34" charset="0"/>
                <a:ea typeface="Calibri" pitchFamily="34" charset="-122"/>
                <a:cs typeface="Calibri" pitchFamily="34" charset="-120"/>
              </a:rPr>
              <a:t>References</a:t>
            </a:r>
            <a:endParaRPr lang="en-US" sz="2800"/>
          </a:p>
        </p:txBody>
      </p:sp>
      <p:sp>
        <p:nvSpPr>
          <p:cNvPr id="4" name="Text 2"/>
          <p:cNvSpPr/>
          <p:nvPr/>
        </p:nvSpPr>
        <p:spPr>
          <a:xfrm>
            <a:off x="640080" y="868680"/>
            <a:ext cx="10515600" cy="320040"/>
          </a:xfrm>
          <a:prstGeom prst="rect">
            <a:avLst/>
          </a:prstGeom>
          <a:noFill/>
          <a:ln/>
        </p:spPr>
        <p:txBody>
          <a:bodyPr wrap="square" lIns="0" tIns="0" rIns="0" bIns="0" rtlCol="0" anchor="t"/>
          <a:lstStyle/>
          <a:p>
            <a:pPr marL="0" indent="0">
              <a:buNone/>
            </a:pPr>
            <a:r>
              <a:rPr lang="en-US" sz="1300" i="1">
                <a:solidFill>
                  <a:srgbClr val="475569"/>
                </a:solidFill>
                <a:latin typeface="Calibri" pitchFamily="34" charset="0"/>
                <a:ea typeface="Calibri" pitchFamily="34" charset="-122"/>
                <a:cs typeface="Calibri" pitchFamily="34" charset="-120"/>
              </a:rPr>
              <a:t>Technical documentation and AI tools cited in the project</a:t>
            </a:r>
            <a:endParaRPr lang="en-US" sz="1300"/>
          </a:p>
        </p:txBody>
      </p:sp>
      <p:sp>
        <p:nvSpPr>
          <p:cNvPr id="5" name="Text 3"/>
          <p:cNvSpPr/>
          <p:nvPr/>
        </p:nvSpPr>
        <p:spPr>
          <a:xfrm>
            <a:off x="640080" y="1371600"/>
            <a:ext cx="10911535" cy="274320"/>
          </a:xfrm>
          <a:prstGeom prst="rect">
            <a:avLst/>
          </a:prstGeom>
          <a:noFill/>
          <a:ln/>
        </p:spPr>
        <p:txBody>
          <a:bodyPr wrap="square" lIns="0" tIns="0" rIns="0" bIns="0" rtlCol="0" anchor="ctr"/>
          <a:lstStyle/>
          <a:p>
            <a:pPr marL="0" indent="0">
              <a:buNone/>
            </a:pPr>
            <a:r>
              <a:rPr lang="en-US" sz="1000" b="1" kern="0" spc="300">
                <a:solidFill>
                  <a:srgbClr val="0891B2"/>
                </a:solidFill>
                <a:latin typeface="Calibri" pitchFamily="34" charset="0"/>
                <a:ea typeface="Calibri" pitchFamily="34" charset="-122"/>
                <a:cs typeface="Calibri" pitchFamily="34" charset="-120"/>
              </a:rPr>
              <a:t>TECHNICAL REFERENCES</a:t>
            </a:r>
            <a:endParaRPr lang="en-US" sz="1000"/>
          </a:p>
        </p:txBody>
      </p:sp>
      <p:sp>
        <p:nvSpPr>
          <p:cNvPr id="6" name="Text 4"/>
          <p:cNvSpPr/>
          <p:nvPr/>
        </p:nvSpPr>
        <p:spPr>
          <a:xfrm>
            <a:off x="640080" y="1691640"/>
            <a:ext cx="5318608" cy="274320"/>
          </a:xfrm>
          <a:prstGeom prst="rect">
            <a:avLst/>
          </a:prstGeom>
          <a:noFill/>
          <a:ln/>
        </p:spPr>
        <p:txBody>
          <a:bodyPr wrap="square" lIns="0" tIns="0" rIns="0" bIns="0" rtlCol="0" anchor="t"/>
          <a:lstStyle/>
          <a:p>
            <a:pPr marL="0" indent="0">
              <a:buNone/>
            </a:pPr>
            <a:r>
              <a:rPr lang="en-US" sz="1050">
                <a:solidFill>
                  <a:srgbClr val="0F172A"/>
                </a:solidFill>
                <a:latin typeface="Calibri" pitchFamily="34" charset="0"/>
                <a:ea typeface="Calibri" pitchFamily="34" charset="-122"/>
                <a:cs typeface="Calibri" pitchFamily="34" charset="-120"/>
              </a:rPr>
              <a:t>[1] Elastic N.V., Elastic Stack Documentation, elastic.co/guide</a:t>
            </a:r>
            <a:endParaRPr lang="en-US" sz="1050"/>
          </a:p>
        </p:txBody>
      </p:sp>
      <p:sp>
        <p:nvSpPr>
          <p:cNvPr id="7" name="Text 5"/>
          <p:cNvSpPr/>
          <p:nvPr/>
        </p:nvSpPr>
        <p:spPr>
          <a:xfrm>
            <a:off x="640080" y="1965960"/>
            <a:ext cx="5318608" cy="274320"/>
          </a:xfrm>
          <a:prstGeom prst="rect">
            <a:avLst/>
          </a:prstGeom>
          <a:noFill/>
          <a:ln/>
        </p:spPr>
        <p:txBody>
          <a:bodyPr wrap="square" lIns="0" tIns="0" rIns="0" bIns="0" rtlCol="0" anchor="t"/>
          <a:lstStyle/>
          <a:p>
            <a:pPr marL="0" indent="0">
              <a:buNone/>
            </a:pPr>
            <a:r>
              <a:rPr lang="en-US" sz="1050">
                <a:solidFill>
                  <a:srgbClr val="0F172A"/>
                </a:solidFill>
                <a:latin typeface="Calibri" pitchFamily="34" charset="0"/>
                <a:ea typeface="Calibri" pitchFamily="34" charset="-122"/>
                <a:cs typeface="Calibri" pitchFamily="34" charset="-120"/>
              </a:rPr>
              <a:t>[2] Elastic N.V., Fleet and Elastic Agent Guide, elastic.co/guide/en/fleet</a:t>
            </a:r>
            <a:endParaRPr lang="en-US" sz="1050"/>
          </a:p>
        </p:txBody>
      </p:sp>
      <p:sp>
        <p:nvSpPr>
          <p:cNvPr id="8" name="Text 6"/>
          <p:cNvSpPr/>
          <p:nvPr/>
        </p:nvSpPr>
        <p:spPr>
          <a:xfrm>
            <a:off x="640080" y="2240280"/>
            <a:ext cx="5318608" cy="274320"/>
          </a:xfrm>
          <a:prstGeom prst="rect">
            <a:avLst/>
          </a:prstGeom>
          <a:noFill/>
          <a:ln/>
        </p:spPr>
        <p:txBody>
          <a:bodyPr wrap="square" lIns="0" tIns="0" rIns="0" bIns="0" rtlCol="0" anchor="t"/>
          <a:lstStyle/>
          <a:p>
            <a:pPr marL="0" indent="0">
              <a:buNone/>
            </a:pPr>
            <a:r>
              <a:rPr lang="en-US" sz="1050">
                <a:solidFill>
                  <a:srgbClr val="0F172A"/>
                </a:solidFill>
                <a:latin typeface="Calibri" pitchFamily="34" charset="0"/>
                <a:ea typeface="Calibri" pitchFamily="34" charset="-122"/>
                <a:cs typeface="Calibri" pitchFamily="34" charset="-120"/>
              </a:rPr>
              <a:t>[3] Elastic N.V., Elastic Common Schema (ECS) Reference, elastic.co/guide/en/ecs</a:t>
            </a:r>
            <a:endParaRPr lang="en-US" sz="1050"/>
          </a:p>
        </p:txBody>
      </p:sp>
      <p:sp>
        <p:nvSpPr>
          <p:cNvPr id="9" name="Text 7"/>
          <p:cNvSpPr/>
          <p:nvPr/>
        </p:nvSpPr>
        <p:spPr>
          <a:xfrm>
            <a:off x="640080" y="2514600"/>
            <a:ext cx="5318608" cy="274320"/>
          </a:xfrm>
          <a:prstGeom prst="rect">
            <a:avLst/>
          </a:prstGeom>
          <a:noFill/>
          <a:ln/>
        </p:spPr>
        <p:txBody>
          <a:bodyPr wrap="square" lIns="0" tIns="0" rIns="0" bIns="0" rtlCol="0" anchor="t"/>
          <a:lstStyle/>
          <a:p>
            <a:pPr marL="0" indent="0">
              <a:buNone/>
            </a:pPr>
            <a:r>
              <a:rPr lang="en-US" sz="1050">
                <a:solidFill>
                  <a:srgbClr val="0F172A"/>
                </a:solidFill>
                <a:latin typeface="Calibri" pitchFamily="34" charset="0"/>
                <a:ea typeface="Calibri" pitchFamily="34" charset="-122"/>
                <a:cs typeface="Calibri" pitchFamily="34" charset="-120"/>
              </a:rPr>
              <a:t>[4] Elastic N.V., Kibana Query Language (KQL), elastic.co/guide/en/kibana</a:t>
            </a:r>
            <a:endParaRPr lang="en-US" sz="1050"/>
          </a:p>
        </p:txBody>
      </p:sp>
      <p:sp>
        <p:nvSpPr>
          <p:cNvPr id="10" name="Text 8"/>
          <p:cNvSpPr/>
          <p:nvPr/>
        </p:nvSpPr>
        <p:spPr>
          <a:xfrm>
            <a:off x="640080" y="2788920"/>
            <a:ext cx="5318608" cy="274320"/>
          </a:xfrm>
          <a:prstGeom prst="rect">
            <a:avLst/>
          </a:prstGeom>
          <a:noFill/>
          <a:ln/>
        </p:spPr>
        <p:txBody>
          <a:bodyPr wrap="square" lIns="0" tIns="0" rIns="0" bIns="0" rtlCol="0" anchor="t"/>
          <a:lstStyle/>
          <a:p>
            <a:pPr marL="0" indent="0">
              <a:buNone/>
            </a:pPr>
            <a:r>
              <a:rPr lang="en-US" sz="1050">
                <a:solidFill>
                  <a:srgbClr val="0F172A"/>
                </a:solidFill>
                <a:latin typeface="Calibri" pitchFamily="34" charset="0"/>
                <a:ea typeface="Calibri" pitchFamily="34" charset="-122"/>
                <a:cs typeface="Calibri" pitchFamily="34" charset="-120"/>
              </a:rPr>
              <a:t>[5] Elastic N.V., Detection Rules and Security Solution, elastic.co/guide/en/security</a:t>
            </a:r>
            <a:endParaRPr lang="en-US" sz="1050"/>
          </a:p>
        </p:txBody>
      </p:sp>
      <p:sp>
        <p:nvSpPr>
          <p:cNvPr id="11" name="Text 9"/>
          <p:cNvSpPr/>
          <p:nvPr/>
        </p:nvSpPr>
        <p:spPr>
          <a:xfrm>
            <a:off x="640080" y="3063240"/>
            <a:ext cx="5318608" cy="274320"/>
          </a:xfrm>
          <a:prstGeom prst="rect">
            <a:avLst/>
          </a:prstGeom>
          <a:noFill/>
          <a:ln/>
        </p:spPr>
        <p:txBody>
          <a:bodyPr wrap="square" lIns="0" tIns="0" rIns="0" bIns="0" rtlCol="0" anchor="t"/>
          <a:lstStyle/>
          <a:p>
            <a:pPr marL="0" indent="0">
              <a:buNone/>
            </a:pPr>
            <a:r>
              <a:rPr lang="en-US" sz="1050">
                <a:solidFill>
                  <a:srgbClr val="0F172A"/>
                </a:solidFill>
                <a:latin typeface="Calibri" pitchFamily="34" charset="0"/>
                <a:ea typeface="Calibri" pitchFamily="34" charset="-122"/>
                <a:cs typeface="Calibri" pitchFamily="34" charset="-120"/>
              </a:rPr>
              <a:t>[6] P. Cichonski et al., Computer Security Incident Handling Guide, NIST SP 800-61 Rev 2, 2012</a:t>
            </a:r>
            <a:endParaRPr lang="en-US" sz="1050"/>
          </a:p>
        </p:txBody>
      </p:sp>
      <p:sp>
        <p:nvSpPr>
          <p:cNvPr id="12" name="Text 10"/>
          <p:cNvSpPr/>
          <p:nvPr/>
        </p:nvSpPr>
        <p:spPr>
          <a:xfrm>
            <a:off x="640080" y="3337560"/>
            <a:ext cx="5318608" cy="274320"/>
          </a:xfrm>
          <a:prstGeom prst="rect">
            <a:avLst/>
          </a:prstGeom>
          <a:noFill/>
          <a:ln/>
        </p:spPr>
        <p:txBody>
          <a:bodyPr wrap="square" lIns="0" tIns="0" rIns="0" bIns="0" rtlCol="0" anchor="t"/>
          <a:lstStyle/>
          <a:p>
            <a:pPr marL="0" indent="0">
              <a:buNone/>
            </a:pPr>
            <a:r>
              <a:rPr lang="en-US" sz="1050">
                <a:solidFill>
                  <a:srgbClr val="0F172A"/>
                </a:solidFill>
                <a:latin typeface="Calibri" pitchFamily="34" charset="0"/>
                <a:ea typeface="Calibri" pitchFamily="34" charset="-122"/>
                <a:cs typeface="Calibri" pitchFamily="34" charset="-120"/>
              </a:rPr>
              <a:t>[7] V. Hauser, THC-Hydra Network Logon Cracker, github.com/vanhauser-thc/thc-hydra</a:t>
            </a:r>
            <a:endParaRPr lang="en-US" sz="1050"/>
          </a:p>
        </p:txBody>
      </p:sp>
      <p:sp>
        <p:nvSpPr>
          <p:cNvPr id="13" name="Text 11"/>
          <p:cNvSpPr/>
          <p:nvPr/>
        </p:nvSpPr>
        <p:spPr>
          <a:xfrm>
            <a:off x="640080" y="3611880"/>
            <a:ext cx="5318608" cy="274320"/>
          </a:xfrm>
          <a:prstGeom prst="rect">
            <a:avLst/>
          </a:prstGeom>
          <a:noFill/>
          <a:ln/>
        </p:spPr>
        <p:txBody>
          <a:bodyPr wrap="square" lIns="0" tIns="0" rIns="0" bIns="0" rtlCol="0" anchor="t"/>
          <a:lstStyle/>
          <a:p>
            <a:pPr marL="0" indent="0">
              <a:buNone/>
            </a:pPr>
            <a:r>
              <a:rPr lang="en-US" sz="1050">
                <a:solidFill>
                  <a:srgbClr val="0F172A"/>
                </a:solidFill>
                <a:latin typeface="Calibri" pitchFamily="34" charset="0"/>
                <a:ea typeface="Calibri" pitchFamily="34" charset="-122"/>
                <a:cs typeface="Calibri" pitchFamily="34" charset="-120"/>
              </a:rPr>
              <a:t>[8] Offensive Security, Kali Linux Official Documentation, kali.org/docs</a:t>
            </a:r>
            <a:endParaRPr lang="en-US" sz="1050"/>
          </a:p>
        </p:txBody>
      </p:sp>
      <p:sp>
        <p:nvSpPr>
          <p:cNvPr id="14" name="Text 12"/>
          <p:cNvSpPr/>
          <p:nvPr/>
        </p:nvSpPr>
        <p:spPr>
          <a:xfrm>
            <a:off x="640080" y="3886200"/>
            <a:ext cx="5318608" cy="274320"/>
          </a:xfrm>
          <a:prstGeom prst="rect">
            <a:avLst/>
          </a:prstGeom>
          <a:noFill/>
          <a:ln/>
        </p:spPr>
        <p:txBody>
          <a:bodyPr wrap="square" lIns="0" tIns="0" rIns="0" bIns="0" rtlCol="0" anchor="t"/>
          <a:lstStyle/>
          <a:p>
            <a:pPr marL="0" indent="0">
              <a:buNone/>
            </a:pPr>
            <a:r>
              <a:rPr lang="en-US" sz="1050">
                <a:solidFill>
                  <a:srgbClr val="0F172A"/>
                </a:solidFill>
                <a:latin typeface="Calibri" pitchFamily="34" charset="0"/>
                <a:ea typeface="Calibri" pitchFamily="34" charset="-122"/>
                <a:cs typeface="Calibri" pitchFamily="34" charset="-120"/>
              </a:rPr>
              <a:t>[9] Red Hat, Linux Audit System (auditd) Documentation, access.redhat.com</a:t>
            </a:r>
            <a:endParaRPr lang="en-US" sz="1050"/>
          </a:p>
        </p:txBody>
      </p:sp>
      <p:sp>
        <p:nvSpPr>
          <p:cNvPr id="15" name="Text 13"/>
          <p:cNvSpPr/>
          <p:nvPr/>
        </p:nvSpPr>
        <p:spPr>
          <a:xfrm>
            <a:off x="6233008" y="1691640"/>
            <a:ext cx="5318608" cy="274320"/>
          </a:xfrm>
          <a:prstGeom prst="rect">
            <a:avLst/>
          </a:prstGeom>
          <a:noFill/>
          <a:ln/>
        </p:spPr>
        <p:txBody>
          <a:bodyPr wrap="square" lIns="0" tIns="0" rIns="0" bIns="0" rtlCol="0" anchor="t"/>
          <a:lstStyle/>
          <a:p>
            <a:pPr marL="0" indent="0">
              <a:buNone/>
            </a:pPr>
            <a:r>
              <a:rPr lang="en-US" sz="1050">
                <a:solidFill>
                  <a:srgbClr val="0F172A"/>
                </a:solidFill>
                <a:latin typeface="Calibri" pitchFamily="34" charset="0"/>
                <a:ea typeface="Calibri" pitchFamily="34" charset="-122"/>
                <a:cs typeface="Calibri" pitchFamily="34" charset="-120"/>
              </a:rPr>
              <a:t>[10] M. Russinovich and T. Garnier, Sysmon v15.15 System Monitor, Microsoft Sysinternals</a:t>
            </a:r>
            <a:endParaRPr lang="en-US" sz="1050"/>
          </a:p>
        </p:txBody>
      </p:sp>
      <p:sp>
        <p:nvSpPr>
          <p:cNvPr id="16" name="Text 14"/>
          <p:cNvSpPr/>
          <p:nvPr/>
        </p:nvSpPr>
        <p:spPr>
          <a:xfrm>
            <a:off x="6233008" y="1965960"/>
            <a:ext cx="5318608" cy="274320"/>
          </a:xfrm>
          <a:prstGeom prst="rect">
            <a:avLst/>
          </a:prstGeom>
          <a:noFill/>
          <a:ln/>
        </p:spPr>
        <p:txBody>
          <a:bodyPr wrap="square" lIns="0" tIns="0" rIns="0" bIns="0" rtlCol="0" anchor="t"/>
          <a:lstStyle/>
          <a:p>
            <a:pPr marL="0" indent="0">
              <a:buNone/>
            </a:pPr>
            <a:r>
              <a:rPr lang="en-US" sz="1050">
                <a:solidFill>
                  <a:srgbClr val="0F172A"/>
                </a:solidFill>
                <a:latin typeface="Calibri" pitchFamily="34" charset="0"/>
                <a:ea typeface="Calibri" pitchFamily="34" charset="-122"/>
                <a:cs typeface="Calibri" pitchFamily="34" charset="-120"/>
              </a:rPr>
              <a:t>[11] Microsoft Corp., Windows Security Event Log Reference (Event ID 4625), learn.microsoft.com</a:t>
            </a:r>
            <a:endParaRPr lang="en-US" sz="1050"/>
          </a:p>
        </p:txBody>
      </p:sp>
      <p:sp>
        <p:nvSpPr>
          <p:cNvPr id="17" name="Text 15"/>
          <p:cNvSpPr/>
          <p:nvPr/>
        </p:nvSpPr>
        <p:spPr>
          <a:xfrm>
            <a:off x="6233008" y="2240280"/>
            <a:ext cx="5318608" cy="274320"/>
          </a:xfrm>
          <a:prstGeom prst="rect">
            <a:avLst/>
          </a:prstGeom>
          <a:noFill/>
          <a:ln/>
        </p:spPr>
        <p:txBody>
          <a:bodyPr wrap="square" lIns="0" tIns="0" rIns="0" bIns="0" rtlCol="0" anchor="t"/>
          <a:lstStyle/>
          <a:p>
            <a:pPr marL="0" indent="0">
              <a:buNone/>
            </a:pPr>
            <a:r>
              <a:rPr lang="en-US" sz="1050">
                <a:solidFill>
                  <a:srgbClr val="0F172A"/>
                </a:solidFill>
                <a:latin typeface="Calibri" pitchFamily="34" charset="0"/>
                <a:ea typeface="Calibri" pitchFamily="34" charset="-122"/>
                <a:cs typeface="Calibri" pitchFamily="34" charset="-120"/>
              </a:rPr>
              <a:t>[12] Microsoft Corp., Remote Desktop Protocol (RDP) Technical Reference, learn.microsoft.com</a:t>
            </a:r>
            <a:endParaRPr lang="en-US" sz="1050"/>
          </a:p>
        </p:txBody>
      </p:sp>
      <p:sp>
        <p:nvSpPr>
          <p:cNvPr id="18" name="Text 16"/>
          <p:cNvSpPr/>
          <p:nvPr/>
        </p:nvSpPr>
        <p:spPr>
          <a:xfrm>
            <a:off x="6233008" y="2514600"/>
            <a:ext cx="5318608" cy="274320"/>
          </a:xfrm>
          <a:prstGeom prst="rect">
            <a:avLst/>
          </a:prstGeom>
          <a:noFill/>
          <a:ln/>
        </p:spPr>
        <p:txBody>
          <a:bodyPr wrap="square" lIns="0" tIns="0" rIns="0" bIns="0" rtlCol="0" anchor="t"/>
          <a:lstStyle/>
          <a:p>
            <a:pPr marL="0" indent="0">
              <a:buNone/>
            </a:pPr>
            <a:r>
              <a:rPr lang="en-US" sz="1050">
                <a:solidFill>
                  <a:srgbClr val="0F172A"/>
                </a:solidFill>
                <a:latin typeface="Calibri" pitchFamily="34" charset="0"/>
                <a:ea typeface="Calibri" pitchFamily="34" charset="-122"/>
                <a:cs typeface="Calibri" pitchFamily="34" charset="-120"/>
              </a:rPr>
              <a:t>[13] Oracle Corp., Oracle VM VirtualBox User Manual, virtualbox.org/manual</a:t>
            </a:r>
            <a:endParaRPr lang="en-US" sz="1050"/>
          </a:p>
        </p:txBody>
      </p:sp>
      <p:sp>
        <p:nvSpPr>
          <p:cNvPr id="19" name="Text 17"/>
          <p:cNvSpPr/>
          <p:nvPr/>
        </p:nvSpPr>
        <p:spPr>
          <a:xfrm>
            <a:off x="6233008" y="2788920"/>
            <a:ext cx="5318608" cy="274320"/>
          </a:xfrm>
          <a:prstGeom prst="rect">
            <a:avLst/>
          </a:prstGeom>
          <a:noFill/>
          <a:ln/>
        </p:spPr>
        <p:txBody>
          <a:bodyPr wrap="square" lIns="0" tIns="0" rIns="0" bIns="0" rtlCol="0" anchor="t"/>
          <a:lstStyle/>
          <a:p>
            <a:pPr marL="0" indent="0">
              <a:buNone/>
            </a:pPr>
            <a:r>
              <a:rPr lang="en-US" sz="1050">
                <a:solidFill>
                  <a:srgbClr val="0F172A"/>
                </a:solidFill>
                <a:latin typeface="Calibri" pitchFamily="34" charset="0"/>
                <a:ea typeface="Calibri" pitchFamily="34" charset="-122"/>
                <a:cs typeface="Calibri" pitchFamily="34" charset="-120"/>
              </a:rPr>
              <a:t>[14] Microsoft Corp., Send an Incoming Webhook to Microsoft Teams, learn.microsoft.com</a:t>
            </a:r>
            <a:endParaRPr lang="en-US" sz="1050"/>
          </a:p>
        </p:txBody>
      </p:sp>
      <p:sp>
        <p:nvSpPr>
          <p:cNvPr id="20" name="Text 18"/>
          <p:cNvSpPr/>
          <p:nvPr/>
        </p:nvSpPr>
        <p:spPr>
          <a:xfrm>
            <a:off x="6233008" y="3063240"/>
            <a:ext cx="5318608" cy="274320"/>
          </a:xfrm>
          <a:prstGeom prst="rect">
            <a:avLst/>
          </a:prstGeom>
          <a:noFill/>
          <a:ln/>
        </p:spPr>
        <p:txBody>
          <a:bodyPr wrap="square" lIns="0" tIns="0" rIns="0" bIns="0" rtlCol="0" anchor="t"/>
          <a:lstStyle/>
          <a:p>
            <a:pPr marL="0" indent="0">
              <a:buNone/>
            </a:pPr>
            <a:r>
              <a:rPr lang="en-US" sz="1050">
                <a:solidFill>
                  <a:srgbClr val="0F172A"/>
                </a:solidFill>
                <a:latin typeface="Calibri" pitchFamily="34" charset="0"/>
                <a:ea typeface="Calibri" pitchFamily="34" charset="-122"/>
                <a:cs typeface="Calibri" pitchFamily="34" charset="-120"/>
              </a:rPr>
              <a:t>[15] PCI Security Standards Council, PCI DSS v4.0, pcisecuritystandards.org</a:t>
            </a:r>
            <a:endParaRPr lang="en-US" sz="1050"/>
          </a:p>
        </p:txBody>
      </p:sp>
      <p:sp>
        <p:nvSpPr>
          <p:cNvPr id="21" name="Text 19"/>
          <p:cNvSpPr/>
          <p:nvPr/>
        </p:nvSpPr>
        <p:spPr>
          <a:xfrm>
            <a:off x="6233008" y="3337560"/>
            <a:ext cx="5318608" cy="274320"/>
          </a:xfrm>
          <a:prstGeom prst="rect">
            <a:avLst/>
          </a:prstGeom>
          <a:noFill/>
          <a:ln/>
        </p:spPr>
        <p:txBody>
          <a:bodyPr wrap="square" lIns="0" tIns="0" rIns="0" bIns="0" rtlCol="0" anchor="t"/>
          <a:lstStyle/>
          <a:p>
            <a:pPr marL="0" indent="0">
              <a:buNone/>
            </a:pPr>
            <a:r>
              <a:rPr lang="en-US" sz="1050">
                <a:solidFill>
                  <a:srgbClr val="0F172A"/>
                </a:solidFill>
                <a:latin typeface="Calibri" pitchFamily="34" charset="0"/>
                <a:ea typeface="Calibri" pitchFamily="34" charset="-122"/>
                <a:cs typeface="Calibri" pitchFamily="34" charset="-120"/>
              </a:rPr>
              <a:t>[16] Center for Internet Security, CIS Controls Version 8, cisecurity.org/controls</a:t>
            </a:r>
            <a:endParaRPr lang="en-US" sz="1050"/>
          </a:p>
        </p:txBody>
      </p:sp>
      <p:sp>
        <p:nvSpPr>
          <p:cNvPr id="22" name="Text 20"/>
          <p:cNvSpPr/>
          <p:nvPr/>
        </p:nvSpPr>
        <p:spPr>
          <a:xfrm>
            <a:off x="6233008" y="3611880"/>
            <a:ext cx="5318608" cy="274320"/>
          </a:xfrm>
          <a:prstGeom prst="rect">
            <a:avLst/>
          </a:prstGeom>
          <a:noFill/>
          <a:ln/>
        </p:spPr>
        <p:txBody>
          <a:bodyPr wrap="square" lIns="0" tIns="0" rIns="0" bIns="0" rtlCol="0" anchor="t"/>
          <a:lstStyle/>
          <a:p>
            <a:pPr marL="0" indent="0">
              <a:buNone/>
            </a:pPr>
            <a:r>
              <a:rPr lang="en-US" sz="1050">
                <a:solidFill>
                  <a:srgbClr val="0F172A"/>
                </a:solidFill>
                <a:latin typeface="Calibri" pitchFamily="34" charset="0"/>
                <a:ea typeface="Calibri" pitchFamily="34" charset="-122"/>
                <a:cs typeface="Calibri" pitchFamily="34" charset="-120"/>
              </a:rPr>
              <a:t>[17] MITRE Corp., MITRE ATT&amp;CK Framework, attack.mitre.org</a:t>
            </a:r>
            <a:endParaRPr lang="en-US" sz="1050"/>
          </a:p>
        </p:txBody>
      </p:sp>
      <p:sp>
        <p:nvSpPr>
          <p:cNvPr id="23" name="Shape 21"/>
          <p:cNvSpPr/>
          <p:nvPr/>
        </p:nvSpPr>
        <p:spPr>
          <a:xfrm>
            <a:off x="640080" y="4343400"/>
            <a:ext cx="10911535" cy="1874520"/>
          </a:xfrm>
          <a:prstGeom prst="rect">
            <a:avLst/>
          </a:prstGeom>
          <a:solidFill>
            <a:srgbClr val="0A1628"/>
          </a:solidFill>
          <a:ln/>
        </p:spPr>
        <p:txBody>
          <a:bodyPr/>
          <a:lstStyle/>
          <a:p>
            <a:endParaRPr lang="en-US"/>
          </a:p>
        </p:txBody>
      </p:sp>
      <p:sp>
        <p:nvSpPr>
          <p:cNvPr id="24" name="Text 22"/>
          <p:cNvSpPr/>
          <p:nvPr/>
        </p:nvSpPr>
        <p:spPr>
          <a:xfrm>
            <a:off x="822960" y="4480560"/>
            <a:ext cx="10545775" cy="274320"/>
          </a:xfrm>
          <a:prstGeom prst="rect">
            <a:avLst/>
          </a:prstGeom>
          <a:noFill/>
          <a:ln/>
        </p:spPr>
        <p:txBody>
          <a:bodyPr wrap="square" lIns="0" tIns="0" rIns="0" bIns="0" rtlCol="0" anchor="ctr"/>
          <a:lstStyle/>
          <a:p>
            <a:pPr marL="0" indent="0">
              <a:buNone/>
            </a:pPr>
            <a:r>
              <a:rPr lang="en-US" sz="1000" b="1" kern="0" spc="300">
                <a:solidFill>
                  <a:srgbClr val="00D9FF"/>
                </a:solidFill>
                <a:latin typeface="Calibri" pitchFamily="34" charset="0"/>
                <a:ea typeface="Calibri" pitchFamily="34" charset="-122"/>
                <a:cs typeface="Calibri" pitchFamily="34" charset="-120"/>
              </a:rPr>
              <a:t>AI AND LARGE LANGUAGE MODEL REFERENCES</a:t>
            </a:r>
            <a:endParaRPr lang="en-US" sz="1000"/>
          </a:p>
        </p:txBody>
      </p:sp>
      <p:sp>
        <p:nvSpPr>
          <p:cNvPr id="25" name="Text 23"/>
          <p:cNvSpPr/>
          <p:nvPr/>
        </p:nvSpPr>
        <p:spPr>
          <a:xfrm>
            <a:off x="822960" y="4754880"/>
            <a:ext cx="10545775" cy="320040"/>
          </a:xfrm>
          <a:prstGeom prst="rect">
            <a:avLst/>
          </a:prstGeom>
          <a:noFill/>
          <a:ln/>
        </p:spPr>
        <p:txBody>
          <a:bodyPr wrap="square" lIns="0" tIns="0" rIns="0" bIns="0" rtlCol="0" anchor="ctr"/>
          <a:lstStyle/>
          <a:p>
            <a:pPr marL="0" indent="0">
              <a:buNone/>
            </a:pPr>
            <a:r>
              <a:rPr lang="en-US" sz="1050" i="1">
                <a:solidFill>
                  <a:srgbClr val="94A3B8"/>
                </a:solidFill>
                <a:latin typeface="Calibri" pitchFamily="34" charset="0"/>
                <a:ea typeface="Calibri" pitchFamily="34" charset="-122"/>
                <a:cs typeface="Calibri" pitchFamily="34" charset="-120"/>
              </a:rPr>
              <a:t>Used during preparation for troubleshooting, documentation clarification, and report structuring. All technical work was performed by the authors.</a:t>
            </a:r>
            <a:endParaRPr lang="en-US" sz="1050"/>
          </a:p>
        </p:txBody>
      </p:sp>
      <p:sp>
        <p:nvSpPr>
          <p:cNvPr id="26" name="Shape 24"/>
          <p:cNvSpPr/>
          <p:nvPr/>
        </p:nvSpPr>
        <p:spPr>
          <a:xfrm>
            <a:off x="822960" y="5212080"/>
            <a:ext cx="91440" cy="91440"/>
          </a:xfrm>
          <a:prstGeom prst="rect">
            <a:avLst/>
          </a:prstGeom>
          <a:solidFill>
            <a:srgbClr val="00D9FF"/>
          </a:solidFill>
          <a:ln/>
        </p:spPr>
        <p:txBody>
          <a:bodyPr/>
          <a:lstStyle/>
          <a:p>
            <a:endParaRPr lang="en-US"/>
          </a:p>
        </p:txBody>
      </p:sp>
      <p:sp>
        <p:nvSpPr>
          <p:cNvPr id="27" name="Text 25"/>
          <p:cNvSpPr/>
          <p:nvPr/>
        </p:nvSpPr>
        <p:spPr>
          <a:xfrm>
            <a:off x="1005840" y="5138928"/>
            <a:ext cx="10362895" cy="274320"/>
          </a:xfrm>
          <a:prstGeom prst="rect">
            <a:avLst/>
          </a:prstGeom>
          <a:noFill/>
          <a:ln/>
        </p:spPr>
        <p:txBody>
          <a:bodyPr wrap="square" lIns="0" tIns="0" rIns="0" bIns="0" rtlCol="0" anchor="ctr"/>
          <a:lstStyle/>
          <a:p>
            <a:pPr marL="0" indent="0">
              <a:buNone/>
            </a:pPr>
            <a:r>
              <a:rPr lang="en-US" sz="1050">
                <a:solidFill>
                  <a:srgbClr val="E2E8F0"/>
                </a:solidFill>
                <a:latin typeface="Calibri" pitchFamily="34" charset="0"/>
                <a:ea typeface="Calibri" pitchFamily="34" charset="-122"/>
                <a:cs typeface="Calibri" pitchFamily="34" charset="-120"/>
              </a:rPr>
              <a:t>[18] Anthropic, Claude (Large Language Model), claude.ai  —  troubleshooting and report structuring</a:t>
            </a:r>
            <a:endParaRPr lang="en-US" sz="1050"/>
          </a:p>
        </p:txBody>
      </p:sp>
      <p:sp>
        <p:nvSpPr>
          <p:cNvPr id="28" name="Shape 26"/>
          <p:cNvSpPr/>
          <p:nvPr/>
        </p:nvSpPr>
        <p:spPr>
          <a:xfrm>
            <a:off x="822960" y="5532120"/>
            <a:ext cx="91440" cy="91440"/>
          </a:xfrm>
          <a:prstGeom prst="rect">
            <a:avLst/>
          </a:prstGeom>
          <a:solidFill>
            <a:srgbClr val="00D9FF"/>
          </a:solidFill>
          <a:ln/>
        </p:spPr>
        <p:txBody>
          <a:bodyPr/>
          <a:lstStyle/>
          <a:p>
            <a:endParaRPr lang="en-US"/>
          </a:p>
        </p:txBody>
      </p:sp>
      <p:sp>
        <p:nvSpPr>
          <p:cNvPr id="29" name="Text 27"/>
          <p:cNvSpPr/>
          <p:nvPr/>
        </p:nvSpPr>
        <p:spPr>
          <a:xfrm>
            <a:off x="1005840" y="5458968"/>
            <a:ext cx="10362895" cy="274320"/>
          </a:xfrm>
          <a:prstGeom prst="rect">
            <a:avLst/>
          </a:prstGeom>
          <a:noFill/>
          <a:ln/>
        </p:spPr>
        <p:txBody>
          <a:bodyPr wrap="square" lIns="0" tIns="0" rIns="0" bIns="0" rtlCol="0" anchor="ctr"/>
          <a:lstStyle/>
          <a:p>
            <a:pPr marL="0" indent="0">
              <a:buNone/>
            </a:pPr>
            <a:r>
              <a:rPr lang="en-US" sz="1050">
                <a:solidFill>
                  <a:srgbClr val="E2E8F0"/>
                </a:solidFill>
                <a:latin typeface="Calibri" pitchFamily="34" charset="0"/>
                <a:ea typeface="Calibri" pitchFamily="34" charset="-122"/>
                <a:cs typeface="Calibri" pitchFamily="34" charset="-120"/>
              </a:rPr>
              <a:t>[19] OpenAI, ChatGPT (Large Language Model), chat.openai.com  —  Elasticsearch config and auditd syntax</a:t>
            </a:r>
            <a:endParaRPr lang="en-US" sz="1050"/>
          </a:p>
        </p:txBody>
      </p:sp>
      <p:sp>
        <p:nvSpPr>
          <p:cNvPr id="30" name="Shape 28"/>
          <p:cNvSpPr/>
          <p:nvPr/>
        </p:nvSpPr>
        <p:spPr>
          <a:xfrm>
            <a:off x="822960" y="5852160"/>
            <a:ext cx="91440" cy="91440"/>
          </a:xfrm>
          <a:prstGeom prst="rect">
            <a:avLst/>
          </a:prstGeom>
          <a:solidFill>
            <a:srgbClr val="00D9FF"/>
          </a:solidFill>
          <a:ln/>
        </p:spPr>
        <p:txBody>
          <a:bodyPr/>
          <a:lstStyle/>
          <a:p>
            <a:endParaRPr lang="en-US"/>
          </a:p>
        </p:txBody>
      </p:sp>
      <p:sp>
        <p:nvSpPr>
          <p:cNvPr id="31" name="Text 29"/>
          <p:cNvSpPr/>
          <p:nvPr/>
        </p:nvSpPr>
        <p:spPr>
          <a:xfrm>
            <a:off x="1005840" y="5779008"/>
            <a:ext cx="10362895" cy="274320"/>
          </a:xfrm>
          <a:prstGeom prst="rect">
            <a:avLst/>
          </a:prstGeom>
          <a:noFill/>
          <a:ln/>
        </p:spPr>
        <p:txBody>
          <a:bodyPr wrap="square" lIns="0" tIns="0" rIns="0" bIns="0" rtlCol="0" anchor="ctr"/>
          <a:lstStyle/>
          <a:p>
            <a:pPr marL="0" indent="0">
              <a:buNone/>
            </a:pPr>
            <a:r>
              <a:rPr lang="en-US" sz="1050">
                <a:solidFill>
                  <a:srgbClr val="E2E8F0"/>
                </a:solidFill>
                <a:latin typeface="Calibri" pitchFamily="34" charset="0"/>
                <a:ea typeface="Calibri" pitchFamily="34" charset="-122"/>
                <a:cs typeface="Calibri" pitchFamily="34" charset="-120"/>
              </a:rPr>
              <a:t>[20] Google DeepMind, Gemini (Large Language Model), gemini.google.com  —  terminology review</a:t>
            </a:r>
            <a:endParaRPr lang="en-US" sz="1050"/>
          </a:p>
        </p:txBody>
      </p:sp>
      <p:sp>
        <p:nvSpPr>
          <p:cNvPr id="32" name="Text 30"/>
          <p:cNvSpPr/>
          <p:nvPr/>
        </p:nvSpPr>
        <p:spPr>
          <a:xfrm>
            <a:off x="365760" y="6537960"/>
            <a:ext cx="4572000" cy="228600"/>
          </a:xfrm>
          <a:prstGeom prst="rect">
            <a:avLst/>
          </a:prstGeom>
          <a:noFill/>
          <a:ln/>
        </p:spPr>
        <p:txBody>
          <a:bodyPr wrap="square" lIns="0" tIns="0" rIns="0" bIns="0" rtlCol="0" anchor="ctr"/>
          <a:lstStyle/>
          <a:p>
            <a:pPr marL="0" indent="0" algn="l">
              <a:buNone/>
            </a:pPr>
            <a:r>
              <a:rPr lang="en-US" sz="900">
                <a:solidFill>
                  <a:srgbClr val="94A3B8"/>
                </a:solidFill>
                <a:latin typeface="Calibri" pitchFamily="34" charset="0"/>
                <a:ea typeface="Calibri" pitchFamily="34" charset="-122"/>
                <a:cs typeface="Calibri" pitchFamily="34" charset="-120"/>
              </a:rPr>
              <a:t>Incident Handling Lab  |  Elastic SIEM</a:t>
            </a:r>
            <a:endParaRPr lang="en-US" sz="900"/>
          </a:p>
        </p:txBody>
      </p:sp>
      <p:sp>
        <p:nvSpPr>
          <p:cNvPr id="33" name="Text 31"/>
          <p:cNvSpPr/>
          <p:nvPr/>
        </p:nvSpPr>
        <p:spPr>
          <a:xfrm>
            <a:off x="11094415" y="6537960"/>
            <a:ext cx="914400" cy="228600"/>
          </a:xfrm>
          <a:prstGeom prst="rect">
            <a:avLst/>
          </a:prstGeom>
          <a:noFill/>
          <a:ln/>
        </p:spPr>
        <p:txBody>
          <a:bodyPr wrap="square" lIns="0" tIns="0" rIns="0" bIns="0" rtlCol="0" anchor="ctr"/>
          <a:lstStyle/>
          <a:p>
            <a:pPr marL="0" indent="0" algn="r">
              <a:buNone/>
            </a:pPr>
            <a:r>
              <a:rPr lang="en-US" sz="900">
                <a:solidFill>
                  <a:srgbClr val="94A3B8"/>
                </a:solidFill>
                <a:latin typeface="Calibri" pitchFamily="34" charset="0"/>
                <a:ea typeface="Calibri" pitchFamily="34" charset="-122"/>
                <a:cs typeface="Calibri" pitchFamily="34" charset="-120"/>
              </a:rPr>
              <a:t>28 / 29</a:t>
            </a:r>
            <a:endParaRPr lang="en-US" sz="90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8534095" y="-1828800"/>
            <a:ext cx="6400800" cy="6400800"/>
          </a:xfrm>
          <a:prstGeom prst="ellipse">
            <a:avLst/>
          </a:prstGeom>
          <a:solidFill>
            <a:srgbClr val="00D9FF">
              <a:alpha val="8000"/>
            </a:srgbClr>
          </a:solidFill>
          <a:ln/>
        </p:spPr>
        <p:txBody>
          <a:bodyPr/>
          <a:lstStyle/>
          <a:p>
            <a:endParaRPr lang="en-US"/>
          </a:p>
        </p:txBody>
      </p:sp>
      <p:sp>
        <p:nvSpPr>
          <p:cNvPr id="3" name="Shape 1"/>
          <p:cNvSpPr/>
          <p:nvPr/>
        </p:nvSpPr>
        <p:spPr>
          <a:xfrm>
            <a:off x="-2743200" y="4114800"/>
            <a:ext cx="5486400" cy="5486400"/>
          </a:xfrm>
          <a:prstGeom prst="ellipse">
            <a:avLst/>
          </a:prstGeom>
          <a:solidFill>
            <a:srgbClr val="A78BFA">
              <a:alpha val="6000"/>
            </a:srgbClr>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5592928" y="822960"/>
            <a:ext cx="1005840" cy="1005840"/>
          </a:xfrm>
          <a:prstGeom prst="rect">
            <a:avLst/>
          </a:prstGeom>
        </p:spPr>
      </p:pic>
      <p:sp>
        <p:nvSpPr>
          <p:cNvPr id="5" name="Text 2"/>
          <p:cNvSpPr/>
          <p:nvPr/>
        </p:nvSpPr>
        <p:spPr>
          <a:xfrm>
            <a:off x="457200" y="2011680"/>
            <a:ext cx="11277295" cy="365760"/>
          </a:xfrm>
          <a:prstGeom prst="rect">
            <a:avLst/>
          </a:prstGeom>
          <a:noFill/>
          <a:ln/>
        </p:spPr>
        <p:txBody>
          <a:bodyPr wrap="square" rtlCol="0" anchor="ctr"/>
          <a:lstStyle/>
          <a:p>
            <a:pPr marL="0" indent="0" algn="ctr">
              <a:buNone/>
            </a:pPr>
            <a:r>
              <a:rPr lang="en-US" sz="1200" b="1" kern="0" spc="800">
                <a:solidFill>
                  <a:srgbClr val="00D9FF"/>
                </a:solidFill>
                <a:latin typeface="Calibri" pitchFamily="34" charset="0"/>
                <a:ea typeface="Calibri" pitchFamily="34" charset="-122"/>
                <a:cs typeface="Calibri" pitchFamily="34" charset="-120"/>
              </a:rPr>
              <a:t>MISSION ACCOMPLISHED</a:t>
            </a:r>
            <a:endParaRPr lang="en-US" sz="1200"/>
          </a:p>
        </p:txBody>
      </p:sp>
      <p:sp>
        <p:nvSpPr>
          <p:cNvPr id="6" name="Text 3"/>
          <p:cNvSpPr/>
          <p:nvPr/>
        </p:nvSpPr>
        <p:spPr>
          <a:xfrm>
            <a:off x="457200" y="2377440"/>
            <a:ext cx="11277295" cy="914400"/>
          </a:xfrm>
          <a:prstGeom prst="rect">
            <a:avLst/>
          </a:prstGeom>
          <a:noFill/>
          <a:ln/>
        </p:spPr>
        <p:txBody>
          <a:bodyPr wrap="square" rtlCol="0" anchor="ctr"/>
          <a:lstStyle/>
          <a:p>
            <a:pPr marL="0" indent="0" algn="ctr">
              <a:buNone/>
            </a:pPr>
            <a:r>
              <a:rPr lang="en-US" sz="6000" b="1">
                <a:solidFill>
                  <a:srgbClr val="FFFFFF"/>
                </a:solidFill>
                <a:latin typeface="Calibri" pitchFamily="34" charset="0"/>
                <a:ea typeface="Calibri" pitchFamily="34" charset="-122"/>
                <a:cs typeface="Calibri" pitchFamily="34" charset="-120"/>
              </a:rPr>
              <a:t>Thank You</a:t>
            </a:r>
            <a:endParaRPr lang="en-US" sz="6000"/>
          </a:p>
        </p:txBody>
      </p:sp>
      <p:sp>
        <p:nvSpPr>
          <p:cNvPr id="7" name="Text 4"/>
          <p:cNvSpPr/>
          <p:nvPr/>
        </p:nvSpPr>
        <p:spPr>
          <a:xfrm>
            <a:off x="457200" y="3429000"/>
            <a:ext cx="11277295" cy="457200"/>
          </a:xfrm>
          <a:prstGeom prst="rect">
            <a:avLst/>
          </a:prstGeom>
          <a:noFill/>
          <a:ln/>
        </p:spPr>
        <p:txBody>
          <a:bodyPr wrap="square" rtlCol="0" anchor="ctr"/>
          <a:lstStyle/>
          <a:p>
            <a:pPr marL="0" indent="0" algn="ctr">
              <a:buNone/>
            </a:pPr>
            <a:r>
              <a:rPr lang="en-US" sz="1800" i="1">
                <a:solidFill>
                  <a:srgbClr val="E2E8F0"/>
                </a:solidFill>
                <a:latin typeface="Calibri" pitchFamily="34" charset="0"/>
                <a:ea typeface="Calibri" pitchFamily="34" charset="-122"/>
                <a:cs typeface="Calibri" pitchFamily="34" charset="-120"/>
              </a:rPr>
              <a:t>A working SIEM, three real attacks detected, end-to-end.</a:t>
            </a:r>
            <a:endParaRPr lang="en-US" sz="1800"/>
          </a:p>
        </p:txBody>
      </p:sp>
      <p:sp>
        <p:nvSpPr>
          <p:cNvPr id="8" name="Shape 5"/>
          <p:cNvSpPr/>
          <p:nvPr/>
        </p:nvSpPr>
        <p:spPr>
          <a:xfrm>
            <a:off x="1981048" y="4297680"/>
            <a:ext cx="2560320" cy="1371600"/>
          </a:xfrm>
          <a:prstGeom prst="rect">
            <a:avLst/>
          </a:prstGeom>
          <a:solidFill>
            <a:srgbClr val="0F1E38"/>
          </a:solidFill>
          <a:ln w="12700">
            <a:solidFill>
              <a:srgbClr val="00D9FF"/>
            </a:solidFill>
            <a:prstDash val="solid"/>
          </a:ln>
        </p:spPr>
        <p:txBody>
          <a:bodyPr/>
          <a:lstStyle/>
          <a:p>
            <a:endParaRPr lang="en-US"/>
          </a:p>
        </p:txBody>
      </p:sp>
      <p:sp>
        <p:nvSpPr>
          <p:cNvPr id="9" name="Text 6"/>
          <p:cNvSpPr/>
          <p:nvPr/>
        </p:nvSpPr>
        <p:spPr>
          <a:xfrm>
            <a:off x="1981048" y="4434840"/>
            <a:ext cx="2560320" cy="685800"/>
          </a:xfrm>
          <a:prstGeom prst="rect">
            <a:avLst/>
          </a:prstGeom>
          <a:noFill/>
          <a:ln/>
        </p:spPr>
        <p:txBody>
          <a:bodyPr wrap="square" lIns="0" tIns="0" rIns="0" bIns="0" rtlCol="0" anchor="ctr"/>
          <a:lstStyle/>
          <a:p>
            <a:pPr marL="0" indent="0" algn="ctr">
              <a:buNone/>
            </a:pPr>
            <a:r>
              <a:rPr lang="en-US" sz="4400" b="1">
                <a:solidFill>
                  <a:srgbClr val="00D9FF"/>
                </a:solidFill>
                <a:latin typeface="Calibri" pitchFamily="34" charset="0"/>
                <a:ea typeface="Calibri" pitchFamily="34" charset="-122"/>
                <a:cs typeface="Calibri" pitchFamily="34" charset="-120"/>
              </a:rPr>
              <a:t>29</a:t>
            </a:r>
            <a:endParaRPr lang="en-US" sz="4400"/>
          </a:p>
        </p:txBody>
      </p:sp>
      <p:sp>
        <p:nvSpPr>
          <p:cNvPr id="10" name="Text 7"/>
          <p:cNvSpPr/>
          <p:nvPr/>
        </p:nvSpPr>
        <p:spPr>
          <a:xfrm>
            <a:off x="1981048" y="5120640"/>
            <a:ext cx="2560320" cy="365760"/>
          </a:xfrm>
          <a:prstGeom prst="rect">
            <a:avLst/>
          </a:prstGeom>
          <a:noFill/>
          <a:ln/>
        </p:spPr>
        <p:txBody>
          <a:bodyPr wrap="square" lIns="0" tIns="0" rIns="0" bIns="0" rtlCol="0" anchor="ctr"/>
          <a:lstStyle/>
          <a:p>
            <a:pPr marL="0" indent="0" algn="ctr">
              <a:buNone/>
            </a:pPr>
            <a:r>
              <a:rPr lang="en-US" sz="1100" kern="0" spc="300">
                <a:solidFill>
                  <a:srgbClr val="E2E8F0"/>
                </a:solidFill>
                <a:latin typeface="Calibri" pitchFamily="34" charset="0"/>
                <a:ea typeface="Calibri" pitchFamily="34" charset="-122"/>
                <a:cs typeface="Calibri" pitchFamily="34" charset="-120"/>
              </a:rPr>
              <a:t>slides covered</a:t>
            </a:r>
            <a:endParaRPr lang="en-US" sz="1100"/>
          </a:p>
        </p:txBody>
      </p:sp>
      <p:sp>
        <p:nvSpPr>
          <p:cNvPr id="11" name="Shape 8"/>
          <p:cNvSpPr/>
          <p:nvPr/>
        </p:nvSpPr>
        <p:spPr>
          <a:xfrm>
            <a:off x="4815688" y="4297680"/>
            <a:ext cx="2560320" cy="1371600"/>
          </a:xfrm>
          <a:prstGeom prst="rect">
            <a:avLst/>
          </a:prstGeom>
          <a:solidFill>
            <a:srgbClr val="0F1E38"/>
          </a:solidFill>
          <a:ln w="12700">
            <a:solidFill>
              <a:srgbClr val="00D9FF"/>
            </a:solidFill>
            <a:prstDash val="solid"/>
          </a:ln>
        </p:spPr>
        <p:txBody>
          <a:bodyPr/>
          <a:lstStyle/>
          <a:p>
            <a:endParaRPr lang="en-US"/>
          </a:p>
        </p:txBody>
      </p:sp>
      <p:sp>
        <p:nvSpPr>
          <p:cNvPr id="12" name="Text 9"/>
          <p:cNvSpPr/>
          <p:nvPr/>
        </p:nvSpPr>
        <p:spPr>
          <a:xfrm>
            <a:off x="4815688" y="4434840"/>
            <a:ext cx="2560320" cy="685800"/>
          </a:xfrm>
          <a:prstGeom prst="rect">
            <a:avLst/>
          </a:prstGeom>
          <a:noFill/>
          <a:ln/>
        </p:spPr>
        <p:txBody>
          <a:bodyPr wrap="square" lIns="0" tIns="0" rIns="0" bIns="0" rtlCol="0" anchor="ctr"/>
          <a:lstStyle/>
          <a:p>
            <a:pPr marL="0" indent="0" algn="ctr">
              <a:buNone/>
            </a:pPr>
            <a:r>
              <a:rPr lang="en-US" sz="4400" b="1">
                <a:solidFill>
                  <a:srgbClr val="00D9FF"/>
                </a:solidFill>
                <a:latin typeface="Calibri" pitchFamily="34" charset="0"/>
                <a:ea typeface="Calibri" pitchFamily="34" charset="-122"/>
                <a:cs typeface="Calibri" pitchFamily="34" charset="-120"/>
              </a:rPr>
              <a:t>3</a:t>
            </a:r>
            <a:endParaRPr lang="en-US" sz="4400"/>
          </a:p>
        </p:txBody>
      </p:sp>
      <p:sp>
        <p:nvSpPr>
          <p:cNvPr id="13" name="Text 10"/>
          <p:cNvSpPr/>
          <p:nvPr/>
        </p:nvSpPr>
        <p:spPr>
          <a:xfrm>
            <a:off x="4815688" y="5120640"/>
            <a:ext cx="2560320" cy="365760"/>
          </a:xfrm>
          <a:prstGeom prst="rect">
            <a:avLst/>
          </a:prstGeom>
          <a:noFill/>
          <a:ln/>
        </p:spPr>
        <p:txBody>
          <a:bodyPr wrap="square" lIns="0" tIns="0" rIns="0" bIns="0" rtlCol="0" anchor="ctr"/>
          <a:lstStyle/>
          <a:p>
            <a:pPr marL="0" indent="0" algn="ctr">
              <a:buNone/>
            </a:pPr>
            <a:r>
              <a:rPr lang="en-US" sz="1100" kern="0" spc="300">
                <a:solidFill>
                  <a:srgbClr val="E2E8F0"/>
                </a:solidFill>
                <a:latin typeface="Calibri" pitchFamily="34" charset="0"/>
                <a:ea typeface="Calibri" pitchFamily="34" charset="-122"/>
                <a:cs typeface="Calibri" pitchFamily="34" charset="-120"/>
              </a:rPr>
              <a:t>attack scenarios</a:t>
            </a:r>
            <a:endParaRPr lang="en-US" sz="1100"/>
          </a:p>
        </p:txBody>
      </p:sp>
      <p:sp>
        <p:nvSpPr>
          <p:cNvPr id="14" name="Shape 11"/>
          <p:cNvSpPr/>
          <p:nvPr/>
        </p:nvSpPr>
        <p:spPr>
          <a:xfrm>
            <a:off x="7650328" y="4297680"/>
            <a:ext cx="2560320" cy="1371600"/>
          </a:xfrm>
          <a:prstGeom prst="rect">
            <a:avLst/>
          </a:prstGeom>
          <a:solidFill>
            <a:srgbClr val="0F1E38"/>
          </a:solidFill>
          <a:ln w="12700">
            <a:solidFill>
              <a:srgbClr val="00D9FF"/>
            </a:solidFill>
            <a:prstDash val="solid"/>
          </a:ln>
        </p:spPr>
        <p:txBody>
          <a:bodyPr/>
          <a:lstStyle/>
          <a:p>
            <a:endParaRPr lang="en-US"/>
          </a:p>
        </p:txBody>
      </p:sp>
      <p:sp>
        <p:nvSpPr>
          <p:cNvPr id="15" name="Text 12"/>
          <p:cNvSpPr/>
          <p:nvPr/>
        </p:nvSpPr>
        <p:spPr>
          <a:xfrm>
            <a:off x="7650328" y="4434840"/>
            <a:ext cx="2560320" cy="685800"/>
          </a:xfrm>
          <a:prstGeom prst="rect">
            <a:avLst/>
          </a:prstGeom>
          <a:noFill/>
          <a:ln/>
        </p:spPr>
        <p:txBody>
          <a:bodyPr wrap="square" lIns="0" tIns="0" rIns="0" bIns="0" rtlCol="0" anchor="ctr"/>
          <a:lstStyle/>
          <a:p>
            <a:pPr marL="0" indent="0" algn="ctr">
              <a:buNone/>
            </a:pPr>
            <a:r>
              <a:rPr lang="en-US" sz="4400" b="1">
                <a:solidFill>
                  <a:srgbClr val="00D9FF"/>
                </a:solidFill>
                <a:latin typeface="Calibri" pitchFamily="34" charset="0"/>
                <a:ea typeface="Calibri" pitchFamily="34" charset="-122"/>
                <a:cs typeface="Calibri" pitchFamily="34" charset="-120"/>
              </a:rPr>
              <a:t>100%</a:t>
            </a:r>
            <a:endParaRPr lang="en-US" sz="4400"/>
          </a:p>
        </p:txBody>
      </p:sp>
      <p:sp>
        <p:nvSpPr>
          <p:cNvPr id="16" name="Text 13"/>
          <p:cNvSpPr/>
          <p:nvPr/>
        </p:nvSpPr>
        <p:spPr>
          <a:xfrm>
            <a:off x="7650328" y="5120640"/>
            <a:ext cx="2560320" cy="365760"/>
          </a:xfrm>
          <a:prstGeom prst="rect">
            <a:avLst/>
          </a:prstGeom>
          <a:noFill/>
          <a:ln/>
        </p:spPr>
        <p:txBody>
          <a:bodyPr wrap="square" lIns="0" tIns="0" rIns="0" bIns="0" rtlCol="0" anchor="ctr"/>
          <a:lstStyle/>
          <a:p>
            <a:pPr marL="0" indent="0" algn="ctr">
              <a:buNone/>
            </a:pPr>
            <a:r>
              <a:rPr lang="en-US" sz="1100" kern="0" spc="300">
                <a:solidFill>
                  <a:srgbClr val="E2E8F0"/>
                </a:solidFill>
                <a:latin typeface="Calibri" pitchFamily="34" charset="0"/>
                <a:ea typeface="Calibri" pitchFamily="34" charset="-122"/>
                <a:cs typeface="Calibri" pitchFamily="34" charset="-120"/>
              </a:rPr>
              <a:t>detection rate</a:t>
            </a:r>
            <a:endParaRPr lang="en-US" sz="1100"/>
          </a:p>
        </p:txBody>
      </p:sp>
      <p:sp>
        <p:nvSpPr>
          <p:cNvPr id="17" name="Text 14"/>
          <p:cNvSpPr/>
          <p:nvPr/>
        </p:nvSpPr>
        <p:spPr>
          <a:xfrm>
            <a:off x="457200" y="5943600"/>
            <a:ext cx="11277295" cy="365760"/>
          </a:xfrm>
          <a:prstGeom prst="rect">
            <a:avLst/>
          </a:prstGeom>
          <a:noFill/>
          <a:ln/>
        </p:spPr>
        <p:txBody>
          <a:bodyPr wrap="square" rtlCol="0" anchor="ctr"/>
          <a:lstStyle/>
          <a:p>
            <a:pPr marL="0" indent="0" algn="ctr">
              <a:buNone/>
            </a:pPr>
            <a:r>
              <a:rPr lang="en-US" sz="1200" i="1">
                <a:solidFill>
                  <a:srgbClr val="94A3B8"/>
                </a:solidFill>
                <a:latin typeface="Calibri" pitchFamily="34" charset="0"/>
                <a:ea typeface="Calibri" pitchFamily="34" charset="-122"/>
                <a:cs typeface="Calibri" pitchFamily="34" charset="-120"/>
              </a:rPr>
              <a:t>Aashish Shrestha  ·  Antonio Musumeci  ·  Sujan Thapa  ·  April 2026</a:t>
            </a:r>
            <a:endParaRPr lang="en-US" sz="1200"/>
          </a:p>
        </p:txBody>
      </p:sp>
      <p:sp>
        <p:nvSpPr>
          <p:cNvPr id="18" name="Text 15"/>
          <p:cNvSpPr/>
          <p:nvPr/>
        </p:nvSpPr>
        <p:spPr>
          <a:xfrm>
            <a:off x="457200" y="6309360"/>
            <a:ext cx="11277295" cy="274320"/>
          </a:xfrm>
          <a:prstGeom prst="rect">
            <a:avLst/>
          </a:prstGeom>
          <a:noFill/>
          <a:ln/>
        </p:spPr>
        <p:txBody>
          <a:bodyPr wrap="square" rtlCol="0" anchor="ctr"/>
          <a:lstStyle/>
          <a:p>
            <a:pPr marL="0" indent="0" algn="ctr">
              <a:buNone/>
            </a:pPr>
            <a:r>
              <a:rPr lang="en-US" sz="1100">
                <a:solidFill>
                  <a:srgbClr val="00D9FF"/>
                </a:solidFill>
                <a:latin typeface="Calibri" pitchFamily="34" charset="0"/>
                <a:ea typeface="Calibri" pitchFamily="34" charset="-122"/>
                <a:cs typeface="Calibri" pitchFamily="34" charset="-120"/>
              </a:rPr>
              <a:t>Questions welcome.</a:t>
            </a:r>
            <a:endParaRPr lang="en-US" sz="110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29</Slides>
  <Notes>29</Notes>
  <HiddenSlides>0</HiddenSlides>
  <ScaleCrop>false</ScaleCrop>
  <HeadingPairs>
    <vt:vector size="4" baseType="variant">
      <vt:variant>
        <vt:lpstr>Theme</vt:lpstr>
      </vt:variant>
      <vt:variant>
        <vt:i4>1</vt:i4>
      </vt:variant>
      <vt:variant>
        <vt:lpstr>Slide Titles</vt:lpstr>
      </vt:variant>
      <vt:variant>
        <vt:i4>29</vt:i4>
      </vt:variant>
    </vt:vector>
  </HeadingPairs>
  <TitlesOfParts>
    <vt:vector size="30"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Elastic SIEM Project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Incident Handling Lab</dc:title>
  <dc:subject>PptxGenJS Presentation</dc:subject>
  <dc:creator>Aashish Shrestha, Antonio Musumeci, Sujan Thapa</dc:creator>
  <cp:revision>8</cp:revision>
  <dcterms:created xsi:type="dcterms:W3CDTF">2026-04-19T19:08:25Z</dcterms:created>
  <dcterms:modified xsi:type="dcterms:W3CDTF">2026-05-01T17:34:55Z</dcterms:modified>
</cp:coreProperties>
</file>